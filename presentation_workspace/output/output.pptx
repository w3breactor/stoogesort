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charts/chart3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5" r:id="rId5"/>
    <p:sldId id="274" r:id="rId6"/>
    <p:sldId id="276" r:id="rId7"/>
    <p:sldId id="277" r:id="rId8"/>
    <p:sldId id="272" r:id="rId9"/>
    <p:sldId id="279" r:id="rId10"/>
    <p:sldId id="280" r:id="rId11"/>
    <p:sldId id="262" r:id="rId12"/>
    <p:sldId id="281" r:id="rId13"/>
    <p:sldId id="263" r:id="rId14"/>
    <p:sldId id="264" r:id="rId15"/>
    <p:sldId id="265" r:id="rId16"/>
    <p:sldId id="266" r:id="rId17"/>
    <p:sldId id="267" r:id="rId18"/>
    <p:sldId id="282" r:id="rId19"/>
    <p:sldId id="268" r:id="rId20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Инсаф Гарифуллин" initials="ИГ" lastIdx="1" clrIdx="0">
    <p:extLst>
      <p:ext uri="{19B8F6BF-5375-455C-9EA6-DF929625EA0E}">
        <p15:presenceInfo xmlns:p15="http://schemas.microsoft.com/office/powerpoint/2012/main" userId="bbda49d1b6624ab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766E"/>
    <a:srgbClr val="3E65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71" d="100"/>
          <a:sy n="71" d="100"/>
        </p:scale>
        <p:origin x="1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случайные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Sheet1!$A$2:$A$26</c:f>
              <c:numCache>
                <c:formatCode>General</c:formatCode>
                <c:ptCount val="2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1100</c:v>
                </c:pt>
                <c:pt idx="11">
                  <c:v>1200</c:v>
                </c:pt>
                <c:pt idx="12">
                  <c:v>1300</c:v>
                </c:pt>
                <c:pt idx="13">
                  <c:v>1400</c:v>
                </c:pt>
                <c:pt idx="14">
                  <c:v>1500</c:v>
                </c:pt>
                <c:pt idx="15">
                  <c:v>1600</c:v>
                </c:pt>
                <c:pt idx="16">
                  <c:v>1700</c:v>
                </c:pt>
                <c:pt idx="17">
                  <c:v>1800</c:v>
                </c:pt>
                <c:pt idx="18">
                  <c:v>1900</c:v>
                </c:pt>
                <c:pt idx="19">
                  <c:v>2000</c:v>
                </c:pt>
                <c:pt idx="20">
                  <c:v>2100</c:v>
                </c:pt>
                <c:pt idx="21">
                  <c:v>2200</c:v>
                </c:pt>
                <c:pt idx="22">
                  <c:v>2300</c:v>
                </c:pt>
                <c:pt idx="23">
                  <c:v>2400</c:v>
                </c:pt>
                <c:pt idx="24">
                  <c:v>2500</c:v>
                </c:pt>
              </c:numCache>
            </c:num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1.1594</c:v>
                </c:pt>
                <c:pt idx="1">
                  <c:v>1.0546599999999999</c:v>
                </c:pt>
                <c:pt idx="2">
                  <c:v>1.9145399999999999</c:v>
                </c:pt>
                <c:pt idx="3">
                  <c:v>9.3970000000000002</c:v>
                </c:pt>
                <c:pt idx="4">
                  <c:v>16.883099999999999</c:v>
                </c:pt>
                <c:pt idx="5">
                  <c:v>16.827999999999999</c:v>
                </c:pt>
                <c:pt idx="6">
                  <c:v>16.794899999999998</c:v>
                </c:pt>
                <c:pt idx="7">
                  <c:v>90.014060000000001</c:v>
                </c:pt>
                <c:pt idx="8">
                  <c:v>83.616839999999996</c:v>
                </c:pt>
                <c:pt idx="9">
                  <c:v>83.103300000000004</c:v>
                </c:pt>
                <c:pt idx="10">
                  <c:v>151.97533999999999</c:v>
                </c:pt>
                <c:pt idx="11">
                  <c:v>163.16705999999999</c:v>
                </c:pt>
                <c:pt idx="12">
                  <c:v>153.99224000000001</c:v>
                </c:pt>
                <c:pt idx="13">
                  <c:v>155.58297999999999</c:v>
                </c:pt>
                <c:pt idx="14">
                  <c:v>150.41802000000001</c:v>
                </c:pt>
                <c:pt idx="15">
                  <c:v>788.34644000000003</c:v>
                </c:pt>
                <c:pt idx="16">
                  <c:v>767.78214000000003</c:v>
                </c:pt>
                <c:pt idx="17">
                  <c:v>780.67006000000003</c:v>
                </c:pt>
                <c:pt idx="18">
                  <c:v>779.74905999999999</c:v>
                </c:pt>
                <c:pt idx="19">
                  <c:v>771.50400000000002</c:v>
                </c:pt>
                <c:pt idx="20">
                  <c:v>769.75188000000003</c:v>
                </c:pt>
                <c:pt idx="21">
                  <c:v>771.40674000000001</c:v>
                </c:pt>
                <c:pt idx="22">
                  <c:v>769.46439999999996</c:v>
                </c:pt>
                <c:pt idx="23">
                  <c:v>1401.2257</c:v>
                </c:pt>
                <c:pt idx="24">
                  <c:v>1409.0758000000001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14E-4A45-B72D-83336B0DA6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отсорт.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Sheet1!$A$2:$A$26</c:f>
              <c:numCache>
                <c:formatCode>General</c:formatCode>
                <c:ptCount val="2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1100</c:v>
                </c:pt>
                <c:pt idx="11">
                  <c:v>1200</c:v>
                </c:pt>
                <c:pt idx="12">
                  <c:v>1300</c:v>
                </c:pt>
                <c:pt idx="13">
                  <c:v>1400</c:v>
                </c:pt>
                <c:pt idx="14">
                  <c:v>1500</c:v>
                </c:pt>
                <c:pt idx="15">
                  <c:v>1600</c:v>
                </c:pt>
                <c:pt idx="16">
                  <c:v>1700</c:v>
                </c:pt>
                <c:pt idx="17">
                  <c:v>1800</c:v>
                </c:pt>
                <c:pt idx="18">
                  <c:v>1900</c:v>
                </c:pt>
                <c:pt idx="19">
                  <c:v>2000</c:v>
                </c:pt>
                <c:pt idx="20">
                  <c:v>2100</c:v>
                </c:pt>
                <c:pt idx="21">
                  <c:v>2200</c:v>
                </c:pt>
                <c:pt idx="22">
                  <c:v>2300</c:v>
                </c:pt>
                <c:pt idx="23">
                  <c:v>2400</c:v>
                </c:pt>
                <c:pt idx="24">
                  <c:v>2500</c:v>
                </c:pt>
              </c:numCache>
            </c:num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0.20704</c:v>
                </c:pt>
                <c:pt idx="1">
                  <c:v>1.0206</c:v>
                </c:pt>
                <c:pt idx="2">
                  <c:v>1.8412200000000001</c:v>
                </c:pt>
                <c:pt idx="3">
                  <c:v>9.5838800000000006</c:v>
                </c:pt>
                <c:pt idx="4">
                  <c:v>16.504280000000001</c:v>
                </c:pt>
                <c:pt idx="5">
                  <c:v>16.718260000000001</c:v>
                </c:pt>
                <c:pt idx="6">
                  <c:v>17.25328</c:v>
                </c:pt>
                <c:pt idx="7">
                  <c:v>85.080340000000007</c:v>
                </c:pt>
                <c:pt idx="8">
                  <c:v>86.784880000000001</c:v>
                </c:pt>
                <c:pt idx="9">
                  <c:v>84.899959999999993</c:v>
                </c:pt>
                <c:pt idx="10">
                  <c:v>163.11058</c:v>
                </c:pt>
                <c:pt idx="11">
                  <c:v>153.15634</c:v>
                </c:pt>
                <c:pt idx="12">
                  <c:v>152.57321999999999</c:v>
                </c:pt>
                <c:pt idx="13">
                  <c:v>154.28540000000001</c:v>
                </c:pt>
                <c:pt idx="14">
                  <c:v>154.66674</c:v>
                </c:pt>
                <c:pt idx="15">
                  <c:v>757.69028000000003</c:v>
                </c:pt>
                <c:pt idx="16">
                  <c:v>779.24911999999995</c:v>
                </c:pt>
                <c:pt idx="17">
                  <c:v>771.15653999999995</c:v>
                </c:pt>
                <c:pt idx="18">
                  <c:v>769.26991999999996</c:v>
                </c:pt>
                <c:pt idx="19">
                  <c:v>759.23428000000001</c:v>
                </c:pt>
                <c:pt idx="20">
                  <c:v>780.87116000000003</c:v>
                </c:pt>
                <c:pt idx="21">
                  <c:v>767.97047999999995</c:v>
                </c:pt>
                <c:pt idx="22">
                  <c:v>766.26372000000003</c:v>
                </c:pt>
                <c:pt idx="23">
                  <c:v>1381.3971799999999</c:v>
                </c:pt>
                <c:pt idx="24">
                  <c:v>1395.23442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14E-4A45-B72D-83336B0DA60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обратные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Sheet1!$A$2:$A$26</c:f>
              <c:numCache>
                <c:formatCode>General</c:formatCode>
                <c:ptCount val="2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1100</c:v>
                </c:pt>
                <c:pt idx="11">
                  <c:v>1200</c:v>
                </c:pt>
                <c:pt idx="12">
                  <c:v>1300</c:v>
                </c:pt>
                <c:pt idx="13">
                  <c:v>1400</c:v>
                </c:pt>
                <c:pt idx="14">
                  <c:v>1500</c:v>
                </c:pt>
                <c:pt idx="15">
                  <c:v>1600</c:v>
                </c:pt>
                <c:pt idx="16">
                  <c:v>1700</c:v>
                </c:pt>
                <c:pt idx="17">
                  <c:v>1800</c:v>
                </c:pt>
                <c:pt idx="18">
                  <c:v>1900</c:v>
                </c:pt>
                <c:pt idx="19">
                  <c:v>2000</c:v>
                </c:pt>
                <c:pt idx="20">
                  <c:v>2100</c:v>
                </c:pt>
                <c:pt idx="21">
                  <c:v>2200</c:v>
                </c:pt>
                <c:pt idx="22">
                  <c:v>2300</c:v>
                </c:pt>
                <c:pt idx="23">
                  <c:v>2400</c:v>
                </c:pt>
                <c:pt idx="24">
                  <c:v>2500</c:v>
                </c:pt>
              </c:numCache>
            </c:numRef>
          </c:cat>
          <c:val>
            <c:numRef>
              <c:f>Sheet1!$D$2:$D$26</c:f>
              <c:numCache>
                <c:formatCode>General</c:formatCode>
                <c:ptCount val="25"/>
                <c:pt idx="0">
                  <c:v>0.25418000000000002</c:v>
                </c:pt>
                <c:pt idx="1">
                  <c:v>1.1744600000000001</c:v>
                </c:pt>
                <c:pt idx="2">
                  <c:v>2.2154600000000002</c:v>
                </c:pt>
                <c:pt idx="3">
                  <c:v>9.7996200000000009</c:v>
                </c:pt>
                <c:pt idx="4">
                  <c:v>16.951619999999998</c:v>
                </c:pt>
                <c:pt idx="5">
                  <c:v>17.895759999999999</c:v>
                </c:pt>
                <c:pt idx="6">
                  <c:v>17.612880000000001</c:v>
                </c:pt>
                <c:pt idx="7">
                  <c:v>85.385339999999999</c:v>
                </c:pt>
                <c:pt idx="8">
                  <c:v>84.613579999999999</c:v>
                </c:pt>
                <c:pt idx="9">
                  <c:v>84.089839999999995</c:v>
                </c:pt>
                <c:pt idx="10">
                  <c:v>159.58761999999999</c:v>
                </c:pt>
                <c:pt idx="11">
                  <c:v>157.5016</c:v>
                </c:pt>
                <c:pt idx="12">
                  <c:v>158.09414000000001</c:v>
                </c:pt>
                <c:pt idx="13">
                  <c:v>154.62121999999999</c:v>
                </c:pt>
                <c:pt idx="14">
                  <c:v>154.33964</c:v>
                </c:pt>
                <c:pt idx="15">
                  <c:v>776.90542000000005</c:v>
                </c:pt>
                <c:pt idx="16">
                  <c:v>768.81546000000003</c:v>
                </c:pt>
                <c:pt idx="17">
                  <c:v>769.39106000000004</c:v>
                </c:pt>
                <c:pt idx="18">
                  <c:v>776.68604000000005</c:v>
                </c:pt>
                <c:pt idx="19">
                  <c:v>791.64283999999998</c:v>
                </c:pt>
                <c:pt idx="20">
                  <c:v>761.74692000000005</c:v>
                </c:pt>
                <c:pt idx="21">
                  <c:v>767.05637999999999</c:v>
                </c:pt>
                <c:pt idx="22">
                  <c:v>782.60568000000001</c:v>
                </c:pt>
                <c:pt idx="23">
                  <c:v>1403.7436600000001</c:v>
                </c:pt>
                <c:pt idx="24">
                  <c:v>1413.4802999999999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14E-4A45-B72D-83336B0DA60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почти сорт.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Sheet1!$A$2:$A$26</c:f>
              <c:numCache>
                <c:formatCode>General</c:formatCode>
                <c:ptCount val="25"/>
                <c:pt idx="0">
                  <c:v>100</c:v>
                </c:pt>
                <c:pt idx="1">
                  <c:v>200</c:v>
                </c:pt>
                <c:pt idx="2">
                  <c:v>300</c:v>
                </c:pt>
                <c:pt idx="3">
                  <c:v>400</c:v>
                </c:pt>
                <c:pt idx="4">
                  <c:v>500</c:v>
                </c:pt>
                <c:pt idx="5">
                  <c:v>600</c:v>
                </c:pt>
                <c:pt idx="6">
                  <c:v>700</c:v>
                </c:pt>
                <c:pt idx="7">
                  <c:v>800</c:v>
                </c:pt>
                <c:pt idx="8">
                  <c:v>900</c:v>
                </c:pt>
                <c:pt idx="9">
                  <c:v>1000</c:v>
                </c:pt>
                <c:pt idx="10">
                  <c:v>1100</c:v>
                </c:pt>
                <c:pt idx="11">
                  <c:v>1200</c:v>
                </c:pt>
                <c:pt idx="12">
                  <c:v>1300</c:v>
                </c:pt>
                <c:pt idx="13">
                  <c:v>1400</c:v>
                </c:pt>
                <c:pt idx="14">
                  <c:v>1500</c:v>
                </c:pt>
                <c:pt idx="15">
                  <c:v>1600</c:v>
                </c:pt>
                <c:pt idx="16">
                  <c:v>1700</c:v>
                </c:pt>
                <c:pt idx="17">
                  <c:v>1800</c:v>
                </c:pt>
                <c:pt idx="18">
                  <c:v>1900</c:v>
                </c:pt>
                <c:pt idx="19">
                  <c:v>2000</c:v>
                </c:pt>
                <c:pt idx="20">
                  <c:v>2100</c:v>
                </c:pt>
                <c:pt idx="21">
                  <c:v>2200</c:v>
                </c:pt>
                <c:pt idx="22">
                  <c:v>2300</c:v>
                </c:pt>
                <c:pt idx="23">
                  <c:v>2400</c:v>
                </c:pt>
                <c:pt idx="24">
                  <c:v>2500</c:v>
                </c:pt>
              </c:numCache>
            </c:numRef>
          </c:cat>
          <c:val>
            <c:numRef>
              <c:f>Sheet1!$E$2:$E$26</c:f>
              <c:numCache>
                <c:formatCode>General</c:formatCode>
                <c:ptCount val="25"/>
                <c:pt idx="0">
                  <c:v>0.19788</c:v>
                </c:pt>
                <c:pt idx="1">
                  <c:v>1.0054799999999999</c:v>
                </c:pt>
                <c:pt idx="2">
                  <c:v>1.9911799999999999</c:v>
                </c:pt>
                <c:pt idx="3">
                  <c:v>9.26722</c:v>
                </c:pt>
                <c:pt idx="4">
                  <c:v>16.63392</c:v>
                </c:pt>
                <c:pt idx="5">
                  <c:v>16.799600000000002</c:v>
                </c:pt>
                <c:pt idx="6">
                  <c:v>16.696760000000001</c:v>
                </c:pt>
                <c:pt idx="7">
                  <c:v>92.828860000000006</c:v>
                </c:pt>
                <c:pt idx="8">
                  <c:v>82.989500000000007</c:v>
                </c:pt>
                <c:pt idx="9">
                  <c:v>87.374459999999999</c:v>
                </c:pt>
                <c:pt idx="10">
                  <c:v>160.57696000000001</c:v>
                </c:pt>
                <c:pt idx="11">
                  <c:v>151.03164000000001</c:v>
                </c:pt>
                <c:pt idx="12">
                  <c:v>151.81960000000001</c:v>
                </c:pt>
                <c:pt idx="13">
                  <c:v>166.62348</c:v>
                </c:pt>
                <c:pt idx="14">
                  <c:v>165.7672</c:v>
                </c:pt>
                <c:pt idx="15">
                  <c:v>764.42448000000002</c:v>
                </c:pt>
                <c:pt idx="16">
                  <c:v>765.51300000000003</c:v>
                </c:pt>
                <c:pt idx="17">
                  <c:v>763.45389999999998</c:v>
                </c:pt>
                <c:pt idx="18">
                  <c:v>755.54675999999995</c:v>
                </c:pt>
                <c:pt idx="19">
                  <c:v>761.77697999999998</c:v>
                </c:pt>
                <c:pt idx="20">
                  <c:v>763.51265999999998</c:v>
                </c:pt>
                <c:pt idx="21">
                  <c:v>772.7808</c:v>
                </c:pt>
                <c:pt idx="22">
                  <c:v>762.33907999999997</c:v>
                </c:pt>
                <c:pt idx="23">
                  <c:v>1393.6392000000001</c:v>
                </c:pt>
                <c:pt idx="24">
                  <c:v>1371.1712600000001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14E-4A45-B72D-83336B0DA6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1"/>
        <c:ser>
          <c:idx val="0"/>
          <c:order val="0"/>
          <c:tx>
            <c:v>случайные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25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  <c:pt idx="6">
                <c:v>700</c:v>
              </c:pt>
              <c:pt idx="7">
                <c:v>800</c:v>
              </c:pt>
              <c:pt idx="8">
                <c:v>900</c:v>
              </c:pt>
              <c:pt idx="9">
                <c:v>1000</c:v>
              </c:pt>
              <c:pt idx="10">
                <c:v>1100</c:v>
              </c:pt>
              <c:pt idx="11">
                <c:v>1200</c:v>
              </c:pt>
              <c:pt idx="12">
                <c:v>1300</c:v>
              </c:pt>
              <c:pt idx="13">
                <c:v>1400</c:v>
              </c:pt>
              <c:pt idx="14">
                <c:v>1500</c:v>
              </c:pt>
              <c:pt idx="15">
                <c:v>1600</c:v>
              </c:pt>
              <c:pt idx="16">
                <c:v>1700</c:v>
              </c:pt>
              <c:pt idx="17">
                <c:v>1800</c:v>
              </c:pt>
              <c:pt idx="18">
                <c:v>1900</c:v>
              </c:pt>
              <c:pt idx="19">
                <c:v>2000</c:v>
              </c:pt>
              <c:pt idx="20">
                <c:v>2100</c:v>
              </c:pt>
              <c:pt idx="21">
                <c:v>2200</c:v>
              </c:pt>
              <c:pt idx="22">
                <c:v>2300</c:v>
              </c:pt>
              <c:pt idx="23">
                <c:v>2400</c:v>
              </c:pt>
              <c:pt idx="24">
                <c:v>2500</c:v>
              </c:pt>
            </c:numLit>
          </c:cat>
          <c:val>
            <c:numLit>
              <c:formatCode>General</c:formatCode>
              <c:ptCount val="25"/>
              <c:pt idx="0">
                <c:v>0.26800000000000002</c:v>
              </c:pt>
              <c:pt idx="1">
                <c:v>0.80700000000000005</c:v>
              </c:pt>
              <c:pt idx="2">
                <c:v>2.4140000000000001</c:v>
              </c:pt>
              <c:pt idx="3">
                <c:v>7.2130000000000001</c:v>
              </c:pt>
              <c:pt idx="4">
                <c:v>21.584</c:v>
              </c:pt>
              <c:pt idx="5">
                <c:v>21.613</c:v>
              </c:pt>
              <c:pt idx="6">
                <c:v>21.640999999999998</c:v>
              </c:pt>
              <c:pt idx="7">
                <c:v>64.727000000000004</c:v>
              </c:pt>
              <c:pt idx="8">
                <c:v>64.774000000000001</c:v>
              </c:pt>
              <c:pt idx="9">
                <c:v>64.811999999999998</c:v>
              </c:pt>
              <c:pt idx="10">
                <c:v>194.017</c:v>
              </c:pt>
              <c:pt idx="11">
                <c:v>194.06299999999999</c:v>
              </c:pt>
              <c:pt idx="12">
                <c:v>194.124</c:v>
              </c:pt>
              <c:pt idx="13">
                <c:v>194.20400000000001</c:v>
              </c:pt>
              <c:pt idx="14">
                <c:v>194.27699999999999</c:v>
              </c:pt>
              <c:pt idx="15">
                <c:v>581.76</c:v>
              </c:pt>
              <c:pt idx="16">
                <c:v>581.85500000000002</c:v>
              </c:pt>
              <c:pt idx="17">
                <c:v>581.89400000000001</c:v>
              </c:pt>
              <c:pt idx="18">
                <c:v>582.01400000000001</c:v>
              </c:pt>
              <c:pt idx="19">
                <c:v>582.12599999999998</c:v>
              </c:pt>
              <c:pt idx="20">
                <c:v>582.23599999999999</c:v>
              </c:pt>
              <c:pt idx="21">
                <c:v>582.32000000000005</c:v>
              </c:pt>
              <c:pt idx="22">
                <c:v>582.45899999999995</c:v>
              </c:pt>
              <c:pt idx="23">
                <c:v>1744.8489999999999</c:v>
              </c:pt>
              <c:pt idx="24">
                <c:v>1744.9259999999999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1850-470E-B95E-0C1387D836D6}"/>
            </c:ext>
          </c:extLst>
        </c:ser>
        <c:ser>
          <c:idx val="1"/>
          <c:order val="1"/>
          <c:tx>
            <c:v>отсорт.</c:v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25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  <c:pt idx="6">
                <c:v>700</c:v>
              </c:pt>
              <c:pt idx="7">
                <c:v>800</c:v>
              </c:pt>
              <c:pt idx="8">
                <c:v>900</c:v>
              </c:pt>
              <c:pt idx="9">
                <c:v>1000</c:v>
              </c:pt>
              <c:pt idx="10">
                <c:v>1100</c:v>
              </c:pt>
              <c:pt idx="11">
                <c:v>1200</c:v>
              </c:pt>
              <c:pt idx="12">
                <c:v>1300</c:v>
              </c:pt>
              <c:pt idx="13">
                <c:v>1400</c:v>
              </c:pt>
              <c:pt idx="14">
                <c:v>1500</c:v>
              </c:pt>
              <c:pt idx="15">
                <c:v>1600</c:v>
              </c:pt>
              <c:pt idx="16">
                <c:v>1700</c:v>
              </c:pt>
              <c:pt idx="17">
                <c:v>1800</c:v>
              </c:pt>
              <c:pt idx="18">
                <c:v>1900</c:v>
              </c:pt>
              <c:pt idx="19">
                <c:v>2000</c:v>
              </c:pt>
              <c:pt idx="20">
                <c:v>2100</c:v>
              </c:pt>
              <c:pt idx="21">
                <c:v>2200</c:v>
              </c:pt>
              <c:pt idx="22">
                <c:v>2300</c:v>
              </c:pt>
              <c:pt idx="23">
                <c:v>2400</c:v>
              </c:pt>
              <c:pt idx="24">
                <c:v>2500</c:v>
              </c:pt>
            </c:numLit>
          </c:cat>
          <c:val>
            <c:numLit>
              <c:formatCode>General</c:formatCode>
              <c:ptCount val="25"/>
              <c:pt idx="0">
                <c:v>0.26600000000000001</c:v>
              </c:pt>
              <c:pt idx="1">
                <c:v>0.79700000000000004</c:v>
              </c:pt>
              <c:pt idx="2">
                <c:v>2.391</c:v>
              </c:pt>
              <c:pt idx="3">
                <c:v>7.1740000000000004</c:v>
              </c:pt>
              <c:pt idx="4">
                <c:v>21.523</c:v>
              </c:pt>
              <c:pt idx="5">
                <c:v>21.523</c:v>
              </c:pt>
              <c:pt idx="6">
                <c:v>21.523</c:v>
              </c:pt>
              <c:pt idx="7">
                <c:v>64.569999999999993</c:v>
              </c:pt>
              <c:pt idx="8">
                <c:v>64.569999999999993</c:v>
              </c:pt>
              <c:pt idx="9">
                <c:v>64.569999999999993</c:v>
              </c:pt>
              <c:pt idx="10">
                <c:v>193.71</c:v>
              </c:pt>
              <c:pt idx="11">
                <c:v>193.71</c:v>
              </c:pt>
              <c:pt idx="12">
                <c:v>193.71</c:v>
              </c:pt>
              <c:pt idx="13">
                <c:v>193.71</c:v>
              </c:pt>
              <c:pt idx="14">
                <c:v>193.71</c:v>
              </c:pt>
              <c:pt idx="15">
                <c:v>581.13099999999997</c:v>
              </c:pt>
              <c:pt idx="16">
                <c:v>581.13099999999997</c:v>
              </c:pt>
              <c:pt idx="17">
                <c:v>581.13099999999997</c:v>
              </c:pt>
              <c:pt idx="18">
                <c:v>581.13099999999997</c:v>
              </c:pt>
              <c:pt idx="19">
                <c:v>581.13099999999997</c:v>
              </c:pt>
              <c:pt idx="20">
                <c:v>581.13099999999997</c:v>
              </c:pt>
              <c:pt idx="21">
                <c:v>581.13099999999997</c:v>
              </c:pt>
              <c:pt idx="22">
                <c:v>581.13099999999997</c:v>
              </c:pt>
              <c:pt idx="23">
                <c:v>1743.3920000000001</c:v>
              </c:pt>
              <c:pt idx="24">
                <c:v>1743.3920000000001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1850-470E-B95E-0C1387D836D6}"/>
            </c:ext>
          </c:extLst>
        </c:ser>
        <c:ser>
          <c:idx val="2"/>
          <c:order val="2"/>
          <c:tx>
            <c:v>обратные</c:v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25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  <c:pt idx="6">
                <c:v>700</c:v>
              </c:pt>
              <c:pt idx="7">
                <c:v>800</c:v>
              </c:pt>
              <c:pt idx="8">
                <c:v>900</c:v>
              </c:pt>
              <c:pt idx="9">
                <c:v>1000</c:v>
              </c:pt>
              <c:pt idx="10">
                <c:v>1100</c:v>
              </c:pt>
              <c:pt idx="11">
                <c:v>1200</c:v>
              </c:pt>
              <c:pt idx="12">
                <c:v>1300</c:v>
              </c:pt>
              <c:pt idx="13">
                <c:v>1400</c:v>
              </c:pt>
              <c:pt idx="14">
                <c:v>1500</c:v>
              </c:pt>
              <c:pt idx="15">
                <c:v>1600</c:v>
              </c:pt>
              <c:pt idx="16">
                <c:v>1700</c:v>
              </c:pt>
              <c:pt idx="17">
                <c:v>1800</c:v>
              </c:pt>
              <c:pt idx="18">
                <c:v>1900</c:v>
              </c:pt>
              <c:pt idx="19">
                <c:v>2000</c:v>
              </c:pt>
              <c:pt idx="20">
                <c:v>2100</c:v>
              </c:pt>
              <c:pt idx="21">
                <c:v>2200</c:v>
              </c:pt>
              <c:pt idx="22">
                <c:v>2300</c:v>
              </c:pt>
              <c:pt idx="23">
                <c:v>2400</c:v>
              </c:pt>
              <c:pt idx="24">
                <c:v>2500</c:v>
              </c:pt>
            </c:numLit>
          </c:cat>
          <c:val>
            <c:numLit>
              <c:formatCode>General</c:formatCode>
              <c:ptCount val="25"/>
              <c:pt idx="0">
                <c:v>0.27</c:v>
              </c:pt>
              <c:pt idx="1">
                <c:v>0.81599999999999995</c:v>
              </c:pt>
              <c:pt idx="2">
                <c:v>2.4350000000000001</c:v>
              </c:pt>
              <c:pt idx="3">
                <c:v>7.2519999999999998</c:v>
              </c:pt>
              <c:pt idx="4">
                <c:v>21.645</c:v>
              </c:pt>
              <c:pt idx="5">
                <c:v>21.699000000000002</c:v>
              </c:pt>
              <c:pt idx="6">
                <c:v>21.763999999999999</c:v>
              </c:pt>
              <c:pt idx="7">
                <c:v>64.885000000000005</c:v>
              </c:pt>
              <c:pt idx="8">
                <c:v>64.968999999999994</c:v>
              </c:pt>
              <c:pt idx="9">
                <c:v>65.063000000000002</c:v>
              </c:pt>
              <c:pt idx="10">
                <c:v>194.30699999999999</c:v>
              </c:pt>
              <c:pt idx="11">
                <c:v>194.42099999999999</c:v>
              </c:pt>
              <c:pt idx="12">
                <c:v>194.54599999999999</c:v>
              </c:pt>
              <c:pt idx="13">
                <c:v>194.68</c:v>
              </c:pt>
              <c:pt idx="14">
                <c:v>194.82400000000001</c:v>
              </c:pt>
              <c:pt idx="15">
                <c:v>582.399</c:v>
              </c:pt>
              <c:pt idx="16">
                <c:v>582.56299999999999</c:v>
              </c:pt>
              <c:pt idx="17">
                <c:v>582.73699999999997</c:v>
              </c:pt>
              <c:pt idx="18">
                <c:v>582.92100000000005</c:v>
              </c:pt>
              <c:pt idx="19">
                <c:v>583.11500000000001</c:v>
              </c:pt>
              <c:pt idx="20">
                <c:v>583.31899999999996</c:v>
              </c:pt>
              <c:pt idx="21">
                <c:v>583.53300000000002</c:v>
              </c:pt>
              <c:pt idx="22">
                <c:v>583.75800000000004</c:v>
              </c:pt>
              <c:pt idx="23">
                <c:v>1746.2529999999999</c:v>
              </c:pt>
              <c:pt idx="24">
                <c:v>1746.4970000000001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2-1850-470E-B95E-0C1387D836D6}"/>
            </c:ext>
          </c:extLst>
        </c:ser>
        <c:ser>
          <c:idx val="3"/>
          <c:order val="3"/>
          <c:tx>
            <c:v>почти сорт.</c:v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Lit>
              <c:formatCode>General</c:formatCode>
              <c:ptCount val="25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  <c:pt idx="6">
                <c:v>700</c:v>
              </c:pt>
              <c:pt idx="7">
                <c:v>800</c:v>
              </c:pt>
              <c:pt idx="8">
                <c:v>900</c:v>
              </c:pt>
              <c:pt idx="9">
                <c:v>1000</c:v>
              </c:pt>
              <c:pt idx="10">
                <c:v>1100</c:v>
              </c:pt>
              <c:pt idx="11">
                <c:v>1200</c:v>
              </c:pt>
              <c:pt idx="12">
                <c:v>1300</c:v>
              </c:pt>
              <c:pt idx="13">
                <c:v>1400</c:v>
              </c:pt>
              <c:pt idx="14">
                <c:v>1500</c:v>
              </c:pt>
              <c:pt idx="15">
                <c:v>1600</c:v>
              </c:pt>
              <c:pt idx="16">
                <c:v>1700</c:v>
              </c:pt>
              <c:pt idx="17">
                <c:v>1800</c:v>
              </c:pt>
              <c:pt idx="18">
                <c:v>1900</c:v>
              </c:pt>
              <c:pt idx="19">
                <c:v>2000</c:v>
              </c:pt>
              <c:pt idx="20">
                <c:v>2100</c:v>
              </c:pt>
              <c:pt idx="21">
                <c:v>2200</c:v>
              </c:pt>
              <c:pt idx="22">
                <c:v>2300</c:v>
              </c:pt>
              <c:pt idx="23">
                <c:v>2400</c:v>
              </c:pt>
              <c:pt idx="24">
                <c:v>2500</c:v>
              </c:pt>
            </c:numLit>
          </c:cat>
          <c:val>
            <c:numLit>
              <c:formatCode>General</c:formatCode>
              <c:ptCount val="25"/>
              <c:pt idx="0">
                <c:v>0.26600000000000001</c:v>
              </c:pt>
              <c:pt idx="1">
                <c:v>0.79800000000000004</c:v>
              </c:pt>
              <c:pt idx="2">
                <c:v>2.3929999999999998</c:v>
              </c:pt>
              <c:pt idx="3">
                <c:v>7.1760000000000002</c:v>
              </c:pt>
              <c:pt idx="4">
                <c:v>21.526</c:v>
              </c:pt>
              <c:pt idx="5">
                <c:v>21.527999999999999</c:v>
              </c:pt>
              <c:pt idx="6">
                <c:v>21.529</c:v>
              </c:pt>
              <c:pt idx="7">
                <c:v>64.578000000000003</c:v>
              </c:pt>
              <c:pt idx="8">
                <c:v>64.581999999999994</c:v>
              </c:pt>
              <c:pt idx="9">
                <c:v>64.581999999999994</c:v>
              </c:pt>
              <c:pt idx="10">
                <c:v>193.77600000000001</c:v>
              </c:pt>
              <c:pt idx="11">
                <c:v>193.78399999999999</c:v>
              </c:pt>
              <c:pt idx="12">
                <c:v>193.80799999999999</c:v>
              </c:pt>
              <c:pt idx="13">
                <c:v>193.82300000000001</c:v>
              </c:pt>
              <c:pt idx="14">
                <c:v>193.846</c:v>
              </c:pt>
              <c:pt idx="15">
                <c:v>581.27</c:v>
              </c:pt>
              <c:pt idx="16">
                <c:v>581.29200000000003</c:v>
              </c:pt>
              <c:pt idx="17">
                <c:v>581.30799999999999</c:v>
              </c:pt>
              <c:pt idx="18">
                <c:v>581.34699999999998</c:v>
              </c:pt>
              <c:pt idx="19">
                <c:v>581.37199999999996</c:v>
              </c:pt>
              <c:pt idx="20">
                <c:v>581.37</c:v>
              </c:pt>
              <c:pt idx="21">
                <c:v>581.39499999999998</c:v>
              </c:pt>
              <c:pt idx="22">
                <c:v>581.42399999999998</c:v>
              </c:pt>
              <c:pt idx="23">
                <c:v>1743.7349999999999</c:v>
              </c:pt>
              <c:pt idx="24">
                <c:v>1743.7560000000001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3-1850-470E-B95E-0C1387D836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48650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zero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ru-RU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точные вызовы</c:v>
          </c:tx>
          <c:cat>
            <c:numLit>
              <c:formatCode>General</c:formatCode>
              <c:ptCount val="25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  <c:pt idx="6">
                <c:v>700</c:v>
              </c:pt>
              <c:pt idx="7">
                <c:v>800</c:v>
              </c:pt>
              <c:pt idx="8">
                <c:v>900</c:v>
              </c:pt>
              <c:pt idx="9">
                <c:v>1000</c:v>
              </c:pt>
              <c:pt idx="10">
                <c:v>1100</c:v>
              </c:pt>
              <c:pt idx="11">
                <c:v>1200</c:v>
              </c:pt>
              <c:pt idx="12">
                <c:v>1300</c:v>
              </c:pt>
              <c:pt idx="13">
                <c:v>1400</c:v>
              </c:pt>
              <c:pt idx="14">
                <c:v>1500</c:v>
              </c:pt>
              <c:pt idx="15">
                <c:v>1600</c:v>
              </c:pt>
              <c:pt idx="16">
                <c:v>1700</c:v>
              </c:pt>
              <c:pt idx="17">
                <c:v>1800</c:v>
              </c:pt>
              <c:pt idx="18">
                <c:v>1900</c:v>
              </c:pt>
              <c:pt idx="19">
                <c:v>2000</c:v>
              </c:pt>
              <c:pt idx="20">
                <c:v>2100</c:v>
              </c:pt>
              <c:pt idx="21">
                <c:v>2200</c:v>
              </c:pt>
              <c:pt idx="22">
                <c:v>2300</c:v>
              </c:pt>
              <c:pt idx="23">
                <c:v>2400</c:v>
              </c:pt>
              <c:pt idx="24">
                <c:v>2500</c:v>
              </c:pt>
            </c:numLit>
          </c:cat>
          <c:val>
            <c:numLit>
              <c:formatCode>General</c:formatCode>
              <c:ptCount val="25"/>
              <c:pt idx="0">
                <c:v>0.26600000000000001</c:v>
              </c:pt>
              <c:pt idx="1">
                <c:v>0.79700000000000004</c:v>
              </c:pt>
              <c:pt idx="2">
                <c:v>2.391</c:v>
              </c:pt>
              <c:pt idx="3">
                <c:v>7.1740000000000004</c:v>
              </c:pt>
              <c:pt idx="4">
                <c:v>21.523</c:v>
              </c:pt>
              <c:pt idx="5">
                <c:v>21.523</c:v>
              </c:pt>
              <c:pt idx="6">
                <c:v>21.523</c:v>
              </c:pt>
              <c:pt idx="7">
                <c:v>64.569999999999993</c:v>
              </c:pt>
              <c:pt idx="8">
                <c:v>64.569999999999993</c:v>
              </c:pt>
              <c:pt idx="9">
                <c:v>64.569999999999993</c:v>
              </c:pt>
              <c:pt idx="10">
                <c:v>193.71</c:v>
              </c:pt>
              <c:pt idx="11">
                <c:v>193.71</c:v>
              </c:pt>
              <c:pt idx="12">
                <c:v>193.71</c:v>
              </c:pt>
              <c:pt idx="13">
                <c:v>193.71</c:v>
              </c:pt>
              <c:pt idx="14">
                <c:v>193.71</c:v>
              </c:pt>
              <c:pt idx="15">
                <c:v>581.13099999999997</c:v>
              </c:pt>
              <c:pt idx="16">
                <c:v>581.13099999999997</c:v>
              </c:pt>
              <c:pt idx="17">
                <c:v>581.13099999999997</c:v>
              </c:pt>
              <c:pt idx="18">
                <c:v>581.13099999999997</c:v>
              </c:pt>
              <c:pt idx="19">
                <c:v>581.13099999999997</c:v>
              </c:pt>
              <c:pt idx="20">
                <c:v>581.13099999999997</c:v>
              </c:pt>
              <c:pt idx="21">
                <c:v>581.13099999999997</c:v>
              </c:pt>
              <c:pt idx="22">
                <c:v>581.13099999999997</c:v>
              </c:pt>
              <c:pt idx="23">
                <c:v>1743.3920000000001</c:v>
              </c:pt>
              <c:pt idx="24">
                <c:v>1743.3920000000001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4E2E-4B69-9F7B-DBD4C4EB5BC3}"/>
            </c:ext>
          </c:extLst>
        </c:ser>
        <c:ser>
          <c:idx val="1"/>
          <c:order val="1"/>
          <c:tx>
            <c:v>k·n^2.7095</c:v>
          </c:tx>
          <c:cat>
            <c:numLit>
              <c:formatCode>General</c:formatCode>
              <c:ptCount val="25"/>
              <c:pt idx="0">
                <c:v>100</c:v>
              </c:pt>
              <c:pt idx="1">
                <c:v>200</c:v>
              </c:pt>
              <c:pt idx="2">
                <c:v>300</c:v>
              </c:pt>
              <c:pt idx="3">
                <c:v>400</c:v>
              </c:pt>
              <c:pt idx="4">
                <c:v>500</c:v>
              </c:pt>
              <c:pt idx="5">
                <c:v>600</c:v>
              </c:pt>
              <c:pt idx="6">
                <c:v>700</c:v>
              </c:pt>
              <c:pt idx="7">
                <c:v>800</c:v>
              </c:pt>
              <c:pt idx="8">
                <c:v>900</c:v>
              </c:pt>
              <c:pt idx="9">
                <c:v>1000</c:v>
              </c:pt>
              <c:pt idx="10">
                <c:v>1100</c:v>
              </c:pt>
              <c:pt idx="11">
                <c:v>1200</c:v>
              </c:pt>
              <c:pt idx="12">
                <c:v>1300</c:v>
              </c:pt>
              <c:pt idx="13">
                <c:v>1400</c:v>
              </c:pt>
              <c:pt idx="14">
                <c:v>1500</c:v>
              </c:pt>
              <c:pt idx="15">
                <c:v>1600</c:v>
              </c:pt>
              <c:pt idx="16">
                <c:v>1700</c:v>
              </c:pt>
              <c:pt idx="17">
                <c:v>1800</c:v>
              </c:pt>
              <c:pt idx="18">
                <c:v>1900</c:v>
              </c:pt>
              <c:pt idx="19">
                <c:v>2000</c:v>
              </c:pt>
              <c:pt idx="20">
                <c:v>2100</c:v>
              </c:pt>
              <c:pt idx="21">
                <c:v>2200</c:v>
              </c:pt>
              <c:pt idx="22">
                <c:v>2300</c:v>
              </c:pt>
              <c:pt idx="23">
                <c:v>2400</c:v>
              </c:pt>
              <c:pt idx="24">
                <c:v>2500</c:v>
              </c:pt>
            </c:numLit>
          </c:cat>
          <c:val>
            <c:numLit>
              <c:formatCode>General</c:formatCode>
              <c:ptCount val="25"/>
              <c:pt idx="0">
                <c:v>0.26600000000000001</c:v>
              </c:pt>
              <c:pt idx="1">
                <c:v>1.738</c:v>
              </c:pt>
              <c:pt idx="2">
                <c:v>5.2140000000000004</c:v>
              </c:pt>
              <c:pt idx="3">
                <c:v>11.369</c:v>
              </c:pt>
              <c:pt idx="4">
                <c:v>20.811</c:v>
              </c:pt>
              <c:pt idx="5">
                <c:v>34.106000000000002</c:v>
              </c:pt>
              <c:pt idx="6">
                <c:v>51.787999999999997</c:v>
              </c:pt>
              <c:pt idx="7">
                <c:v>74.363</c:v>
              </c:pt>
              <c:pt idx="8">
                <c:v>102.319</c:v>
              </c:pt>
              <c:pt idx="9">
                <c:v>136.124</c:v>
              </c:pt>
              <c:pt idx="10">
                <c:v>176.23400000000001</c:v>
              </c:pt>
              <c:pt idx="11">
                <c:v>223.089</c:v>
              </c:pt>
              <c:pt idx="12">
                <c:v>277.11900000000003</c:v>
              </c:pt>
              <c:pt idx="13">
                <c:v>338.74400000000003</c:v>
              </c:pt>
              <c:pt idx="14">
                <c:v>408.37299999999999</c:v>
              </c:pt>
              <c:pt idx="15">
                <c:v>486.40800000000002</c:v>
              </c:pt>
              <c:pt idx="16">
                <c:v>573.24400000000003</c:v>
              </c:pt>
              <c:pt idx="17">
                <c:v>669.26700000000005</c:v>
              </c:pt>
              <c:pt idx="18">
                <c:v>774.85699999999997</c:v>
              </c:pt>
              <c:pt idx="19">
                <c:v>890.38900000000001</c:v>
              </c:pt>
              <c:pt idx="20">
                <c:v>1016.231</c:v>
              </c:pt>
              <c:pt idx="21">
                <c:v>1152.7460000000001</c:v>
              </c:pt>
              <c:pt idx="22">
                <c:v>1300.2929999999999</c:v>
              </c:pt>
              <c:pt idx="23">
                <c:v>1459.2249999999999</c:v>
              </c:pt>
              <c:pt idx="24">
                <c:v>1629.8910000000001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4E2E-4B69-9F7B-DBD4C4EB5B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ru-RU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92420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628846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21777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5471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522061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4858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90358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6668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20654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C5080D4C-C410-458C-A355-8E299713CD40}"/>
              </a:ext>
            </a:extLst>
          </p:cNvPr>
          <p:cNvSpPr>
            <a:spLocks noGrp="1"/>
          </p:cNvSpPr>
          <p:nvPr/>
        </p:nvSpPr>
        <p:spPr>
          <a:xfrm>
            <a:off x="36979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916C5C-B8DA-4BA8-9B7C-487EB3AE03AA}"/>
              </a:ext>
            </a:extLst>
          </p:cNvPr>
          <p:cNvSpPr>
            <a:spLocks noGrp="1"/>
          </p:cNvSpPr>
          <p:nvPr/>
        </p:nvSpPr>
        <p:spPr>
          <a:xfrm>
            <a:off x="838200" y="742950"/>
            <a:ext cx="8953500" cy="323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0F766E"/>
                </a:solidFill>
              </a:defRPr>
            </a:pPr>
            <a:r>
              <a:rPr sz="1650" dirty="0" err="1">
                <a:solidFill>
                  <a:srgbClr val="0F766E"/>
                </a:solidFill>
              </a:rPr>
              <a:t>Семестровый</a:t>
            </a:r>
            <a:r>
              <a:rPr sz="1650" dirty="0">
                <a:solidFill>
                  <a:srgbClr val="0F766E"/>
                </a:solidFill>
              </a:rPr>
              <a:t> </a:t>
            </a:r>
            <a:r>
              <a:rPr sz="1650" dirty="0" err="1">
                <a:solidFill>
                  <a:srgbClr val="0F766E"/>
                </a:solidFill>
              </a:rPr>
              <a:t>проект</a:t>
            </a:r>
            <a:r>
              <a:rPr sz="1650" dirty="0">
                <a:solidFill>
                  <a:srgbClr val="0F766E"/>
                </a:solidFill>
              </a:rPr>
              <a:t> </a:t>
            </a:r>
            <a:r>
              <a:rPr lang="ru-RU" sz="1650" dirty="0">
                <a:solidFill>
                  <a:srgbClr val="0F766E"/>
                </a:solidFill>
              </a:rPr>
              <a:t>алгоритмам и структурам данных</a:t>
            </a:r>
            <a:endParaRPr sz="1650" dirty="0">
              <a:solidFill>
                <a:srgbClr val="0F766E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AA1D79-1578-457E-886C-FBD60B59B9BB}"/>
              </a:ext>
            </a:extLst>
          </p:cNvPr>
          <p:cNvSpPr>
            <a:spLocks noGrp="1"/>
          </p:cNvSpPr>
          <p:nvPr/>
        </p:nvSpPr>
        <p:spPr>
          <a:xfrm>
            <a:off x="838200" y="1104900"/>
            <a:ext cx="8953500" cy="876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6900" b="1">
                <a:solidFill>
                  <a:srgbClr val="1C1713"/>
                </a:solidFill>
              </a:defRPr>
            </a:pPr>
            <a:r>
              <a:rPr sz="6900" b="1" dirty="0">
                <a:solidFill>
                  <a:srgbClr val="1C1713"/>
                </a:solidFill>
              </a:rPr>
              <a:t>Stooge Sort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915E77-7525-4897-887E-3A0020A9B747}"/>
              </a:ext>
            </a:extLst>
          </p:cNvPr>
          <p:cNvSpPr>
            <a:spLocks noGrp="1"/>
          </p:cNvSpPr>
          <p:nvPr/>
        </p:nvSpPr>
        <p:spPr>
          <a:xfrm>
            <a:off x="838200" y="2133600"/>
            <a:ext cx="6496050" cy="7239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625B54"/>
                </a:solidFill>
              </a:defRPr>
            </a:pPr>
            <a:r>
              <a:rPr sz="2250" dirty="0" err="1">
                <a:solidFill>
                  <a:srgbClr val="625B54"/>
                </a:solidFill>
              </a:rPr>
              <a:t>Экспериментальный</a:t>
            </a:r>
            <a:r>
              <a:rPr sz="2250" dirty="0">
                <a:solidFill>
                  <a:srgbClr val="625B54"/>
                </a:solidFill>
              </a:rPr>
              <a:t> </a:t>
            </a:r>
            <a:r>
              <a:rPr sz="2250" dirty="0" err="1">
                <a:solidFill>
                  <a:srgbClr val="625B54"/>
                </a:solidFill>
              </a:rPr>
              <a:t>анализ</a:t>
            </a:r>
            <a:r>
              <a:rPr sz="2250" dirty="0">
                <a:solidFill>
                  <a:srgbClr val="625B54"/>
                </a:solidFill>
              </a:rPr>
              <a:t> </a:t>
            </a:r>
            <a:r>
              <a:rPr sz="2250" dirty="0" err="1">
                <a:solidFill>
                  <a:srgbClr val="625B54"/>
                </a:solidFill>
              </a:rPr>
              <a:t>времени</a:t>
            </a:r>
            <a:r>
              <a:rPr sz="2250" dirty="0">
                <a:solidFill>
                  <a:srgbClr val="625B54"/>
                </a:solidFill>
              </a:rPr>
              <a:t> </a:t>
            </a:r>
            <a:r>
              <a:rPr sz="2250" dirty="0" err="1">
                <a:solidFill>
                  <a:srgbClr val="625B54"/>
                </a:solidFill>
              </a:rPr>
              <a:t>работы</a:t>
            </a:r>
            <a:r>
              <a:rPr sz="2250" dirty="0">
                <a:solidFill>
                  <a:srgbClr val="625B54"/>
                </a:solidFill>
              </a:rPr>
              <a:t> и </a:t>
            </a:r>
            <a:r>
              <a:rPr sz="2250" dirty="0" err="1">
                <a:solidFill>
                  <a:srgbClr val="625B54"/>
                </a:solidFill>
              </a:rPr>
              <a:t>числа</a:t>
            </a:r>
            <a:r>
              <a:rPr sz="2250" dirty="0">
                <a:solidFill>
                  <a:srgbClr val="625B54"/>
                </a:solidFill>
              </a:rPr>
              <a:t> </a:t>
            </a:r>
            <a:r>
              <a:rPr sz="2250" dirty="0" err="1">
                <a:solidFill>
                  <a:srgbClr val="625B54"/>
                </a:solidFill>
              </a:rPr>
              <a:t>операций</a:t>
            </a:r>
            <a:endParaRPr sz="2250" dirty="0">
              <a:solidFill>
                <a:srgbClr val="625B54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3ADD3A-AEB5-47D6-939F-26D0BDDA7D5D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2476500" cy="38100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5CB5AB-6345-4BCB-B82A-63F8F9B621AD}"/>
              </a:ext>
            </a:extLst>
          </p:cNvPr>
          <p:cNvSpPr>
            <a:spLocks noGrp="1"/>
          </p:cNvSpPr>
          <p:nvPr/>
        </p:nvSpPr>
        <p:spPr>
          <a:xfrm>
            <a:off x="12496800" y="4853268"/>
            <a:ext cx="857250" cy="1238250"/>
          </a:xfrm>
          <a:prstGeom prst="roundRect">
            <a:avLst>
              <a:gd name="adj" fmla="val 2222"/>
            </a:avLst>
          </a:prstGeom>
          <a:solidFill>
            <a:srgbClr val="DCE6F1"/>
          </a:solidFill>
          <a:ln w="0">
            <a:solidFill>
              <a:srgbClr val="DCE6F1"/>
            </a:solidFill>
            <a:prstDash val="solid"/>
          </a:ln>
        </p:spPr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D02F3DC-CD81-43EC-8926-BF41562FDDC6}"/>
              </a:ext>
            </a:extLst>
          </p:cNvPr>
          <p:cNvSpPr>
            <a:spLocks noGrp="1"/>
          </p:cNvSpPr>
          <p:nvPr/>
        </p:nvSpPr>
        <p:spPr>
          <a:xfrm>
            <a:off x="13487400" y="3962399"/>
            <a:ext cx="857250" cy="2142565"/>
          </a:xfrm>
          <a:prstGeom prst="roundRect">
            <a:avLst>
              <a:gd name="adj" fmla="val 2222"/>
            </a:avLst>
          </a:prstGeom>
          <a:solidFill>
            <a:srgbClr val="DCEEEA"/>
          </a:solidFill>
          <a:ln w="0">
            <a:solidFill>
              <a:srgbClr val="DCEEEA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03BE7E-0511-44D7-BF9D-3C06157C943F}"/>
              </a:ext>
            </a:extLst>
          </p:cNvPr>
          <p:cNvSpPr>
            <a:spLocks noGrp="1"/>
          </p:cNvSpPr>
          <p:nvPr/>
        </p:nvSpPr>
        <p:spPr>
          <a:xfrm>
            <a:off x="14554200" y="3048000"/>
            <a:ext cx="857250" cy="3048000"/>
          </a:xfrm>
          <a:prstGeom prst="roundRect">
            <a:avLst>
              <a:gd name="adj" fmla="val 2222"/>
            </a:avLst>
          </a:prstGeom>
          <a:solidFill>
            <a:srgbClr val="F4DFD8"/>
          </a:solidFill>
          <a:ln w="0">
            <a:solidFill>
              <a:srgbClr val="F4DFD8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2ED3F8-33F5-495A-8A3B-B810DACACB9E}"/>
              </a:ext>
            </a:extLst>
          </p:cNvPr>
          <p:cNvSpPr>
            <a:spLocks noGrp="1"/>
          </p:cNvSpPr>
          <p:nvPr/>
        </p:nvSpPr>
        <p:spPr>
          <a:xfrm>
            <a:off x="15544800" y="1981200"/>
            <a:ext cx="857250" cy="4095750"/>
          </a:xfrm>
          <a:prstGeom prst="roundRect">
            <a:avLst>
              <a:gd name="adj" fmla="val 2222"/>
            </a:avLst>
          </a:prstGeom>
          <a:solidFill>
            <a:srgbClr val="E6ECD7"/>
          </a:solidFill>
          <a:ln w="0">
            <a:solidFill>
              <a:srgbClr val="E6ECD7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9488BD9-568E-4B9E-9EF1-D7968C07437D}"/>
              </a:ext>
            </a:extLst>
          </p:cNvPr>
          <p:cNvSpPr>
            <a:spLocks noGrp="1"/>
          </p:cNvSpPr>
          <p:nvPr/>
        </p:nvSpPr>
        <p:spPr>
          <a:xfrm>
            <a:off x="16611600" y="762000"/>
            <a:ext cx="857250" cy="5334000"/>
          </a:xfrm>
          <a:prstGeom prst="roundRect">
            <a:avLst>
              <a:gd name="adj" fmla="val 2222"/>
            </a:avLst>
          </a:prstGeom>
          <a:solidFill>
            <a:srgbClr val="B9893C"/>
          </a:solidFill>
          <a:ln w="0">
            <a:solidFill>
              <a:srgbClr val="B9893C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39FE3-4335-45CC-9BB4-AE32842336C9}"/>
              </a:ext>
            </a:extLst>
          </p:cNvPr>
          <p:cNvSpPr>
            <a:spLocks noGrp="1"/>
          </p:cNvSpPr>
          <p:nvPr/>
        </p:nvSpPr>
        <p:spPr>
          <a:xfrm>
            <a:off x="14226988" y="6305550"/>
            <a:ext cx="3222812" cy="1409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5550" b="1">
                <a:solidFill>
                  <a:srgbClr val="3E6588"/>
                </a:solidFill>
              </a:defRPr>
            </a:pPr>
            <a:r>
              <a:rPr sz="5550" b="1" dirty="0">
                <a:solidFill>
                  <a:srgbClr val="3E6588"/>
                </a:solidFill>
              </a:rPr>
              <a:t>n^2.7095</a:t>
            </a:r>
            <a:r>
              <a:rPr lang="en-US" sz="5550" b="1" dirty="0">
                <a:solidFill>
                  <a:srgbClr val="3E6588"/>
                </a:solidFill>
              </a:rPr>
              <a:t>…</a:t>
            </a:r>
            <a:endParaRPr sz="5550" b="1" dirty="0">
              <a:solidFill>
                <a:srgbClr val="3E6588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50B294-9B98-4542-8AA6-BF3F9567C403}"/>
              </a:ext>
            </a:extLst>
          </p:cNvPr>
          <p:cNvSpPr>
            <a:spLocks noGrp="1"/>
          </p:cNvSpPr>
          <p:nvPr/>
        </p:nvSpPr>
        <p:spPr>
          <a:xfrm>
            <a:off x="12992100" y="7943849"/>
            <a:ext cx="4457700" cy="52779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 err="1">
                <a:solidFill>
                  <a:srgbClr val="625B54"/>
                </a:solidFill>
              </a:rPr>
              <a:t>ступенчатый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рост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хорошо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виден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уже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на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реальных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замерах</a:t>
            </a:r>
            <a:endParaRPr sz="1650" dirty="0">
              <a:solidFill>
                <a:srgbClr val="625B54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AEE397-1D8D-4DFE-A0F6-531B1FA3B0B8}"/>
              </a:ext>
            </a:extLst>
          </p:cNvPr>
          <p:cNvSpPr>
            <a:spLocks noGrp="1"/>
          </p:cNvSpPr>
          <p:nvPr/>
        </p:nvSpPr>
        <p:spPr>
          <a:xfrm>
            <a:off x="838200" y="5495365"/>
            <a:ext cx="2381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25B54"/>
                </a:solidFill>
              </a:defRPr>
            </a:pPr>
            <a:r>
              <a:rPr sz="1200" dirty="0">
                <a:solidFill>
                  <a:srgbClr val="625B54"/>
                </a:solidFill>
              </a:rPr>
              <a:t>25 </a:t>
            </a:r>
            <a:r>
              <a:rPr sz="1200" dirty="0" err="1">
                <a:solidFill>
                  <a:srgbClr val="625B54"/>
                </a:solidFill>
              </a:rPr>
              <a:t>размеров</a:t>
            </a:r>
            <a:r>
              <a:rPr sz="1200" dirty="0">
                <a:solidFill>
                  <a:srgbClr val="625B54"/>
                </a:solidFill>
              </a:rPr>
              <a:t> </a:t>
            </a:r>
            <a:r>
              <a:rPr sz="1200" dirty="0" err="1">
                <a:solidFill>
                  <a:srgbClr val="625B54"/>
                </a:solidFill>
              </a:rPr>
              <a:t>входа</a:t>
            </a:r>
            <a:endParaRPr sz="1200" dirty="0">
              <a:solidFill>
                <a:srgbClr val="625B54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488F62-F242-4F36-96DE-26B79206B9E6}"/>
              </a:ext>
            </a:extLst>
          </p:cNvPr>
          <p:cNvSpPr>
            <a:spLocks noGrp="1"/>
          </p:cNvSpPr>
          <p:nvPr/>
        </p:nvSpPr>
        <p:spPr>
          <a:xfrm>
            <a:off x="838200" y="5704915"/>
            <a:ext cx="2381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0F766E"/>
                </a:solidFill>
              </a:defRPr>
            </a:pPr>
            <a:r>
              <a:rPr sz="3150" b="1" dirty="0">
                <a:solidFill>
                  <a:srgbClr val="0F766E"/>
                </a:solidFill>
              </a:rPr>
              <a:t>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28168F-2642-4017-B1A9-24A8F49DE5EA}"/>
              </a:ext>
            </a:extLst>
          </p:cNvPr>
          <p:cNvSpPr>
            <a:spLocks noGrp="1"/>
          </p:cNvSpPr>
          <p:nvPr/>
        </p:nvSpPr>
        <p:spPr>
          <a:xfrm>
            <a:off x="3581400" y="5495365"/>
            <a:ext cx="23812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25B54"/>
                </a:solidFill>
              </a:defRPr>
            </a:pPr>
            <a:r>
              <a:rPr sz="1200" dirty="0">
                <a:solidFill>
                  <a:srgbClr val="625B54"/>
                </a:solidFill>
              </a:rPr>
              <a:t>100 </a:t>
            </a:r>
            <a:r>
              <a:rPr sz="1200" dirty="0" err="1">
                <a:solidFill>
                  <a:srgbClr val="625B54"/>
                </a:solidFill>
              </a:rPr>
              <a:t>подготовленных</a:t>
            </a:r>
            <a:r>
              <a:rPr sz="1200" dirty="0">
                <a:solidFill>
                  <a:srgbClr val="625B54"/>
                </a:solidFill>
              </a:rPr>
              <a:t> </a:t>
            </a:r>
            <a:r>
              <a:rPr sz="1200" dirty="0" err="1">
                <a:solidFill>
                  <a:srgbClr val="625B54"/>
                </a:solidFill>
              </a:rPr>
              <a:t>наборов</a:t>
            </a:r>
            <a:endParaRPr sz="1200" dirty="0">
              <a:solidFill>
                <a:srgbClr val="625B54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7A3972-A09F-4D31-850E-E97C1F386411}"/>
              </a:ext>
            </a:extLst>
          </p:cNvPr>
          <p:cNvSpPr>
            <a:spLocks noGrp="1"/>
          </p:cNvSpPr>
          <p:nvPr/>
        </p:nvSpPr>
        <p:spPr>
          <a:xfrm>
            <a:off x="3581400" y="5704915"/>
            <a:ext cx="2381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C65B40"/>
                </a:solidFill>
              </a:defRPr>
            </a:pPr>
            <a:r>
              <a:rPr sz="3150" b="1" dirty="0">
                <a:solidFill>
                  <a:srgbClr val="C65B40"/>
                </a:solidFill>
              </a:rPr>
              <a:t>100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CA2936-0421-43A4-B63C-3AD2642ED539}"/>
              </a:ext>
            </a:extLst>
          </p:cNvPr>
          <p:cNvSpPr>
            <a:spLocks noGrp="1"/>
          </p:cNvSpPr>
          <p:nvPr/>
        </p:nvSpPr>
        <p:spPr>
          <a:xfrm>
            <a:off x="848285" y="8049185"/>
            <a:ext cx="6496050" cy="29359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>
                <a:solidFill>
                  <a:srgbClr val="625B54"/>
                </a:solidFill>
              </a:defRPr>
            </a:pPr>
            <a:r>
              <a:rPr lang="ru-RU" sz="2250" dirty="0">
                <a:solidFill>
                  <a:srgbClr val="625B54"/>
                </a:solidFill>
              </a:rPr>
              <a:t>Выполнил</a:t>
            </a:r>
            <a:r>
              <a:rPr lang="en-US" sz="2250" dirty="0">
                <a:solidFill>
                  <a:srgbClr val="625B54"/>
                </a:solidFill>
              </a:rPr>
              <a:t>:</a:t>
            </a:r>
            <a:r>
              <a:rPr lang="ru-RU" sz="2250" dirty="0">
                <a:solidFill>
                  <a:srgbClr val="625B54"/>
                </a:solidFill>
              </a:rPr>
              <a:t> Гарифуллин Инсаф 11-503</a:t>
            </a:r>
            <a:endParaRPr sz="2250" dirty="0">
              <a:solidFill>
                <a:srgbClr val="625B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25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">
            <a:extLst>
              <a:ext uri="{FF2B5EF4-FFF2-40B4-BE49-F238E27FC236}">
                <a16:creationId xmlns:a16="http://schemas.microsoft.com/office/drawing/2014/main" id="{5778588D-4A29-48E0-AA7C-E1B6B9FBE5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B22C253D-C2A6-4535-914E-EB55AFA3059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47053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Что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такое</a:t>
            </a:r>
            <a:r>
              <a:rPr sz="4050" b="1" dirty="0">
                <a:solidFill>
                  <a:srgbClr val="1C1713"/>
                </a:solidFill>
              </a:rPr>
              <a:t> Stooge Sort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DE53F8D2-8476-40D3-A432-7A3E11C60D7B}"/>
              </a:ext>
            </a:extLst>
          </p:cNvPr>
          <p:cNvSpPr>
            <a:spLocks noGrp="1"/>
          </p:cNvSpPr>
          <p:nvPr/>
        </p:nvSpPr>
        <p:spPr>
          <a:xfrm>
            <a:off x="838200" y="1466850"/>
            <a:ext cx="117729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 err="1">
                <a:solidFill>
                  <a:srgbClr val="625B54"/>
                </a:solidFill>
              </a:rPr>
              <a:t>Неэффективная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но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очень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показательная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рекурсивная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сортировка</a:t>
            </a:r>
            <a:r>
              <a:rPr sz="1800" dirty="0">
                <a:solidFill>
                  <a:srgbClr val="625B54"/>
                </a:solidFill>
              </a:rPr>
              <a:t>: </a:t>
            </a:r>
            <a:r>
              <a:rPr sz="1800" dirty="0" err="1">
                <a:solidFill>
                  <a:srgbClr val="625B54"/>
                </a:solidFill>
              </a:rPr>
              <a:t>полезна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как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учебный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антипример</a:t>
            </a:r>
            <a:r>
              <a:rPr sz="1800" dirty="0">
                <a:solidFill>
                  <a:srgbClr val="625B54"/>
                </a:solidFill>
              </a:rPr>
              <a:t> и </a:t>
            </a:r>
            <a:r>
              <a:rPr sz="1800" dirty="0" err="1">
                <a:solidFill>
                  <a:srgbClr val="625B54"/>
                </a:solidFill>
              </a:rPr>
              <a:t>как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материал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для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анализа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рекурсии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8485F9D7-22D7-4F3C-B768-8046B73269D5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A1899-E32E-4E01-B256-2E5065F53EFC}"/>
              </a:ext>
            </a:extLst>
          </p:cNvPr>
          <p:cNvSpPr>
            <a:spLocks noGrp="1"/>
          </p:cNvSpPr>
          <p:nvPr/>
        </p:nvSpPr>
        <p:spPr>
          <a:xfrm>
            <a:off x="838200" y="2495550"/>
            <a:ext cx="8039100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 dirty="0" err="1">
                <a:solidFill>
                  <a:srgbClr val="0F766E"/>
                </a:solidFill>
              </a:rPr>
              <a:t>Краткая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справка</a:t>
            </a:r>
            <a:endParaRPr sz="1800" b="1" dirty="0">
              <a:solidFill>
                <a:srgbClr val="0F766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C2DB1F-1723-4B58-A80B-F76315D2EA08}"/>
              </a:ext>
            </a:extLst>
          </p:cNvPr>
          <p:cNvSpPr>
            <a:spLocks noGrp="1"/>
          </p:cNvSpPr>
          <p:nvPr/>
        </p:nvSpPr>
        <p:spPr>
          <a:xfrm>
            <a:off x="838200" y="2933700"/>
            <a:ext cx="7162800" cy="10858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>
                <a:solidFill>
                  <a:srgbClr val="1C1713"/>
                </a:solidFill>
              </a:rPr>
              <a:t>Stooge Sort </a:t>
            </a:r>
            <a:r>
              <a:rPr sz="1800" dirty="0" err="1">
                <a:solidFill>
                  <a:srgbClr val="1C1713"/>
                </a:solidFill>
              </a:rPr>
              <a:t>известен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как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намеренно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неэффективный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рекурсивный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алгоритм</a:t>
            </a:r>
            <a:r>
              <a:rPr sz="1800" dirty="0">
                <a:solidFill>
                  <a:srgbClr val="1C1713"/>
                </a:solidFill>
              </a:rPr>
              <a:t>. </a:t>
            </a:r>
            <a:r>
              <a:rPr sz="1800" dirty="0" err="1">
                <a:solidFill>
                  <a:srgbClr val="1C1713"/>
                </a:solidFill>
              </a:rPr>
              <a:t>Его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часто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приводят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ради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практического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применения</a:t>
            </a:r>
            <a:r>
              <a:rPr sz="1800" dirty="0">
                <a:solidFill>
                  <a:srgbClr val="1C1713"/>
                </a:solidFill>
              </a:rPr>
              <a:t>, а </a:t>
            </a:r>
            <a:r>
              <a:rPr sz="1800" dirty="0" err="1">
                <a:solidFill>
                  <a:srgbClr val="1C1713"/>
                </a:solidFill>
              </a:rPr>
              <a:t>ради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демонстрации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того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как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дискретная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рождает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необычные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графики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плохую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асимптотику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E2DDA-E37A-4303-9352-86CE3EF4D047}"/>
              </a:ext>
            </a:extLst>
          </p:cNvPr>
          <p:cNvSpPr>
            <a:spLocks noGrp="1"/>
          </p:cNvSpPr>
          <p:nvPr/>
        </p:nvSpPr>
        <p:spPr>
          <a:xfrm>
            <a:off x="838200" y="4057649"/>
            <a:ext cx="6762750" cy="83343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 err="1">
                <a:solidFill>
                  <a:srgbClr val="625B54"/>
                </a:solidFill>
              </a:rPr>
              <a:t>Название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отсылает</a:t>
            </a:r>
            <a:r>
              <a:rPr sz="1650" dirty="0">
                <a:solidFill>
                  <a:srgbClr val="625B54"/>
                </a:solidFill>
              </a:rPr>
              <a:t> к </a:t>
            </a:r>
            <a:r>
              <a:rPr sz="1650" dirty="0" err="1">
                <a:solidFill>
                  <a:srgbClr val="625B54"/>
                </a:solidFill>
              </a:rPr>
              <a:t>комедийному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трио</a:t>
            </a:r>
            <a:r>
              <a:rPr sz="1650" dirty="0">
                <a:solidFill>
                  <a:srgbClr val="625B54"/>
                </a:solidFill>
              </a:rPr>
              <a:t> The Three Stooges: </a:t>
            </a:r>
            <a:r>
              <a:rPr sz="1650" dirty="0" err="1">
                <a:solidFill>
                  <a:srgbClr val="625B54"/>
                </a:solidFill>
              </a:rPr>
              <a:t>три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одинаковых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рекурсивных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вызова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выглядят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почти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пародийно</a:t>
            </a:r>
            <a:r>
              <a:rPr sz="1650" dirty="0">
                <a:solidFill>
                  <a:srgbClr val="625B54"/>
                </a:solidFill>
              </a:rPr>
              <a:t>, </a:t>
            </a:r>
            <a:r>
              <a:rPr sz="1650" dirty="0" err="1">
                <a:solidFill>
                  <a:srgbClr val="625B54"/>
                </a:solidFill>
              </a:rPr>
              <a:t>но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идеально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подходят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для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учебного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анализа</a:t>
            </a:r>
            <a:r>
              <a:rPr sz="1650" dirty="0">
                <a:solidFill>
                  <a:srgbClr val="625B54"/>
                </a:solidFill>
              </a:rPr>
              <a:t>.</a:t>
            </a:r>
            <a:r>
              <a:rPr lang="ru-RU" sz="1650" dirty="0"/>
              <a:t> Идея названия в том, что алгоритм “ведёт себя глупо” — он постоянно повторяет почти одни и те же действия, как комедийные персонажи, которые бьют друг друга и не учатся на ошибках.</a:t>
            </a:r>
          </a:p>
          <a:p>
            <a:pPr>
              <a:defRPr sz="1650">
                <a:solidFill>
                  <a:srgbClr val="625B54"/>
                </a:solidFill>
              </a:defRPr>
            </a:pPr>
            <a:endParaRPr sz="1650" dirty="0">
              <a:solidFill>
                <a:srgbClr val="625B5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B4FA56-3F2D-4037-8A08-1942426A17B2}"/>
              </a:ext>
            </a:extLst>
          </p:cNvPr>
          <p:cNvSpPr>
            <a:spLocks noGrp="1"/>
          </p:cNvSpPr>
          <p:nvPr/>
        </p:nvSpPr>
        <p:spPr>
          <a:xfrm>
            <a:off x="838200" y="5784055"/>
            <a:ext cx="1714500" cy="28575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248201-DA17-43FD-B90A-7AD7EEB8D517}"/>
              </a:ext>
            </a:extLst>
          </p:cNvPr>
          <p:cNvSpPr>
            <a:spLocks noGrp="1"/>
          </p:cNvSpPr>
          <p:nvPr/>
        </p:nvSpPr>
        <p:spPr>
          <a:xfrm>
            <a:off x="838200" y="583168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65B40"/>
                </a:solidFill>
              </a:defRPr>
            </a:pPr>
            <a:r>
              <a:rPr sz="1800" b="1" dirty="0" err="1">
                <a:solidFill>
                  <a:srgbClr val="C65B40"/>
                </a:solidFill>
              </a:rPr>
              <a:t>Идея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работы</a:t>
            </a:r>
            <a:endParaRPr sz="1800" b="1" dirty="0">
              <a:solidFill>
                <a:srgbClr val="C65B40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2EAA6C-53CB-414D-A9AE-A673A369842E}"/>
              </a:ext>
            </a:extLst>
          </p:cNvPr>
          <p:cNvSpPr>
            <a:spLocks noGrp="1"/>
          </p:cNvSpPr>
          <p:nvPr/>
        </p:nvSpPr>
        <p:spPr>
          <a:xfrm>
            <a:off x="838200" y="626983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E1E390-6269-48D3-B296-8BC53C98FE7E}"/>
              </a:ext>
            </a:extLst>
          </p:cNvPr>
          <p:cNvSpPr>
            <a:spLocks noGrp="1"/>
          </p:cNvSpPr>
          <p:nvPr/>
        </p:nvSpPr>
        <p:spPr>
          <a:xfrm>
            <a:off x="1390650" y="6269830"/>
            <a:ext cx="61531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сначала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сравниваются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крайние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элементы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текущего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диапазона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43D856-5CA3-4364-AC76-199E92B4D8BD}"/>
              </a:ext>
            </a:extLst>
          </p:cNvPr>
          <p:cNvSpPr>
            <a:spLocks noGrp="1"/>
          </p:cNvSpPr>
          <p:nvPr/>
        </p:nvSpPr>
        <p:spPr>
          <a:xfrm>
            <a:off x="838200" y="689848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BFDB47-35D3-458E-93BC-5B3D99F5FC35}"/>
              </a:ext>
            </a:extLst>
          </p:cNvPr>
          <p:cNvSpPr>
            <a:spLocks noGrp="1"/>
          </p:cNvSpPr>
          <p:nvPr/>
        </p:nvSpPr>
        <p:spPr>
          <a:xfrm>
            <a:off x="1390650" y="6898480"/>
            <a:ext cx="48387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если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левый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больше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правого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выполняется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lang="en-US" dirty="0">
                <a:solidFill>
                  <a:srgbClr val="1C1713"/>
                </a:solidFill>
              </a:rPr>
              <a:t>swap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B959AF-1B2C-424A-B973-DA1FD0CA4690}"/>
              </a:ext>
            </a:extLst>
          </p:cNvPr>
          <p:cNvSpPr>
            <a:spLocks noGrp="1"/>
          </p:cNvSpPr>
          <p:nvPr/>
        </p:nvSpPr>
        <p:spPr>
          <a:xfrm>
            <a:off x="838200" y="735568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39E213-3B0A-4B13-A60C-D35726A79DF9}"/>
              </a:ext>
            </a:extLst>
          </p:cNvPr>
          <p:cNvSpPr>
            <a:spLocks noGrp="1"/>
          </p:cNvSpPr>
          <p:nvPr/>
        </p:nvSpPr>
        <p:spPr>
          <a:xfrm>
            <a:off x="1390650" y="7355680"/>
            <a:ext cx="64960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затем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рекурсивно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сортируются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первые</a:t>
            </a:r>
            <a:r>
              <a:rPr sz="1800" dirty="0">
                <a:solidFill>
                  <a:srgbClr val="1C1713"/>
                </a:solidFill>
              </a:rPr>
              <a:t> 2/3, </a:t>
            </a:r>
            <a:r>
              <a:rPr sz="1800" dirty="0" err="1">
                <a:solidFill>
                  <a:srgbClr val="1C1713"/>
                </a:solidFill>
              </a:rPr>
              <a:t>последние</a:t>
            </a:r>
            <a:r>
              <a:rPr sz="1800" dirty="0">
                <a:solidFill>
                  <a:srgbClr val="1C1713"/>
                </a:solidFill>
              </a:rPr>
              <a:t> 2/3 и </a:t>
            </a:r>
            <a:r>
              <a:rPr sz="1800" dirty="0" err="1">
                <a:solidFill>
                  <a:srgbClr val="1C1713"/>
                </a:solidFill>
              </a:rPr>
              <a:t>снова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первые</a:t>
            </a:r>
            <a:r>
              <a:rPr sz="1800" dirty="0">
                <a:solidFill>
                  <a:srgbClr val="1C1713"/>
                </a:solidFill>
              </a:rPr>
              <a:t> 2/3.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DF409D-F738-4B75-BD27-3C3935BF6BB5}"/>
              </a:ext>
            </a:extLst>
          </p:cNvPr>
          <p:cNvSpPr>
            <a:spLocks noGrp="1"/>
          </p:cNvSpPr>
          <p:nvPr/>
        </p:nvSpPr>
        <p:spPr>
          <a:xfrm>
            <a:off x="9410700" y="249555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sz="1800" b="1" dirty="0" err="1">
                <a:solidFill>
                  <a:srgbClr val="3E6588"/>
                </a:solidFill>
              </a:rPr>
              <a:t>Ключевые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свойства</a:t>
            </a:r>
            <a:endParaRPr sz="1800" b="1" dirty="0">
              <a:solidFill>
                <a:srgbClr val="3E6588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E5E312-5B38-438D-AEAD-02FDF11B4085}"/>
              </a:ext>
            </a:extLst>
          </p:cNvPr>
          <p:cNvSpPr>
            <a:spLocks noGrp="1"/>
          </p:cNvSpPr>
          <p:nvPr/>
        </p:nvSpPr>
        <p:spPr>
          <a:xfrm>
            <a:off x="9410700" y="29337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10529F-28B2-4432-9883-2EBF2EAB5F21}"/>
              </a:ext>
            </a:extLst>
          </p:cNvPr>
          <p:cNvSpPr>
            <a:spLocks noGrp="1"/>
          </p:cNvSpPr>
          <p:nvPr/>
        </p:nvSpPr>
        <p:spPr>
          <a:xfrm>
            <a:off x="9963150" y="2933699"/>
            <a:ext cx="6381750" cy="57149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асимптотика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намного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хуже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чем</a:t>
            </a:r>
            <a:r>
              <a:rPr sz="1800" dirty="0">
                <a:solidFill>
                  <a:srgbClr val="1C1713"/>
                </a:solidFill>
              </a:rPr>
              <a:t> у Merge Sort, Quick Sort </a:t>
            </a:r>
            <a:r>
              <a:rPr sz="1800" dirty="0" err="1">
                <a:solidFill>
                  <a:srgbClr val="1C1713"/>
                </a:solidFill>
              </a:rPr>
              <a:t>или</a:t>
            </a:r>
            <a:r>
              <a:rPr sz="1800" dirty="0">
                <a:solidFill>
                  <a:srgbClr val="1C1713"/>
                </a:solidFill>
              </a:rPr>
              <a:t> Heap Sort;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758C36-9B4A-4A46-A19E-89393A6A52A0}"/>
              </a:ext>
            </a:extLst>
          </p:cNvPr>
          <p:cNvSpPr>
            <a:spLocks noGrp="1"/>
          </p:cNvSpPr>
          <p:nvPr/>
        </p:nvSpPr>
        <p:spPr>
          <a:xfrm>
            <a:off x="9410700" y="35623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54FB8B-C313-4A2B-8EB0-443E92A60465}"/>
              </a:ext>
            </a:extLst>
          </p:cNvPr>
          <p:cNvSpPr>
            <a:spLocks noGrp="1"/>
          </p:cNvSpPr>
          <p:nvPr/>
        </p:nvSpPr>
        <p:spPr>
          <a:xfrm>
            <a:off x="9963150" y="3562349"/>
            <a:ext cx="6172200" cy="57149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использует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сортировку</a:t>
            </a:r>
            <a:r>
              <a:rPr sz="1800" dirty="0">
                <a:solidFill>
                  <a:srgbClr val="1C1713"/>
                </a:solidFill>
              </a:rPr>
              <a:t> «</a:t>
            </a: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месте</a:t>
            </a:r>
            <a:r>
              <a:rPr sz="1800" dirty="0">
                <a:solidFill>
                  <a:srgbClr val="1C1713"/>
                </a:solidFill>
              </a:rPr>
              <a:t>» </a:t>
            </a:r>
            <a:r>
              <a:rPr sz="1800" dirty="0" err="1">
                <a:solidFill>
                  <a:srgbClr val="1C1713"/>
                </a:solidFill>
              </a:rPr>
              <a:t>по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массиву</a:t>
            </a:r>
            <a:r>
              <a:rPr lang="en-US" sz="1800" dirty="0">
                <a:solidFill>
                  <a:srgbClr val="1C1713"/>
                </a:solidFill>
              </a:rPr>
              <a:t> (</a:t>
            </a:r>
            <a:r>
              <a:rPr lang="ru-RU" sz="1800" dirty="0">
                <a:solidFill>
                  <a:srgbClr val="1C1713"/>
                </a:solidFill>
              </a:rPr>
              <a:t>сортирует в исходном массиве)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платит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за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это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глубокой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рекурсией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49A86BA-E562-4153-91EF-BE13723D5E93}"/>
              </a:ext>
            </a:extLst>
          </p:cNvPr>
          <p:cNvSpPr>
            <a:spLocks noGrp="1"/>
          </p:cNvSpPr>
          <p:nvPr/>
        </p:nvSpPr>
        <p:spPr>
          <a:xfrm>
            <a:off x="9410700" y="41910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B0203D-A2D7-4DC6-A502-FD30D1EFAAD6}"/>
              </a:ext>
            </a:extLst>
          </p:cNvPr>
          <p:cNvSpPr>
            <a:spLocks noGrp="1"/>
          </p:cNvSpPr>
          <p:nvPr/>
        </p:nvSpPr>
        <p:spPr>
          <a:xfrm>
            <a:off x="9963150" y="4191000"/>
            <a:ext cx="62674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отсортированных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данных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почти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делает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lang="en-US" sz="1800" dirty="0">
                <a:solidFill>
                  <a:srgbClr val="1C1713"/>
                </a:solidFill>
              </a:rPr>
              <a:t>swap’</a:t>
            </a:r>
            <a:r>
              <a:rPr lang="ru-RU" sz="1800" dirty="0">
                <a:solidFill>
                  <a:srgbClr val="1C1713"/>
                </a:solidFill>
              </a:rPr>
              <a:t>ов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число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вызовов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остаётся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огромным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E2BD20-8326-4875-B2DD-90BDFFD24216}"/>
              </a:ext>
            </a:extLst>
          </p:cNvPr>
          <p:cNvSpPr>
            <a:spLocks noGrp="1"/>
          </p:cNvSpPr>
          <p:nvPr/>
        </p:nvSpPr>
        <p:spPr>
          <a:xfrm>
            <a:off x="9410700" y="48196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3754AC1-6030-4A18-871C-53442B3A02C3}"/>
              </a:ext>
            </a:extLst>
          </p:cNvPr>
          <p:cNvSpPr>
            <a:spLocks noGrp="1"/>
          </p:cNvSpPr>
          <p:nvPr/>
        </p:nvSpPr>
        <p:spPr>
          <a:xfrm>
            <a:off x="9963150" y="4819649"/>
            <a:ext cx="5448300" cy="81915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лучше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всего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подходит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для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демонстрации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рекуррентных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соотношений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сравнения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теории</a:t>
            </a:r>
            <a:r>
              <a:rPr sz="1800" dirty="0">
                <a:solidFill>
                  <a:srgbClr val="1C1713"/>
                </a:solidFill>
              </a:rPr>
              <a:t> с </a:t>
            </a:r>
            <a:r>
              <a:rPr sz="1800" dirty="0" err="1">
                <a:solidFill>
                  <a:srgbClr val="1C1713"/>
                </a:solidFill>
              </a:rPr>
              <a:t>практикой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204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A9670DA9-DBA5-41A3-8662-EE34984CA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222182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A85A95-271E-4EEB-B7E2-D13B04B2258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7639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Пошаговая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визуализация</a:t>
            </a:r>
            <a:r>
              <a:rPr sz="4050" b="1" dirty="0">
                <a:solidFill>
                  <a:srgbClr val="1C1713"/>
                </a:solidFill>
              </a:rPr>
              <a:t>: </a:t>
            </a:r>
            <a:r>
              <a:rPr sz="4050" b="1" dirty="0" err="1">
                <a:solidFill>
                  <a:srgbClr val="1C1713"/>
                </a:solidFill>
              </a:rPr>
              <a:t>шаг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lang="ru-RU" sz="4050" b="1" dirty="0">
                <a:solidFill>
                  <a:srgbClr val="1C1713"/>
                </a:solidFill>
              </a:rPr>
              <a:t>0</a:t>
            </a:r>
            <a:r>
              <a:rPr sz="4050" b="1" dirty="0">
                <a:solidFill>
                  <a:srgbClr val="1C1713"/>
                </a:solidFill>
              </a:rPr>
              <a:t>/4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1605A1A-AFD1-4FE9-8FE2-D1C84777531D}"/>
              </a:ext>
            </a:extLst>
          </p:cNvPr>
          <p:cNvSpPr>
            <a:spLocks noGrp="1"/>
          </p:cNvSpPr>
          <p:nvPr/>
        </p:nvSpPr>
        <p:spPr>
          <a:xfrm>
            <a:off x="838200" y="2014563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Начнём</a:t>
            </a:r>
            <a:r>
              <a:rPr sz="1800" dirty="0">
                <a:solidFill>
                  <a:srgbClr val="625B54"/>
                </a:solidFill>
              </a:rPr>
              <a:t> с </a:t>
            </a:r>
            <a:r>
              <a:rPr sz="1800" dirty="0" err="1">
                <a:solidFill>
                  <a:srgbClr val="625B54"/>
                </a:solidFill>
              </a:rPr>
              <a:t>короткого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примера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чтобы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было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видно</a:t>
            </a:r>
            <a:r>
              <a:rPr lang="en-US" sz="1800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</a:t>
            </a:r>
            <a:r>
              <a:rPr lang="ru-RU" sz="1800" dirty="0">
                <a:solidFill>
                  <a:srgbClr val="625B54"/>
                </a:solidFill>
              </a:rPr>
              <a:t>как работает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lang="ru-RU" sz="1800" dirty="0">
                <a:solidFill>
                  <a:srgbClr val="625B54"/>
                </a:solidFill>
              </a:rPr>
              <a:t>сортировка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2CB363F0-DDEC-4027-A1E4-CE01D4F2BEA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B8E9-EF5A-4DC1-9EB1-A9FA7134C6C2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88582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C65B40"/>
                </a:solidFill>
              </a:defRPr>
            </a:pPr>
            <a:r>
              <a:rPr lang="ru-RU" sz="2100" b="1" dirty="0">
                <a:solidFill>
                  <a:schemeClr val="tx2"/>
                </a:solidFill>
              </a:rPr>
              <a:t>Исходный массив</a:t>
            </a:r>
            <a:r>
              <a:rPr lang="en-US" sz="2100" b="1" dirty="0">
                <a:solidFill>
                  <a:schemeClr val="tx2"/>
                </a:solidFill>
              </a:rPr>
              <a:t>:</a:t>
            </a:r>
            <a:endParaRPr sz="2100" b="1" dirty="0">
              <a:solidFill>
                <a:schemeClr val="tx2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7BACC3-3F7B-4CBF-B798-693D5360B0C9}"/>
              </a:ext>
            </a:extLst>
          </p:cNvPr>
          <p:cNvSpPr>
            <a:spLocks noGrp="1"/>
          </p:cNvSpPr>
          <p:nvPr/>
        </p:nvSpPr>
        <p:spPr>
          <a:xfrm>
            <a:off x="6292935" y="4135967"/>
            <a:ext cx="971550" cy="1807633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09F98-E523-435F-AE8E-209BBFAC82A0}"/>
              </a:ext>
            </a:extLst>
          </p:cNvPr>
          <p:cNvSpPr>
            <a:spLocks noGrp="1"/>
          </p:cNvSpPr>
          <p:nvPr/>
        </p:nvSpPr>
        <p:spPr>
          <a:xfrm>
            <a:off x="6703907" y="603110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6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F8EA1-2AE2-4DEB-9691-33341405F5E7}"/>
              </a:ext>
            </a:extLst>
          </p:cNvPr>
          <p:cNvSpPr>
            <a:spLocks noGrp="1"/>
          </p:cNvSpPr>
          <p:nvPr/>
        </p:nvSpPr>
        <p:spPr>
          <a:xfrm>
            <a:off x="3182686" y="4172535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77C9FA-0B4E-4ED6-8E85-FF721C614E8A}"/>
              </a:ext>
            </a:extLst>
          </p:cNvPr>
          <p:cNvSpPr>
            <a:spLocks noGrp="1"/>
          </p:cNvSpPr>
          <p:nvPr/>
        </p:nvSpPr>
        <p:spPr>
          <a:xfrm>
            <a:off x="2768967" y="4422826"/>
            <a:ext cx="971550" cy="1520774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9CBC0-95C0-4575-A0A2-6000D1C6679C}"/>
              </a:ext>
            </a:extLst>
          </p:cNvPr>
          <p:cNvSpPr>
            <a:spLocks noGrp="1"/>
          </p:cNvSpPr>
          <p:nvPr/>
        </p:nvSpPr>
        <p:spPr>
          <a:xfrm>
            <a:off x="3182686" y="603497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90FC83-ECC4-4DCE-8BCC-0B8DA95B5AA3}"/>
              </a:ext>
            </a:extLst>
          </p:cNvPr>
          <p:cNvSpPr>
            <a:spLocks noGrp="1"/>
          </p:cNvSpPr>
          <p:nvPr/>
        </p:nvSpPr>
        <p:spPr>
          <a:xfrm>
            <a:off x="3943623" y="4339196"/>
            <a:ext cx="971550" cy="1604403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5C1B9-A968-4E7C-A986-A82FDC935E2D}"/>
              </a:ext>
            </a:extLst>
          </p:cNvPr>
          <p:cNvSpPr>
            <a:spLocks noGrp="1"/>
          </p:cNvSpPr>
          <p:nvPr/>
        </p:nvSpPr>
        <p:spPr>
          <a:xfrm>
            <a:off x="4353198" y="6042942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4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8624CB-CE93-4699-90C9-36817A21FB03}"/>
              </a:ext>
            </a:extLst>
          </p:cNvPr>
          <p:cNvSpPr>
            <a:spLocks noGrp="1"/>
          </p:cNvSpPr>
          <p:nvPr/>
        </p:nvSpPr>
        <p:spPr>
          <a:xfrm>
            <a:off x="5118279" y="4542558"/>
            <a:ext cx="971550" cy="1401041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C2770-8401-4BA1-B03E-794EDA732BE9}"/>
              </a:ext>
            </a:extLst>
          </p:cNvPr>
          <p:cNvSpPr>
            <a:spLocks noGrp="1"/>
          </p:cNvSpPr>
          <p:nvPr/>
        </p:nvSpPr>
        <p:spPr>
          <a:xfrm>
            <a:off x="5523710" y="6040684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2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1083B-EE6E-4C34-BCC9-2B92AAB523A9}"/>
              </a:ext>
            </a:extLst>
          </p:cNvPr>
          <p:cNvSpPr>
            <a:spLocks noGrp="1"/>
          </p:cNvSpPr>
          <p:nvPr/>
        </p:nvSpPr>
        <p:spPr>
          <a:xfrm>
            <a:off x="1983439" y="44005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AA2440-1070-474F-BEAC-EE6680B65D14}"/>
              </a:ext>
            </a:extLst>
          </p:cNvPr>
          <p:cNvSpPr>
            <a:spLocks noGrp="1"/>
          </p:cNvSpPr>
          <p:nvPr/>
        </p:nvSpPr>
        <p:spPr>
          <a:xfrm>
            <a:off x="1640539" y="4648200"/>
            <a:ext cx="971550" cy="1295400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B7818-37C2-4E93-AECE-7864D08D384F}"/>
              </a:ext>
            </a:extLst>
          </p:cNvPr>
          <p:cNvSpPr>
            <a:spLocks noGrp="1"/>
          </p:cNvSpPr>
          <p:nvPr/>
        </p:nvSpPr>
        <p:spPr>
          <a:xfrm>
            <a:off x="2002489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A783B-D5D1-468F-AF86-A4AD7C9F2B5C}"/>
              </a:ext>
            </a:extLst>
          </p:cNvPr>
          <p:cNvSpPr>
            <a:spLocks noGrp="1"/>
          </p:cNvSpPr>
          <p:nvPr/>
        </p:nvSpPr>
        <p:spPr>
          <a:xfrm>
            <a:off x="11074212" y="2690253"/>
            <a:ext cx="2259106" cy="31964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 dirty="0" err="1">
                <a:solidFill>
                  <a:srgbClr val="1C1713"/>
                </a:solidFill>
              </a:rPr>
              <a:t>Рекурсивный</a:t>
            </a:r>
            <a:r>
              <a:rPr sz="1800" b="1" dirty="0">
                <a:solidFill>
                  <a:srgbClr val="1C1713"/>
                </a:solidFill>
              </a:rPr>
              <a:t> </a:t>
            </a:r>
            <a:r>
              <a:rPr sz="1800" b="1" dirty="0" err="1">
                <a:solidFill>
                  <a:srgbClr val="1C1713"/>
                </a:solidFill>
              </a:rPr>
              <a:t>шаблон</a:t>
            </a:r>
            <a:endParaRPr sz="1800" b="1" dirty="0">
              <a:solidFill>
                <a:srgbClr val="1C171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F903E-507B-4CF2-A126-92470A5B8FCD}"/>
              </a:ext>
            </a:extLst>
          </p:cNvPr>
          <p:cNvSpPr>
            <a:spLocks noGrp="1"/>
          </p:cNvSpPr>
          <p:nvPr/>
        </p:nvSpPr>
        <p:spPr>
          <a:xfrm>
            <a:off x="11074212" y="318135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65B40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1) </a:t>
            </a:r>
            <a:r>
              <a:rPr sz="1650" dirty="0" err="1">
                <a:solidFill>
                  <a:srgbClr val="625B54"/>
                </a:solidFill>
              </a:rPr>
              <a:t>сравнить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крайние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элементы</a:t>
            </a:r>
            <a:endParaRPr sz="1650" dirty="0">
              <a:solidFill>
                <a:srgbClr val="625B5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4C0D9-A4F2-442A-89E1-619A7DDDAC6B}"/>
              </a:ext>
            </a:extLst>
          </p:cNvPr>
          <p:cNvSpPr>
            <a:spLocks noGrp="1"/>
          </p:cNvSpPr>
          <p:nvPr/>
        </p:nvSpPr>
        <p:spPr>
          <a:xfrm>
            <a:off x="11074212" y="3648075"/>
            <a:ext cx="2571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2)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325FE-D06D-4161-A298-4A69821C44AC}"/>
              </a:ext>
            </a:extLst>
          </p:cNvPr>
          <p:cNvSpPr>
            <a:spLocks noGrp="1"/>
          </p:cNvSpPr>
          <p:nvPr/>
        </p:nvSpPr>
        <p:spPr>
          <a:xfrm>
            <a:off x="11074212" y="4091547"/>
            <a:ext cx="2940424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3)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последние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7F8DD-8F2C-4F5C-A560-18EC0AAE731C}"/>
              </a:ext>
            </a:extLst>
          </p:cNvPr>
          <p:cNvSpPr>
            <a:spLocks noGrp="1"/>
          </p:cNvSpPr>
          <p:nvPr/>
        </p:nvSpPr>
        <p:spPr>
          <a:xfrm>
            <a:off x="11074212" y="4542559"/>
            <a:ext cx="1790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4) </a:t>
            </a:r>
            <a:r>
              <a:rPr sz="1650" dirty="0" err="1">
                <a:solidFill>
                  <a:srgbClr val="625B54"/>
                </a:solidFill>
              </a:rPr>
              <a:t>снова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BBA92151-45CA-440A-A5C4-59895DE0B380}"/>
              </a:ext>
            </a:extLst>
          </p:cNvPr>
          <p:cNvSpPr>
            <a:spLocks noGrp="1"/>
          </p:cNvSpPr>
          <p:nvPr/>
        </p:nvSpPr>
        <p:spPr>
          <a:xfrm>
            <a:off x="838199" y="9486900"/>
            <a:ext cx="3769659" cy="19498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 С</a:t>
            </a:r>
            <a:r>
              <a:rPr sz="900" dirty="0" err="1">
                <a:solidFill>
                  <a:srgbClr val="625B54"/>
                </a:solidFill>
              </a:rPr>
              <a:t>обственная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визуализация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коду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0C6D2A-FCA1-4177-BB04-0CA6128C7836}"/>
              </a:ext>
            </a:extLst>
          </p:cNvPr>
          <p:cNvSpPr>
            <a:spLocks noGrp="1"/>
          </p:cNvSpPr>
          <p:nvPr/>
        </p:nvSpPr>
        <p:spPr>
          <a:xfrm>
            <a:off x="7467591" y="4752109"/>
            <a:ext cx="971550" cy="1191491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436647A-3951-46AE-8162-0D0C8CC01A55}"/>
              </a:ext>
            </a:extLst>
          </p:cNvPr>
          <p:cNvSpPr>
            <a:spLocks noGrp="1"/>
          </p:cNvSpPr>
          <p:nvPr/>
        </p:nvSpPr>
        <p:spPr>
          <a:xfrm>
            <a:off x="8642247" y="4248150"/>
            <a:ext cx="971550" cy="1695450"/>
          </a:xfrm>
          <a:prstGeom prst="roundRect">
            <a:avLst>
              <a:gd name="adj" fmla="val 1961"/>
            </a:avLst>
          </a:prstGeom>
          <a:solidFill>
            <a:schemeClr val="bg1">
              <a:lumMod val="85000"/>
            </a:schemeClr>
          </a:solidFill>
          <a:ln w="0">
            <a:solidFill>
              <a:schemeClr val="bg2">
                <a:lumMod val="90000"/>
              </a:schemeClr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0BBCA5-9AE7-4237-A03F-F8CCF01FC543}"/>
              </a:ext>
            </a:extLst>
          </p:cNvPr>
          <p:cNvSpPr>
            <a:spLocks noGrp="1"/>
          </p:cNvSpPr>
          <p:nvPr/>
        </p:nvSpPr>
        <p:spPr>
          <a:xfrm>
            <a:off x="7877166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0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F0FDA7-EADD-4FEE-8311-D2B06E8C1446}"/>
              </a:ext>
            </a:extLst>
          </p:cNvPr>
          <p:cNvSpPr>
            <a:spLocks noGrp="1"/>
          </p:cNvSpPr>
          <p:nvPr/>
        </p:nvSpPr>
        <p:spPr>
          <a:xfrm>
            <a:off x="9067800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5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89DC6C-6824-44F4-AD22-4D5917A7247D}"/>
              </a:ext>
            </a:extLst>
          </p:cNvPr>
          <p:cNvSpPr>
            <a:spLocks noGrp="1"/>
          </p:cNvSpPr>
          <p:nvPr/>
        </p:nvSpPr>
        <p:spPr>
          <a:xfrm>
            <a:off x="4352925" y="405976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9E2D8F-89C0-4346-8C9F-DEE17D443F98}"/>
              </a:ext>
            </a:extLst>
          </p:cNvPr>
          <p:cNvSpPr>
            <a:spLocks noGrp="1"/>
          </p:cNvSpPr>
          <p:nvPr/>
        </p:nvSpPr>
        <p:spPr>
          <a:xfrm>
            <a:off x="5508804" y="4294062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8C487-6C36-407A-8B99-21AABC257CF7}"/>
              </a:ext>
            </a:extLst>
          </p:cNvPr>
          <p:cNvSpPr>
            <a:spLocks noGrp="1"/>
          </p:cNvSpPr>
          <p:nvPr/>
        </p:nvSpPr>
        <p:spPr>
          <a:xfrm>
            <a:off x="6683460" y="390784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D5F984-FD27-496C-B562-BCA959012F88}"/>
              </a:ext>
            </a:extLst>
          </p:cNvPr>
          <p:cNvSpPr>
            <a:spLocks noGrp="1"/>
          </p:cNvSpPr>
          <p:nvPr/>
        </p:nvSpPr>
        <p:spPr>
          <a:xfrm>
            <a:off x="7877166" y="455506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19745-5575-40E6-A369-50609A4AC516}"/>
              </a:ext>
            </a:extLst>
          </p:cNvPr>
          <p:cNvSpPr>
            <a:spLocks noGrp="1"/>
          </p:cNvSpPr>
          <p:nvPr/>
        </p:nvSpPr>
        <p:spPr>
          <a:xfrm>
            <a:off x="9048750" y="401534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33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1" grpId="0"/>
      <p:bldP spid="14" grpId="0"/>
      <p:bldP spid="17" grpId="0"/>
      <p:bldP spid="18" grpId="0"/>
      <p:bldP spid="20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A9670DA9-DBA5-41A3-8662-EE34984CA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222182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A85A95-271E-4EEB-B7E2-D13B04B2258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7639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Пошаговая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визуализация</a:t>
            </a:r>
            <a:r>
              <a:rPr sz="4050" b="1" dirty="0">
                <a:solidFill>
                  <a:srgbClr val="1C1713"/>
                </a:solidFill>
              </a:rPr>
              <a:t>: </a:t>
            </a:r>
            <a:r>
              <a:rPr sz="4050" b="1" dirty="0" err="1">
                <a:solidFill>
                  <a:srgbClr val="1C1713"/>
                </a:solidFill>
              </a:rPr>
              <a:t>шаг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lang="en-US" sz="4050" b="1" dirty="0">
                <a:solidFill>
                  <a:srgbClr val="1C1713"/>
                </a:solidFill>
              </a:rPr>
              <a:t>1</a:t>
            </a:r>
            <a:r>
              <a:rPr sz="4050" b="1" dirty="0">
                <a:solidFill>
                  <a:srgbClr val="1C1713"/>
                </a:solidFill>
              </a:rPr>
              <a:t>/4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1605A1A-AFD1-4FE9-8FE2-D1C84777531D}"/>
              </a:ext>
            </a:extLst>
          </p:cNvPr>
          <p:cNvSpPr>
            <a:spLocks noGrp="1"/>
          </p:cNvSpPr>
          <p:nvPr/>
        </p:nvSpPr>
        <p:spPr>
          <a:xfrm>
            <a:off x="838200" y="2014563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Самый простой шаг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2CB363F0-DDEC-4027-A1E4-CE01D4F2BEA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B8E9-EF5A-4DC1-9EB1-A9FA7134C6C2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88582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C65B40"/>
                </a:solidFill>
              </a:defRPr>
            </a:pPr>
            <a:r>
              <a:rPr lang="ru-RU" sz="2100" b="1" dirty="0">
                <a:solidFill>
                  <a:srgbClr val="C65B40"/>
                </a:solidFill>
              </a:rPr>
              <a:t>Сначала сравниваются крайние элементы диапазона [0..6].</a:t>
            </a:r>
          </a:p>
          <a:p>
            <a:pPr>
              <a:defRPr sz="2100" b="1">
                <a:solidFill>
                  <a:srgbClr val="C65B40"/>
                </a:solidFill>
              </a:defRPr>
            </a:pPr>
            <a:r>
              <a:rPr lang="ru-RU" sz="2100" b="1" dirty="0">
                <a:solidFill>
                  <a:srgbClr val="C65B40"/>
                </a:solidFill>
              </a:rPr>
              <a:t>В примере 1 </a:t>
            </a:r>
            <a:r>
              <a:rPr lang="en-US" sz="2100" b="1" dirty="0">
                <a:solidFill>
                  <a:srgbClr val="C65B40"/>
                </a:solidFill>
              </a:rPr>
              <a:t>&lt; 5</a:t>
            </a:r>
            <a:r>
              <a:rPr lang="ru-RU" sz="2100" b="1" dirty="0">
                <a:solidFill>
                  <a:srgbClr val="C65B40"/>
                </a:solidFill>
              </a:rPr>
              <a:t>, поэтому крайние значения остаются на местах.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7BACC3-3F7B-4CBF-B798-693D5360B0C9}"/>
              </a:ext>
            </a:extLst>
          </p:cNvPr>
          <p:cNvSpPr>
            <a:spLocks noGrp="1"/>
          </p:cNvSpPr>
          <p:nvPr/>
        </p:nvSpPr>
        <p:spPr>
          <a:xfrm>
            <a:off x="6292935" y="4135967"/>
            <a:ext cx="971550" cy="1807633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09F98-E523-435F-AE8E-209BBFAC82A0}"/>
              </a:ext>
            </a:extLst>
          </p:cNvPr>
          <p:cNvSpPr>
            <a:spLocks noGrp="1"/>
          </p:cNvSpPr>
          <p:nvPr/>
        </p:nvSpPr>
        <p:spPr>
          <a:xfrm>
            <a:off x="6703907" y="603110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6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F8EA1-2AE2-4DEB-9691-33341405F5E7}"/>
              </a:ext>
            </a:extLst>
          </p:cNvPr>
          <p:cNvSpPr>
            <a:spLocks noGrp="1"/>
          </p:cNvSpPr>
          <p:nvPr/>
        </p:nvSpPr>
        <p:spPr>
          <a:xfrm>
            <a:off x="3182686" y="4172535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77C9FA-0B4E-4ED6-8E85-FF721C614E8A}"/>
              </a:ext>
            </a:extLst>
          </p:cNvPr>
          <p:cNvSpPr>
            <a:spLocks noGrp="1"/>
          </p:cNvSpPr>
          <p:nvPr/>
        </p:nvSpPr>
        <p:spPr>
          <a:xfrm>
            <a:off x="2768967" y="4422826"/>
            <a:ext cx="971550" cy="1520774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9CBC0-95C0-4575-A0A2-6000D1C6679C}"/>
              </a:ext>
            </a:extLst>
          </p:cNvPr>
          <p:cNvSpPr>
            <a:spLocks noGrp="1"/>
          </p:cNvSpPr>
          <p:nvPr/>
        </p:nvSpPr>
        <p:spPr>
          <a:xfrm>
            <a:off x="3182686" y="603497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90FC83-ECC4-4DCE-8BCC-0B8DA95B5AA3}"/>
              </a:ext>
            </a:extLst>
          </p:cNvPr>
          <p:cNvSpPr>
            <a:spLocks noGrp="1"/>
          </p:cNvSpPr>
          <p:nvPr/>
        </p:nvSpPr>
        <p:spPr>
          <a:xfrm>
            <a:off x="3943623" y="4339196"/>
            <a:ext cx="971550" cy="1604403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5C1B9-A968-4E7C-A986-A82FDC935E2D}"/>
              </a:ext>
            </a:extLst>
          </p:cNvPr>
          <p:cNvSpPr>
            <a:spLocks noGrp="1"/>
          </p:cNvSpPr>
          <p:nvPr/>
        </p:nvSpPr>
        <p:spPr>
          <a:xfrm>
            <a:off x="4353198" y="6042942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4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8624CB-CE93-4699-90C9-36817A21FB03}"/>
              </a:ext>
            </a:extLst>
          </p:cNvPr>
          <p:cNvSpPr>
            <a:spLocks noGrp="1"/>
          </p:cNvSpPr>
          <p:nvPr/>
        </p:nvSpPr>
        <p:spPr>
          <a:xfrm>
            <a:off x="5118279" y="4542558"/>
            <a:ext cx="971550" cy="1401041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C2770-8401-4BA1-B03E-794EDA732BE9}"/>
              </a:ext>
            </a:extLst>
          </p:cNvPr>
          <p:cNvSpPr>
            <a:spLocks noGrp="1"/>
          </p:cNvSpPr>
          <p:nvPr/>
        </p:nvSpPr>
        <p:spPr>
          <a:xfrm>
            <a:off x="5523710" y="6040684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2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1083B-EE6E-4C34-BCC9-2B92AAB523A9}"/>
              </a:ext>
            </a:extLst>
          </p:cNvPr>
          <p:cNvSpPr>
            <a:spLocks noGrp="1"/>
          </p:cNvSpPr>
          <p:nvPr/>
        </p:nvSpPr>
        <p:spPr>
          <a:xfrm>
            <a:off x="1983439" y="44005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AA2440-1070-474F-BEAC-EE6680B65D14}"/>
              </a:ext>
            </a:extLst>
          </p:cNvPr>
          <p:cNvSpPr>
            <a:spLocks noGrp="1"/>
          </p:cNvSpPr>
          <p:nvPr/>
        </p:nvSpPr>
        <p:spPr>
          <a:xfrm>
            <a:off x="1640539" y="4648200"/>
            <a:ext cx="971550" cy="1295400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B7818-37C2-4E93-AECE-7864D08D384F}"/>
              </a:ext>
            </a:extLst>
          </p:cNvPr>
          <p:cNvSpPr>
            <a:spLocks noGrp="1"/>
          </p:cNvSpPr>
          <p:nvPr/>
        </p:nvSpPr>
        <p:spPr>
          <a:xfrm>
            <a:off x="2002489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A783B-D5D1-468F-AF86-A4AD7C9F2B5C}"/>
              </a:ext>
            </a:extLst>
          </p:cNvPr>
          <p:cNvSpPr>
            <a:spLocks noGrp="1"/>
          </p:cNvSpPr>
          <p:nvPr/>
        </p:nvSpPr>
        <p:spPr>
          <a:xfrm>
            <a:off x="11074212" y="2690253"/>
            <a:ext cx="2259106" cy="31964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 dirty="0" err="1">
                <a:solidFill>
                  <a:srgbClr val="1C1713"/>
                </a:solidFill>
              </a:rPr>
              <a:t>Рекурсивный</a:t>
            </a:r>
            <a:r>
              <a:rPr sz="1800" b="1" dirty="0">
                <a:solidFill>
                  <a:srgbClr val="1C1713"/>
                </a:solidFill>
              </a:rPr>
              <a:t> </a:t>
            </a:r>
            <a:r>
              <a:rPr sz="1800" b="1" dirty="0" err="1">
                <a:solidFill>
                  <a:srgbClr val="1C1713"/>
                </a:solidFill>
              </a:rPr>
              <a:t>шаблон</a:t>
            </a:r>
            <a:endParaRPr sz="1800" b="1" dirty="0">
              <a:solidFill>
                <a:srgbClr val="1C171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F903E-507B-4CF2-A126-92470A5B8FCD}"/>
              </a:ext>
            </a:extLst>
          </p:cNvPr>
          <p:cNvSpPr>
            <a:spLocks noGrp="1"/>
          </p:cNvSpPr>
          <p:nvPr/>
        </p:nvSpPr>
        <p:spPr>
          <a:xfrm>
            <a:off x="11074212" y="318135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65B40"/>
                </a:solidFill>
              </a:defRPr>
            </a:pPr>
            <a:r>
              <a:rPr sz="1650" dirty="0">
                <a:solidFill>
                  <a:srgbClr val="C65B40"/>
                </a:solidFill>
              </a:rPr>
              <a:t>1) </a:t>
            </a:r>
            <a:r>
              <a:rPr sz="1650" dirty="0" err="1">
                <a:solidFill>
                  <a:srgbClr val="C65B40"/>
                </a:solidFill>
              </a:rPr>
              <a:t>сравнить</a:t>
            </a:r>
            <a:r>
              <a:rPr sz="1650" dirty="0">
                <a:solidFill>
                  <a:srgbClr val="C65B40"/>
                </a:solidFill>
              </a:rPr>
              <a:t> </a:t>
            </a:r>
            <a:r>
              <a:rPr sz="1650" dirty="0" err="1">
                <a:solidFill>
                  <a:srgbClr val="C65B40"/>
                </a:solidFill>
              </a:rPr>
              <a:t>крайние</a:t>
            </a:r>
            <a:r>
              <a:rPr sz="1650" dirty="0">
                <a:solidFill>
                  <a:srgbClr val="C65B40"/>
                </a:solidFill>
              </a:rPr>
              <a:t> </a:t>
            </a:r>
            <a:r>
              <a:rPr sz="1650" dirty="0" err="1">
                <a:solidFill>
                  <a:srgbClr val="C65B40"/>
                </a:solidFill>
              </a:rPr>
              <a:t>элементы</a:t>
            </a:r>
            <a:endParaRPr sz="1650" dirty="0">
              <a:solidFill>
                <a:srgbClr val="C65B40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4C0D9-A4F2-442A-89E1-619A7DDDAC6B}"/>
              </a:ext>
            </a:extLst>
          </p:cNvPr>
          <p:cNvSpPr>
            <a:spLocks noGrp="1"/>
          </p:cNvSpPr>
          <p:nvPr/>
        </p:nvSpPr>
        <p:spPr>
          <a:xfrm>
            <a:off x="11074212" y="3648075"/>
            <a:ext cx="2571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2)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325FE-D06D-4161-A298-4A69821C44AC}"/>
              </a:ext>
            </a:extLst>
          </p:cNvPr>
          <p:cNvSpPr>
            <a:spLocks noGrp="1"/>
          </p:cNvSpPr>
          <p:nvPr/>
        </p:nvSpPr>
        <p:spPr>
          <a:xfrm>
            <a:off x="11074212" y="4091547"/>
            <a:ext cx="2940424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3)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последние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7F8DD-8F2C-4F5C-A560-18EC0AAE731C}"/>
              </a:ext>
            </a:extLst>
          </p:cNvPr>
          <p:cNvSpPr>
            <a:spLocks noGrp="1"/>
          </p:cNvSpPr>
          <p:nvPr/>
        </p:nvSpPr>
        <p:spPr>
          <a:xfrm>
            <a:off x="11074212" y="4542559"/>
            <a:ext cx="1790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4) </a:t>
            </a:r>
            <a:r>
              <a:rPr sz="1650" dirty="0" err="1">
                <a:solidFill>
                  <a:srgbClr val="625B54"/>
                </a:solidFill>
              </a:rPr>
              <a:t>снова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BBA92151-45CA-440A-A5C4-59895DE0B380}"/>
              </a:ext>
            </a:extLst>
          </p:cNvPr>
          <p:cNvSpPr>
            <a:spLocks noGrp="1"/>
          </p:cNvSpPr>
          <p:nvPr/>
        </p:nvSpPr>
        <p:spPr>
          <a:xfrm>
            <a:off x="838199" y="9486900"/>
            <a:ext cx="3769659" cy="19498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 С</a:t>
            </a:r>
            <a:r>
              <a:rPr sz="900" dirty="0" err="1">
                <a:solidFill>
                  <a:srgbClr val="625B54"/>
                </a:solidFill>
              </a:rPr>
              <a:t>обственная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визуализация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коду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0C6D2A-FCA1-4177-BB04-0CA6128C7836}"/>
              </a:ext>
            </a:extLst>
          </p:cNvPr>
          <p:cNvSpPr>
            <a:spLocks noGrp="1"/>
          </p:cNvSpPr>
          <p:nvPr/>
        </p:nvSpPr>
        <p:spPr>
          <a:xfrm>
            <a:off x="7467591" y="4752109"/>
            <a:ext cx="971550" cy="1191491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436647A-3951-46AE-8162-0D0C8CC01A55}"/>
              </a:ext>
            </a:extLst>
          </p:cNvPr>
          <p:cNvSpPr>
            <a:spLocks noGrp="1"/>
          </p:cNvSpPr>
          <p:nvPr/>
        </p:nvSpPr>
        <p:spPr>
          <a:xfrm>
            <a:off x="8642247" y="4248150"/>
            <a:ext cx="971550" cy="1695450"/>
          </a:xfrm>
          <a:prstGeom prst="roundRect">
            <a:avLst>
              <a:gd name="adj" fmla="val 1961"/>
            </a:avLst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0BBCA5-9AE7-4237-A03F-F8CCF01FC543}"/>
              </a:ext>
            </a:extLst>
          </p:cNvPr>
          <p:cNvSpPr>
            <a:spLocks noGrp="1"/>
          </p:cNvSpPr>
          <p:nvPr/>
        </p:nvSpPr>
        <p:spPr>
          <a:xfrm>
            <a:off x="7877166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0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F0FDA7-EADD-4FEE-8311-D2B06E8C1446}"/>
              </a:ext>
            </a:extLst>
          </p:cNvPr>
          <p:cNvSpPr>
            <a:spLocks noGrp="1"/>
          </p:cNvSpPr>
          <p:nvPr/>
        </p:nvSpPr>
        <p:spPr>
          <a:xfrm>
            <a:off x="9067800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5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89DC6C-6824-44F4-AD22-4D5917A7247D}"/>
              </a:ext>
            </a:extLst>
          </p:cNvPr>
          <p:cNvSpPr>
            <a:spLocks noGrp="1"/>
          </p:cNvSpPr>
          <p:nvPr/>
        </p:nvSpPr>
        <p:spPr>
          <a:xfrm>
            <a:off x="4352925" y="405976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9E2D8F-89C0-4346-8C9F-DEE17D443F98}"/>
              </a:ext>
            </a:extLst>
          </p:cNvPr>
          <p:cNvSpPr>
            <a:spLocks noGrp="1"/>
          </p:cNvSpPr>
          <p:nvPr/>
        </p:nvSpPr>
        <p:spPr>
          <a:xfrm>
            <a:off x="5508804" y="4294062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8C487-6C36-407A-8B99-21AABC257CF7}"/>
              </a:ext>
            </a:extLst>
          </p:cNvPr>
          <p:cNvSpPr>
            <a:spLocks noGrp="1"/>
          </p:cNvSpPr>
          <p:nvPr/>
        </p:nvSpPr>
        <p:spPr>
          <a:xfrm>
            <a:off x="6683460" y="390784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D5F984-FD27-496C-B562-BCA959012F88}"/>
              </a:ext>
            </a:extLst>
          </p:cNvPr>
          <p:cNvSpPr>
            <a:spLocks noGrp="1"/>
          </p:cNvSpPr>
          <p:nvPr/>
        </p:nvSpPr>
        <p:spPr>
          <a:xfrm>
            <a:off x="7877166" y="455506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19745-5575-40E6-A369-50609A4AC516}"/>
              </a:ext>
            </a:extLst>
          </p:cNvPr>
          <p:cNvSpPr>
            <a:spLocks noGrp="1"/>
          </p:cNvSpPr>
          <p:nvPr/>
        </p:nvSpPr>
        <p:spPr>
          <a:xfrm>
            <a:off x="9048750" y="401534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D13095-6592-4848-B380-55D0CB2E289C}"/>
              </a:ext>
            </a:extLst>
          </p:cNvPr>
          <p:cNvSpPr>
            <a:spLocks noGrp="1"/>
          </p:cNvSpPr>
          <p:nvPr/>
        </p:nvSpPr>
        <p:spPr>
          <a:xfrm>
            <a:off x="11074212" y="4955471"/>
            <a:ext cx="1524000" cy="28575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89349-8547-47E1-905A-0425CCDBBF39}"/>
              </a:ext>
            </a:extLst>
          </p:cNvPr>
          <p:cNvSpPr txBox="1"/>
          <p:nvPr/>
        </p:nvSpPr>
        <p:spPr>
          <a:xfrm>
            <a:off x="838199" y="6745752"/>
            <a:ext cx="9148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75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После первого сравнения крайние элементы уже ближе к своим местам. Но этого недостаточно: дальше нужно трижды пройти по перекрывающимся 2/3 диапазонам.</a:t>
            </a:r>
          </a:p>
        </p:txBody>
      </p:sp>
    </p:spTree>
    <p:extLst>
      <p:ext uri="{BB962C8B-B14F-4D97-AF65-F5344CB8AC3E}">
        <p14:creationId xmlns:p14="http://schemas.microsoft.com/office/powerpoint/2010/main" val="309126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1" grpId="0"/>
      <p:bldP spid="14" grpId="0"/>
      <p:bldP spid="17" grpId="0"/>
      <p:bldP spid="18" grpId="0"/>
      <p:bldP spid="20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A9670DA9-DBA5-41A3-8662-EE34984CA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222182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A85A95-271E-4EEB-B7E2-D13B04B2258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7639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Пошаговая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визуализация</a:t>
            </a:r>
            <a:r>
              <a:rPr sz="4050" b="1" dirty="0">
                <a:solidFill>
                  <a:srgbClr val="1C1713"/>
                </a:solidFill>
              </a:rPr>
              <a:t>: </a:t>
            </a:r>
            <a:r>
              <a:rPr sz="4050" b="1" dirty="0" err="1">
                <a:solidFill>
                  <a:srgbClr val="1C1713"/>
                </a:solidFill>
              </a:rPr>
              <a:t>шаг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lang="en-US" sz="4050" b="1" dirty="0">
                <a:solidFill>
                  <a:srgbClr val="1C1713"/>
                </a:solidFill>
              </a:rPr>
              <a:t>2</a:t>
            </a:r>
            <a:r>
              <a:rPr sz="4050" b="1" dirty="0">
                <a:solidFill>
                  <a:srgbClr val="1C1713"/>
                </a:solidFill>
              </a:rPr>
              <a:t>/4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1605A1A-AFD1-4FE9-8FE2-D1C84777531D}"/>
              </a:ext>
            </a:extLst>
          </p:cNvPr>
          <p:cNvSpPr>
            <a:spLocks noGrp="1"/>
          </p:cNvSpPr>
          <p:nvPr/>
        </p:nvSpPr>
        <p:spPr>
          <a:xfrm>
            <a:off x="838200" y="2014563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Теперь алгоритм заходит в первый рекурсивный поддиапазон длиной </a:t>
            </a:r>
            <a:r>
              <a:rPr lang="en-US" dirty="0">
                <a:solidFill>
                  <a:srgbClr val="625B54"/>
                </a:solidFill>
              </a:rPr>
              <a:t>5</a:t>
            </a:r>
            <a:r>
              <a:rPr lang="ru-RU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2CB363F0-DDEC-4027-A1E4-CE01D4F2BEA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B8E9-EF5A-4DC1-9EB1-A9FA7134C6C2}"/>
              </a:ext>
            </a:extLst>
          </p:cNvPr>
          <p:cNvSpPr>
            <a:spLocks noGrp="1"/>
          </p:cNvSpPr>
          <p:nvPr/>
        </p:nvSpPr>
        <p:spPr>
          <a:xfrm>
            <a:off x="838200" y="2628900"/>
            <a:ext cx="8858250" cy="685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lang="ru-RU" sz="2100" b="1" dirty="0">
                <a:solidFill>
                  <a:srgbClr val="0F766E"/>
                </a:solidFill>
              </a:rPr>
              <a:t>Первый рекурсивный вызов сортирует первые 2/3 массива:</a:t>
            </a:r>
          </a:p>
          <a:p>
            <a:pPr>
              <a:defRPr sz="2100" b="1">
                <a:solidFill>
                  <a:srgbClr val="0F766E"/>
                </a:solidFill>
              </a:defRPr>
            </a:pPr>
            <a:r>
              <a:rPr lang="ru-RU" sz="2100" b="1" dirty="0">
                <a:solidFill>
                  <a:srgbClr val="0F766E"/>
                </a:solidFill>
              </a:rPr>
              <a:t>диапазон [0..</a:t>
            </a:r>
            <a:r>
              <a:rPr lang="en-US" sz="2100" b="1" dirty="0">
                <a:solidFill>
                  <a:srgbClr val="0F766E"/>
                </a:solidFill>
              </a:rPr>
              <a:t>4</a:t>
            </a:r>
            <a:r>
              <a:rPr lang="ru-RU" sz="2100" b="1" dirty="0">
                <a:solidFill>
                  <a:srgbClr val="0F766E"/>
                </a:solidFill>
              </a:rPr>
              <a:t>]. Внутри него повторяется та же самая схема.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7BACC3-3F7B-4CBF-B798-693D5360B0C9}"/>
              </a:ext>
            </a:extLst>
          </p:cNvPr>
          <p:cNvSpPr>
            <a:spLocks noGrp="1"/>
          </p:cNvSpPr>
          <p:nvPr/>
        </p:nvSpPr>
        <p:spPr>
          <a:xfrm>
            <a:off x="6292935" y="4135967"/>
            <a:ext cx="971550" cy="1807633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09F98-E523-435F-AE8E-209BBFAC82A0}"/>
              </a:ext>
            </a:extLst>
          </p:cNvPr>
          <p:cNvSpPr>
            <a:spLocks noGrp="1"/>
          </p:cNvSpPr>
          <p:nvPr/>
        </p:nvSpPr>
        <p:spPr>
          <a:xfrm>
            <a:off x="6703907" y="603110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6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F8EA1-2AE2-4DEB-9691-33341405F5E7}"/>
              </a:ext>
            </a:extLst>
          </p:cNvPr>
          <p:cNvSpPr>
            <a:spLocks noGrp="1"/>
          </p:cNvSpPr>
          <p:nvPr/>
        </p:nvSpPr>
        <p:spPr>
          <a:xfrm>
            <a:off x="3182686" y="43243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77C9FA-0B4E-4ED6-8E85-FF721C614E8A}"/>
              </a:ext>
            </a:extLst>
          </p:cNvPr>
          <p:cNvSpPr>
            <a:spLocks noGrp="1"/>
          </p:cNvSpPr>
          <p:nvPr/>
        </p:nvSpPr>
        <p:spPr>
          <a:xfrm>
            <a:off x="3940824" y="4422826"/>
            <a:ext cx="971550" cy="1520774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9CBC0-95C0-4575-A0A2-6000D1C6679C}"/>
              </a:ext>
            </a:extLst>
          </p:cNvPr>
          <p:cNvSpPr>
            <a:spLocks noGrp="1"/>
          </p:cNvSpPr>
          <p:nvPr/>
        </p:nvSpPr>
        <p:spPr>
          <a:xfrm>
            <a:off x="4354543" y="603497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90FC83-ECC4-4DCE-8BCC-0B8DA95B5AA3}"/>
              </a:ext>
            </a:extLst>
          </p:cNvPr>
          <p:cNvSpPr>
            <a:spLocks noGrp="1"/>
          </p:cNvSpPr>
          <p:nvPr/>
        </p:nvSpPr>
        <p:spPr>
          <a:xfrm>
            <a:off x="5118279" y="4339196"/>
            <a:ext cx="971550" cy="1604403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5C1B9-A968-4E7C-A986-A82FDC935E2D}"/>
              </a:ext>
            </a:extLst>
          </p:cNvPr>
          <p:cNvSpPr>
            <a:spLocks noGrp="1"/>
          </p:cNvSpPr>
          <p:nvPr/>
        </p:nvSpPr>
        <p:spPr>
          <a:xfrm>
            <a:off x="5527854" y="6042942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4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8624CB-CE93-4699-90C9-36817A21FB03}"/>
              </a:ext>
            </a:extLst>
          </p:cNvPr>
          <p:cNvSpPr>
            <a:spLocks noGrp="1"/>
          </p:cNvSpPr>
          <p:nvPr/>
        </p:nvSpPr>
        <p:spPr>
          <a:xfrm>
            <a:off x="2779082" y="4542558"/>
            <a:ext cx="971550" cy="1401041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C2770-8401-4BA1-B03E-794EDA732BE9}"/>
              </a:ext>
            </a:extLst>
          </p:cNvPr>
          <p:cNvSpPr>
            <a:spLocks noGrp="1"/>
          </p:cNvSpPr>
          <p:nvPr/>
        </p:nvSpPr>
        <p:spPr>
          <a:xfrm>
            <a:off x="3184513" y="6040684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2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1083B-EE6E-4C34-BCC9-2B92AAB523A9}"/>
              </a:ext>
            </a:extLst>
          </p:cNvPr>
          <p:cNvSpPr>
            <a:spLocks noGrp="1"/>
          </p:cNvSpPr>
          <p:nvPr/>
        </p:nvSpPr>
        <p:spPr>
          <a:xfrm>
            <a:off x="1983439" y="44005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AA2440-1070-474F-BEAC-EE6680B65D14}"/>
              </a:ext>
            </a:extLst>
          </p:cNvPr>
          <p:cNvSpPr>
            <a:spLocks noGrp="1"/>
          </p:cNvSpPr>
          <p:nvPr/>
        </p:nvSpPr>
        <p:spPr>
          <a:xfrm>
            <a:off x="1640539" y="4648200"/>
            <a:ext cx="971550" cy="1295400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B7818-37C2-4E93-AECE-7864D08D384F}"/>
              </a:ext>
            </a:extLst>
          </p:cNvPr>
          <p:cNvSpPr>
            <a:spLocks noGrp="1"/>
          </p:cNvSpPr>
          <p:nvPr/>
        </p:nvSpPr>
        <p:spPr>
          <a:xfrm>
            <a:off x="2002489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A783B-D5D1-468F-AF86-A4AD7C9F2B5C}"/>
              </a:ext>
            </a:extLst>
          </p:cNvPr>
          <p:cNvSpPr>
            <a:spLocks noGrp="1"/>
          </p:cNvSpPr>
          <p:nvPr/>
        </p:nvSpPr>
        <p:spPr>
          <a:xfrm>
            <a:off x="11074212" y="2690253"/>
            <a:ext cx="2259106" cy="31964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 dirty="0" err="1">
                <a:solidFill>
                  <a:srgbClr val="1C1713"/>
                </a:solidFill>
              </a:rPr>
              <a:t>Рекурсивный</a:t>
            </a:r>
            <a:r>
              <a:rPr sz="1800" b="1" dirty="0">
                <a:solidFill>
                  <a:srgbClr val="1C1713"/>
                </a:solidFill>
              </a:rPr>
              <a:t> </a:t>
            </a:r>
            <a:r>
              <a:rPr sz="1800" b="1" dirty="0" err="1">
                <a:solidFill>
                  <a:srgbClr val="1C1713"/>
                </a:solidFill>
              </a:rPr>
              <a:t>шаблон</a:t>
            </a:r>
            <a:endParaRPr sz="1800" b="1" dirty="0">
              <a:solidFill>
                <a:srgbClr val="1C171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F903E-507B-4CF2-A126-92470A5B8FCD}"/>
              </a:ext>
            </a:extLst>
          </p:cNvPr>
          <p:cNvSpPr>
            <a:spLocks noGrp="1"/>
          </p:cNvSpPr>
          <p:nvPr/>
        </p:nvSpPr>
        <p:spPr>
          <a:xfrm>
            <a:off x="11074212" y="318135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65B40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1) </a:t>
            </a:r>
            <a:r>
              <a:rPr sz="1650" dirty="0" err="1">
                <a:solidFill>
                  <a:srgbClr val="625B54"/>
                </a:solidFill>
              </a:rPr>
              <a:t>сравнить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крайние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элементы</a:t>
            </a:r>
            <a:endParaRPr sz="1650" dirty="0">
              <a:solidFill>
                <a:srgbClr val="625B5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4C0D9-A4F2-442A-89E1-619A7DDDAC6B}"/>
              </a:ext>
            </a:extLst>
          </p:cNvPr>
          <p:cNvSpPr>
            <a:spLocks noGrp="1"/>
          </p:cNvSpPr>
          <p:nvPr/>
        </p:nvSpPr>
        <p:spPr>
          <a:xfrm>
            <a:off x="11074212" y="3648075"/>
            <a:ext cx="2571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0F766E"/>
                </a:solidFill>
              </a:rPr>
              <a:t>2) </a:t>
            </a:r>
            <a:r>
              <a:rPr sz="1650" dirty="0" err="1">
                <a:solidFill>
                  <a:srgbClr val="0F766E"/>
                </a:solidFill>
              </a:rPr>
              <a:t>отсортировать</a:t>
            </a:r>
            <a:r>
              <a:rPr sz="1650" dirty="0">
                <a:solidFill>
                  <a:srgbClr val="0F766E"/>
                </a:solidFill>
              </a:rPr>
              <a:t> </a:t>
            </a:r>
            <a:r>
              <a:rPr sz="1650" dirty="0" err="1">
                <a:solidFill>
                  <a:srgbClr val="0F766E"/>
                </a:solidFill>
              </a:rPr>
              <a:t>первые</a:t>
            </a:r>
            <a:r>
              <a:rPr sz="1650" dirty="0">
                <a:solidFill>
                  <a:srgbClr val="0F766E"/>
                </a:solidFill>
              </a:rPr>
              <a:t> 2/3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325FE-D06D-4161-A298-4A69821C44AC}"/>
              </a:ext>
            </a:extLst>
          </p:cNvPr>
          <p:cNvSpPr>
            <a:spLocks noGrp="1"/>
          </p:cNvSpPr>
          <p:nvPr/>
        </p:nvSpPr>
        <p:spPr>
          <a:xfrm>
            <a:off x="11074212" y="4091547"/>
            <a:ext cx="2940424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3)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последние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7F8DD-8F2C-4F5C-A560-18EC0AAE731C}"/>
              </a:ext>
            </a:extLst>
          </p:cNvPr>
          <p:cNvSpPr>
            <a:spLocks noGrp="1"/>
          </p:cNvSpPr>
          <p:nvPr/>
        </p:nvSpPr>
        <p:spPr>
          <a:xfrm>
            <a:off x="11074212" y="4542559"/>
            <a:ext cx="1790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4) </a:t>
            </a:r>
            <a:r>
              <a:rPr sz="1650" dirty="0" err="1">
                <a:solidFill>
                  <a:srgbClr val="625B54"/>
                </a:solidFill>
              </a:rPr>
              <a:t>снова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BBA92151-45CA-440A-A5C4-59895DE0B380}"/>
              </a:ext>
            </a:extLst>
          </p:cNvPr>
          <p:cNvSpPr>
            <a:spLocks noGrp="1"/>
          </p:cNvSpPr>
          <p:nvPr/>
        </p:nvSpPr>
        <p:spPr>
          <a:xfrm>
            <a:off x="838199" y="9486900"/>
            <a:ext cx="3769659" cy="19498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 С</a:t>
            </a:r>
            <a:r>
              <a:rPr sz="900" dirty="0" err="1">
                <a:solidFill>
                  <a:srgbClr val="625B54"/>
                </a:solidFill>
              </a:rPr>
              <a:t>обственная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визуализация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коду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0C6D2A-FCA1-4177-BB04-0CA6128C7836}"/>
              </a:ext>
            </a:extLst>
          </p:cNvPr>
          <p:cNvSpPr>
            <a:spLocks noGrp="1"/>
          </p:cNvSpPr>
          <p:nvPr/>
        </p:nvSpPr>
        <p:spPr>
          <a:xfrm>
            <a:off x="7467591" y="4752109"/>
            <a:ext cx="971550" cy="1191491"/>
          </a:xfrm>
          <a:prstGeom prst="roundRect">
            <a:avLst>
              <a:gd name="adj" fmla="val 1961"/>
            </a:avLst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436647A-3951-46AE-8162-0D0C8CC01A55}"/>
              </a:ext>
            </a:extLst>
          </p:cNvPr>
          <p:cNvSpPr>
            <a:spLocks noGrp="1"/>
          </p:cNvSpPr>
          <p:nvPr/>
        </p:nvSpPr>
        <p:spPr>
          <a:xfrm>
            <a:off x="8642247" y="4248150"/>
            <a:ext cx="971550" cy="1695450"/>
          </a:xfrm>
          <a:prstGeom prst="roundRect">
            <a:avLst>
              <a:gd name="adj" fmla="val 1961"/>
            </a:avLst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0BBCA5-9AE7-4237-A03F-F8CCF01FC543}"/>
              </a:ext>
            </a:extLst>
          </p:cNvPr>
          <p:cNvSpPr>
            <a:spLocks noGrp="1"/>
          </p:cNvSpPr>
          <p:nvPr/>
        </p:nvSpPr>
        <p:spPr>
          <a:xfrm>
            <a:off x="7877166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0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F0FDA7-EADD-4FEE-8311-D2B06E8C1446}"/>
              </a:ext>
            </a:extLst>
          </p:cNvPr>
          <p:cNvSpPr>
            <a:spLocks noGrp="1"/>
          </p:cNvSpPr>
          <p:nvPr/>
        </p:nvSpPr>
        <p:spPr>
          <a:xfrm>
            <a:off x="9067800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5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89DC6C-6824-44F4-AD22-4D5917A7247D}"/>
              </a:ext>
            </a:extLst>
          </p:cNvPr>
          <p:cNvSpPr>
            <a:spLocks noGrp="1"/>
          </p:cNvSpPr>
          <p:nvPr/>
        </p:nvSpPr>
        <p:spPr>
          <a:xfrm>
            <a:off x="4352925" y="416819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9E2D8F-89C0-4346-8C9F-DEE17D443F98}"/>
              </a:ext>
            </a:extLst>
          </p:cNvPr>
          <p:cNvSpPr>
            <a:spLocks noGrp="1"/>
          </p:cNvSpPr>
          <p:nvPr/>
        </p:nvSpPr>
        <p:spPr>
          <a:xfrm>
            <a:off x="5508804" y="4116852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8C487-6C36-407A-8B99-21AABC257CF7}"/>
              </a:ext>
            </a:extLst>
          </p:cNvPr>
          <p:cNvSpPr>
            <a:spLocks noGrp="1"/>
          </p:cNvSpPr>
          <p:nvPr/>
        </p:nvSpPr>
        <p:spPr>
          <a:xfrm>
            <a:off x="6683460" y="390784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D5F984-FD27-496C-B562-BCA959012F88}"/>
              </a:ext>
            </a:extLst>
          </p:cNvPr>
          <p:cNvSpPr>
            <a:spLocks noGrp="1"/>
          </p:cNvSpPr>
          <p:nvPr/>
        </p:nvSpPr>
        <p:spPr>
          <a:xfrm>
            <a:off x="7877166" y="455506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19745-5575-40E6-A369-50609A4AC516}"/>
              </a:ext>
            </a:extLst>
          </p:cNvPr>
          <p:cNvSpPr>
            <a:spLocks noGrp="1"/>
          </p:cNvSpPr>
          <p:nvPr/>
        </p:nvSpPr>
        <p:spPr>
          <a:xfrm>
            <a:off x="9048750" y="401534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D13095-6592-4848-B380-55D0CB2E289C}"/>
              </a:ext>
            </a:extLst>
          </p:cNvPr>
          <p:cNvSpPr>
            <a:spLocks noGrp="1"/>
          </p:cNvSpPr>
          <p:nvPr/>
        </p:nvSpPr>
        <p:spPr>
          <a:xfrm>
            <a:off x="11074212" y="4955471"/>
            <a:ext cx="152400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89349-8547-47E1-905A-0425CCDBBF39}"/>
              </a:ext>
            </a:extLst>
          </p:cNvPr>
          <p:cNvSpPr txBox="1"/>
          <p:nvPr/>
        </p:nvSpPr>
        <p:spPr>
          <a:xfrm>
            <a:off x="838199" y="6745752"/>
            <a:ext cx="9148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75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Из-за такого повторения Stooge Sort быстро накапливает огромное число вызовов. Даже когда массив почти упорядочен, рекурсивная структура никуда не исчезает.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0DE71A-DAD0-4C62-A08D-58CE17FB204D}"/>
              </a:ext>
            </a:extLst>
          </p:cNvPr>
          <p:cNvSpPr txBox="1"/>
          <p:nvPr/>
        </p:nvSpPr>
        <p:spPr>
          <a:xfrm>
            <a:off x="10991559" y="5066397"/>
            <a:ext cx="46650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25B54"/>
                </a:solidFill>
              </a:defRPr>
            </a:pPr>
            <a:r>
              <a:rPr lang="ru-RU" sz="1350" dirty="0">
                <a:solidFill>
                  <a:srgbClr val="625B54"/>
                </a:solidFill>
              </a:rPr>
              <a:t>Для массива из 7 элементов: t = floor(7 / 3) = 2, поэтому рекурсивные диапазоны имеют длину 5.</a:t>
            </a:r>
          </a:p>
        </p:txBody>
      </p:sp>
    </p:spTree>
    <p:extLst>
      <p:ext uri="{BB962C8B-B14F-4D97-AF65-F5344CB8AC3E}">
        <p14:creationId xmlns:p14="http://schemas.microsoft.com/office/powerpoint/2010/main" val="2929635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1" grpId="0"/>
      <p:bldP spid="14" grpId="0"/>
      <p:bldP spid="17" grpId="0"/>
      <p:bldP spid="18" grpId="0"/>
      <p:bldP spid="20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A9670DA9-DBA5-41A3-8662-EE34984CA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222182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A85A95-271E-4EEB-B7E2-D13B04B2258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7639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Пошаговая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визуализация</a:t>
            </a:r>
            <a:r>
              <a:rPr sz="4050" b="1" dirty="0">
                <a:solidFill>
                  <a:srgbClr val="1C1713"/>
                </a:solidFill>
              </a:rPr>
              <a:t>: </a:t>
            </a:r>
            <a:r>
              <a:rPr sz="4050" b="1" dirty="0" err="1">
                <a:solidFill>
                  <a:srgbClr val="1C1713"/>
                </a:solidFill>
              </a:rPr>
              <a:t>шаг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lang="en-US" sz="4050" b="1" dirty="0">
                <a:solidFill>
                  <a:srgbClr val="1C1713"/>
                </a:solidFill>
              </a:rPr>
              <a:t>3</a:t>
            </a:r>
            <a:r>
              <a:rPr sz="4050" b="1" dirty="0">
                <a:solidFill>
                  <a:srgbClr val="1C1713"/>
                </a:solidFill>
              </a:rPr>
              <a:t>/4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1605A1A-AFD1-4FE9-8FE2-D1C84777531D}"/>
              </a:ext>
            </a:extLst>
          </p:cNvPr>
          <p:cNvSpPr>
            <a:spLocks noGrp="1"/>
          </p:cNvSpPr>
          <p:nvPr/>
        </p:nvSpPr>
        <p:spPr>
          <a:xfrm>
            <a:off x="838200" y="2014563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Второй рекурсивный вызов идёт по последним 2/3 исходного диапазона.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2CB363F0-DDEC-4027-A1E4-CE01D4F2BEA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B8E9-EF5A-4DC1-9EB1-A9FA7134C6C2}"/>
              </a:ext>
            </a:extLst>
          </p:cNvPr>
          <p:cNvSpPr>
            <a:spLocks noGrp="1"/>
          </p:cNvSpPr>
          <p:nvPr/>
        </p:nvSpPr>
        <p:spPr>
          <a:xfrm>
            <a:off x="838200" y="2628899"/>
            <a:ext cx="8858250" cy="9652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3E6588"/>
                </a:solidFill>
              </a:defRPr>
            </a:pPr>
            <a:r>
              <a:rPr lang="ru-RU" sz="2100" b="1" dirty="0">
                <a:solidFill>
                  <a:srgbClr val="3E6588"/>
                </a:solidFill>
              </a:rPr>
              <a:t>После обработки диапазона [</a:t>
            </a:r>
            <a:r>
              <a:rPr lang="en-US" sz="2100" b="1" dirty="0">
                <a:solidFill>
                  <a:srgbClr val="3E6588"/>
                </a:solidFill>
              </a:rPr>
              <a:t>2</a:t>
            </a:r>
            <a:r>
              <a:rPr lang="ru-RU" sz="2100" b="1" dirty="0">
                <a:solidFill>
                  <a:srgbClr val="3E6588"/>
                </a:solidFill>
              </a:rPr>
              <a:t>..</a:t>
            </a:r>
            <a:r>
              <a:rPr lang="en-US" sz="2100" b="1" dirty="0">
                <a:solidFill>
                  <a:srgbClr val="3E6588"/>
                </a:solidFill>
              </a:rPr>
              <a:t>6</a:t>
            </a:r>
            <a:r>
              <a:rPr lang="ru-RU" sz="2100" b="1" dirty="0">
                <a:solidFill>
                  <a:srgbClr val="3E6588"/>
                </a:solidFill>
              </a:rPr>
              <a:t>] все элементы уже</a:t>
            </a:r>
            <a:r>
              <a:rPr lang="en-US" sz="2100" b="1" dirty="0">
                <a:solidFill>
                  <a:srgbClr val="3E6588"/>
                </a:solidFill>
              </a:rPr>
              <a:t> </a:t>
            </a:r>
            <a:r>
              <a:rPr lang="ru-RU" sz="2100" b="1" dirty="0">
                <a:solidFill>
                  <a:srgbClr val="3E6588"/>
                </a:solidFill>
              </a:rPr>
              <a:t>почти оказываются на нужных местах. Здесь мы видим</a:t>
            </a:r>
            <a:r>
              <a:rPr lang="en-US" sz="2100" b="1" dirty="0">
                <a:solidFill>
                  <a:srgbClr val="3E6588"/>
                </a:solidFill>
              </a:rPr>
              <a:t>,</a:t>
            </a:r>
            <a:r>
              <a:rPr lang="ru-RU" sz="2100" b="1" dirty="0">
                <a:solidFill>
                  <a:srgbClr val="3E6588"/>
                </a:solidFill>
              </a:rPr>
              <a:t> для чего нам нужно снова пройтись по </a:t>
            </a:r>
          </a:p>
          <a:p>
            <a:pPr>
              <a:defRPr sz="2100" b="1">
                <a:solidFill>
                  <a:srgbClr val="3E6588"/>
                </a:solidFill>
              </a:defRPr>
            </a:pPr>
            <a:r>
              <a:rPr lang="ru-RU" sz="2100" b="1" dirty="0">
                <a:solidFill>
                  <a:srgbClr val="3E6588"/>
                </a:solidFill>
              </a:rPr>
              <a:t>1-ой части массива.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7BACC3-3F7B-4CBF-B798-693D5360B0C9}"/>
              </a:ext>
            </a:extLst>
          </p:cNvPr>
          <p:cNvSpPr>
            <a:spLocks noGrp="1"/>
          </p:cNvSpPr>
          <p:nvPr/>
        </p:nvSpPr>
        <p:spPr>
          <a:xfrm>
            <a:off x="8641991" y="4135967"/>
            <a:ext cx="971550" cy="1807633"/>
          </a:xfrm>
          <a:prstGeom prst="roundRect">
            <a:avLst>
              <a:gd name="adj" fmla="val 1961"/>
            </a:avLst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09F98-E523-435F-AE8E-209BBFAC82A0}"/>
              </a:ext>
            </a:extLst>
          </p:cNvPr>
          <p:cNvSpPr>
            <a:spLocks noGrp="1"/>
          </p:cNvSpPr>
          <p:nvPr/>
        </p:nvSpPr>
        <p:spPr>
          <a:xfrm>
            <a:off x="9052963" y="603110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6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F8EA1-2AE2-4DEB-9691-33341405F5E7}"/>
              </a:ext>
            </a:extLst>
          </p:cNvPr>
          <p:cNvSpPr>
            <a:spLocks noGrp="1"/>
          </p:cNvSpPr>
          <p:nvPr/>
        </p:nvSpPr>
        <p:spPr>
          <a:xfrm>
            <a:off x="3182686" y="43243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77C9FA-0B4E-4ED6-8E85-FF721C614E8A}"/>
              </a:ext>
            </a:extLst>
          </p:cNvPr>
          <p:cNvSpPr>
            <a:spLocks noGrp="1"/>
          </p:cNvSpPr>
          <p:nvPr/>
        </p:nvSpPr>
        <p:spPr>
          <a:xfrm>
            <a:off x="5097862" y="4422826"/>
            <a:ext cx="971550" cy="1520774"/>
          </a:xfrm>
          <a:prstGeom prst="roundRect">
            <a:avLst>
              <a:gd name="adj" fmla="val 1961"/>
            </a:avLst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9CBC0-95C0-4575-A0A2-6000D1C6679C}"/>
              </a:ext>
            </a:extLst>
          </p:cNvPr>
          <p:cNvSpPr>
            <a:spLocks noGrp="1"/>
          </p:cNvSpPr>
          <p:nvPr/>
        </p:nvSpPr>
        <p:spPr>
          <a:xfrm>
            <a:off x="5511581" y="603497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90FC83-ECC4-4DCE-8BCC-0B8DA95B5AA3}"/>
              </a:ext>
            </a:extLst>
          </p:cNvPr>
          <p:cNvSpPr>
            <a:spLocks noGrp="1"/>
          </p:cNvSpPr>
          <p:nvPr/>
        </p:nvSpPr>
        <p:spPr>
          <a:xfrm>
            <a:off x="6275313" y="4339196"/>
            <a:ext cx="971550" cy="1604403"/>
          </a:xfrm>
          <a:prstGeom prst="roundRect">
            <a:avLst>
              <a:gd name="adj" fmla="val 1961"/>
            </a:avLst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5C1B9-A968-4E7C-A986-A82FDC935E2D}"/>
              </a:ext>
            </a:extLst>
          </p:cNvPr>
          <p:cNvSpPr>
            <a:spLocks noGrp="1"/>
          </p:cNvSpPr>
          <p:nvPr/>
        </p:nvSpPr>
        <p:spPr>
          <a:xfrm>
            <a:off x="6684888" y="6042942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4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8624CB-CE93-4699-90C9-36817A21FB03}"/>
              </a:ext>
            </a:extLst>
          </p:cNvPr>
          <p:cNvSpPr>
            <a:spLocks noGrp="1"/>
          </p:cNvSpPr>
          <p:nvPr/>
        </p:nvSpPr>
        <p:spPr>
          <a:xfrm>
            <a:off x="2779082" y="4542558"/>
            <a:ext cx="971550" cy="1401041"/>
          </a:xfrm>
          <a:prstGeom prst="roundRect">
            <a:avLst>
              <a:gd name="adj" fmla="val 1961"/>
            </a:avLst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C2770-8401-4BA1-B03E-794EDA732BE9}"/>
              </a:ext>
            </a:extLst>
          </p:cNvPr>
          <p:cNvSpPr>
            <a:spLocks noGrp="1"/>
          </p:cNvSpPr>
          <p:nvPr/>
        </p:nvSpPr>
        <p:spPr>
          <a:xfrm>
            <a:off x="3184513" y="6040684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2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1083B-EE6E-4C34-BCC9-2B92AAB523A9}"/>
              </a:ext>
            </a:extLst>
          </p:cNvPr>
          <p:cNvSpPr>
            <a:spLocks noGrp="1"/>
          </p:cNvSpPr>
          <p:nvPr/>
        </p:nvSpPr>
        <p:spPr>
          <a:xfrm>
            <a:off x="1983439" y="44005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AA2440-1070-474F-BEAC-EE6680B65D14}"/>
              </a:ext>
            </a:extLst>
          </p:cNvPr>
          <p:cNvSpPr>
            <a:spLocks noGrp="1"/>
          </p:cNvSpPr>
          <p:nvPr/>
        </p:nvSpPr>
        <p:spPr>
          <a:xfrm>
            <a:off x="1640539" y="4648200"/>
            <a:ext cx="971550" cy="1295400"/>
          </a:xfrm>
          <a:prstGeom prst="roundRect">
            <a:avLst>
              <a:gd name="adj" fmla="val 1961"/>
            </a:avLst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B7818-37C2-4E93-AECE-7864D08D384F}"/>
              </a:ext>
            </a:extLst>
          </p:cNvPr>
          <p:cNvSpPr>
            <a:spLocks noGrp="1"/>
          </p:cNvSpPr>
          <p:nvPr/>
        </p:nvSpPr>
        <p:spPr>
          <a:xfrm>
            <a:off x="2002489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A783B-D5D1-468F-AF86-A4AD7C9F2B5C}"/>
              </a:ext>
            </a:extLst>
          </p:cNvPr>
          <p:cNvSpPr>
            <a:spLocks noGrp="1"/>
          </p:cNvSpPr>
          <p:nvPr/>
        </p:nvSpPr>
        <p:spPr>
          <a:xfrm>
            <a:off x="11074212" y="2690253"/>
            <a:ext cx="2259106" cy="31964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 dirty="0" err="1">
                <a:solidFill>
                  <a:srgbClr val="1C1713"/>
                </a:solidFill>
              </a:rPr>
              <a:t>Рекурсивный</a:t>
            </a:r>
            <a:r>
              <a:rPr sz="1800" b="1" dirty="0">
                <a:solidFill>
                  <a:srgbClr val="1C1713"/>
                </a:solidFill>
              </a:rPr>
              <a:t> </a:t>
            </a:r>
            <a:r>
              <a:rPr sz="1800" b="1" dirty="0" err="1">
                <a:solidFill>
                  <a:srgbClr val="1C1713"/>
                </a:solidFill>
              </a:rPr>
              <a:t>шаблон</a:t>
            </a:r>
            <a:endParaRPr sz="1800" b="1" dirty="0">
              <a:solidFill>
                <a:srgbClr val="1C171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F903E-507B-4CF2-A126-92470A5B8FCD}"/>
              </a:ext>
            </a:extLst>
          </p:cNvPr>
          <p:cNvSpPr>
            <a:spLocks noGrp="1"/>
          </p:cNvSpPr>
          <p:nvPr/>
        </p:nvSpPr>
        <p:spPr>
          <a:xfrm>
            <a:off x="11074212" y="318135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65B40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1) </a:t>
            </a:r>
            <a:r>
              <a:rPr sz="1650" dirty="0" err="1">
                <a:solidFill>
                  <a:srgbClr val="625B54"/>
                </a:solidFill>
              </a:rPr>
              <a:t>сравнить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крайние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элементы</a:t>
            </a:r>
            <a:endParaRPr sz="1650" dirty="0">
              <a:solidFill>
                <a:srgbClr val="625B5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4C0D9-A4F2-442A-89E1-619A7DDDAC6B}"/>
              </a:ext>
            </a:extLst>
          </p:cNvPr>
          <p:cNvSpPr>
            <a:spLocks noGrp="1"/>
          </p:cNvSpPr>
          <p:nvPr/>
        </p:nvSpPr>
        <p:spPr>
          <a:xfrm>
            <a:off x="11074212" y="3648075"/>
            <a:ext cx="2571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2)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325FE-D06D-4161-A298-4A69821C44AC}"/>
              </a:ext>
            </a:extLst>
          </p:cNvPr>
          <p:cNvSpPr>
            <a:spLocks noGrp="1"/>
          </p:cNvSpPr>
          <p:nvPr/>
        </p:nvSpPr>
        <p:spPr>
          <a:xfrm>
            <a:off x="11074212" y="4091547"/>
            <a:ext cx="2940424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3E6588"/>
                </a:solidFill>
              </a:rPr>
              <a:t>3) </a:t>
            </a:r>
            <a:r>
              <a:rPr sz="1650" dirty="0" err="1">
                <a:solidFill>
                  <a:srgbClr val="3E6588"/>
                </a:solidFill>
              </a:rPr>
              <a:t>отсортировать</a:t>
            </a:r>
            <a:r>
              <a:rPr sz="1650" dirty="0">
                <a:solidFill>
                  <a:srgbClr val="3E6588"/>
                </a:solidFill>
              </a:rPr>
              <a:t> </a:t>
            </a:r>
            <a:r>
              <a:rPr sz="1650" dirty="0" err="1">
                <a:solidFill>
                  <a:srgbClr val="3E6588"/>
                </a:solidFill>
              </a:rPr>
              <a:t>последние</a:t>
            </a:r>
            <a:r>
              <a:rPr sz="1650" dirty="0">
                <a:solidFill>
                  <a:srgbClr val="3E6588"/>
                </a:solidFill>
              </a:rPr>
              <a:t> 2/3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7F8DD-8F2C-4F5C-A560-18EC0AAE731C}"/>
              </a:ext>
            </a:extLst>
          </p:cNvPr>
          <p:cNvSpPr>
            <a:spLocks noGrp="1"/>
          </p:cNvSpPr>
          <p:nvPr/>
        </p:nvSpPr>
        <p:spPr>
          <a:xfrm>
            <a:off x="11074212" y="4542559"/>
            <a:ext cx="1790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4) </a:t>
            </a:r>
            <a:r>
              <a:rPr sz="1650" dirty="0" err="1">
                <a:solidFill>
                  <a:srgbClr val="625B54"/>
                </a:solidFill>
              </a:rPr>
              <a:t>снова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BBA92151-45CA-440A-A5C4-59895DE0B380}"/>
              </a:ext>
            </a:extLst>
          </p:cNvPr>
          <p:cNvSpPr>
            <a:spLocks noGrp="1"/>
          </p:cNvSpPr>
          <p:nvPr/>
        </p:nvSpPr>
        <p:spPr>
          <a:xfrm>
            <a:off x="838199" y="9486900"/>
            <a:ext cx="3769659" cy="19498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 С</a:t>
            </a:r>
            <a:r>
              <a:rPr sz="900" dirty="0" err="1">
                <a:solidFill>
                  <a:srgbClr val="625B54"/>
                </a:solidFill>
              </a:rPr>
              <a:t>обственная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визуализация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коду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0C6D2A-FCA1-4177-BB04-0CA6128C7836}"/>
              </a:ext>
            </a:extLst>
          </p:cNvPr>
          <p:cNvSpPr>
            <a:spLocks noGrp="1"/>
          </p:cNvSpPr>
          <p:nvPr/>
        </p:nvSpPr>
        <p:spPr>
          <a:xfrm>
            <a:off x="3932722" y="4752109"/>
            <a:ext cx="971550" cy="1191491"/>
          </a:xfrm>
          <a:prstGeom prst="roundRect">
            <a:avLst>
              <a:gd name="adj" fmla="val 1961"/>
            </a:avLst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436647A-3951-46AE-8162-0D0C8CC01A55}"/>
              </a:ext>
            </a:extLst>
          </p:cNvPr>
          <p:cNvSpPr>
            <a:spLocks noGrp="1"/>
          </p:cNvSpPr>
          <p:nvPr/>
        </p:nvSpPr>
        <p:spPr>
          <a:xfrm>
            <a:off x="7458652" y="4248150"/>
            <a:ext cx="971550" cy="1695450"/>
          </a:xfrm>
          <a:prstGeom prst="roundRect">
            <a:avLst>
              <a:gd name="adj" fmla="val 1961"/>
            </a:avLst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0BBCA5-9AE7-4237-A03F-F8CCF01FC543}"/>
              </a:ext>
            </a:extLst>
          </p:cNvPr>
          <p:cNvSpPr>
            <a:spLocks noGrp="1"/>
          </p:cNvSpPr>
          <p:nvPr/>
        </p:nvSpPr>
        <p:spPr>
          <a:xfrm>
            <a:off x="4342297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0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F0FDA7-EADD-4FEE-8311-D2B06E8C1446}"/>
              </a:ext>
            </a:extLst>
          </p:cNvPr>
          <p:cNvSpPr>
            <a:spLocks noGrp="1"/>
          </p:cNvSpPr>
          <p:nvPr/>
        </p:nvSpPr>
        <p:spPr>
          <a:xfrm>
            <a:off x="7884205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5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89DC6C-6824-44F4-AD22-4D5917A7247D}"/>
              </a:ext>
            </a:extLst>
          </p:cNvPr>
          <p:cNvSpPr>
            <a:spLocks noGrp="1"/>
          </p:cNvSpPr>
          <p:nvPr/>
        </p:nvSpPr>
        <p:spPr>
          <a:xfrm>
            <a:off x="4352925" y="450769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9E2D8F-89C0-4346-8C9F-DEE17D443F98}"/>
              </a:ext>
            </a:extLst>
          </p:cNvPr>
          <p:cNvSpPr>
            <a:spLocks noGrp="1"/>
          </p:cNvSpPr>
          <p:nvPr/>
        </p:nvSpPr>
        <p:spPr>
          <a:xfrm>
            <a:off x="5508804" y="417904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8C487-6C36-407A-8B99-21AABC257CF7}"/>
              </a:ext>
            </a:extLst>
          </p:cNvPr>
          <p:cNvSpPr>
            <a:spLocks noGrp="1"/>
          </p:cNvSpPr>
          <p:nvPr/>
        </p:nvSpPr>
        <p:spPr>
          <a:xfrm>
            <a:off x="6683460" y="4116852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D5F984-FD27-496C-B562-BCA959012F88}"/>
              </a:ext>
            </a:extLst>
          </p:cNvPr>
          <p:cNvSpPr>
            <a:spLocks noGrp="1"/>
          </p:cNvSpPr>
          <p:nvPr/>
        </p:nvSpPr>
        <p:spPr>
          <a:xfrm>
            <a:off x="7877166" y="3996789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19745-5575-40E6-A369-50609A4AC516}"/>
              </a:ext>
            </a:extLst>
          </p:cNvPr>
          <p:cNvSpPr>
            <a:spLocks noGrp="1"/>
          </p:cNvSpPr>
          <p:nvPr/>
        </p:nvSpPr>
        <p:spPr>
          <a:xfrm>
            <a:off x="9048750" y="3915976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D13095-6592-4848-B380-55D0CB2E289C}"/>
              </a:ext>
            </a:extLst>
          </p:cNvPr>
          <p:cNvSpPr>
            <a:spLocks noGrp="1"/>
          </p:cNvSpPr>
          <p:nvPr/>
        </p:nvSpPr>
        <p:spPr>
          <a:xfrm>
            <a:off x="11074212" y="4955471"/>
            <a:ext cx="1524000" cy="28575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D89349-8547-47E1-905A-0425CCDBBF39}"/>
              </a:ext>
            </a:extLst>
          </p:cNvPr>
          <p:cNvSpPr txBox="1"/>
          <p:nvPr/>
        </p:nvSpPr>
        <p:spPr>
          <a:xfrm>
            <a:off x="838199" y="6745752"/>
            <a:ext cx="91488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75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Из-за такого повторения Stooge Sort быстро накапливает огромное число вызовов. Даже когда массив почти упорядочен, рекурсивная структура никуда не исчезает.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6FE4BB-4959-4CFF-8A75-22D226DABD24}"/>
              </a:ext>
            </a:extLst>
          </p:cNvPr>
          <p:cNvSpPr txBox="1"/>
          <p:nvPr/>
        </p:nvSpPr>
        <p:spPr>
          <a:xfrm>
            <a:off x="10991559" y="5066397"/>
            <a:ext cx="46650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25B54"/>
                </a:solidFill>
              </a:defRPr>
            </a:pPr>
            <a:r>
              <a:rPr lang="ru-RU" sz="1350" dirty="0">
                <a:solidFill>
                  <a:srgbClr val="625B54"/>
                </a:solidFill>
              </a:rPr>
              <a:t>Для массива из 7 элементов: t = floor(7 / 3) = 2, поэтому рекурсивные диапазоны имеют длину 5.</a:t>
            </a:r>
          </a:p>
        </p:txBody>
      </p:sp>
    </p:spTree>
    <p:extLst>
      <p:ext uri="{BB962C8B-B14F-4D97-AF65-F5344CB8AC3E}">
        <p14:creationId xmlns:p14="http://schemas.microsoft.com/office/powerpoint/2010/main" val="3305255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1" grpId="0"/>
      <p:bldP spid="14" grpId="0"/>
      <p:bldP spid="17" grpId="0"/>
      <p:bldP spid="18" grpId="0"/>
      <p:bldP spid="20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A9670DA9-DBA5-41A3-8662-EE34984CA65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1222182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A85A95-271E-4EEB-B7E2-D13B04B2258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76390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Пошаговая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визуализация</a:t>
            </a:r>
            <a:r>
              <a:rPr sz="4050" b="1" dirty="0">
                <a:solidFill>
                  <a:srgbClr val="1C1713"/>
                </a:solidFill>
              </a:rPr>
              <a:t>: </a:t>
            </a:r>
            <a:r>
              <a:rPr sz="4050" b="1" dirty="0" err="1">
                <a:solidFill>
                  <a:srgbClr val="1C1713"/>
                </a:solidFill>
              </a:rPr>
              <a:t>шаг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lang="ru-RU" sz="4050" b="1" dirty="0">
                <a:solidFill>
                  <a:srgbClr val="1C1713"/>
                </a:solidFill>
              </a:rPr>
              <a:t>4</a:t>
            </a:r>
            <a:r>
              <a:rPr sz="4050" b="1" dirty="0">
                <a:solidFill>
                  <a:srgbClr val="1C1713"/>
                </a:solidFill>
              </a:rPr>
              <a:t>/4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E1605A1A-AFD1-4FE9-8FE2-D1C84777531D}"/>
              </a:ext>
            </a:extLst>
          </p:cNvPr>
          <p:cNvSpPr>
            <a:spLocks noGrp="1"/>
          </p:cNvSpPr>
          <p:nvPr/>
        </p:nvSpPr>
        <p:spPr>
          <a:xfrm>
            <a:off x="838200" y="2014563"/>
            <a:ext cx="741045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Финальный проход по первым 2/3 подтверждает отсортированность.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2CB363F0-DDEC-4027-A1E4-CE01D4F2BEA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2B8E9-EF5A-4DC1-9EB1-A9FA7134C6C2}"/>
              </a:ext>
            </a:extLst>
          </p:cNvPr>
          <p:cNvSpPr>
            <a:spLocks noGrp="1"/>
          </p:cNvSpPr>
          <p:nvPr/>
        </p:nvSpPr>
        <p:spPr>
          <a:xfrm>
            <a:off x="838200" y="2628899"/>
            <a:ext cx="8858250" cy="9652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lang="ru-RU" sz="2100" b="1" dirty="0">
                <a:solidFill>
                  <a:srgbClr val="0F766E"/>
                </a:solidFill>
              </a:rPr>
              <a:t>Третий рекурсивный вызов снова обрабатывает диапазон [0..4]. И мы наконец получаем отсортированный массив</a:t>
            </a:r>
            <a:r>
              <a:rPr lang="en-US" sz="2100" b="1" dirty="0">
                <a:solidFill>
                  <a:srgbClr val="0F766E"/>
                </a:solidFill>
              </a:rPr>
              <a:t>.</a:t>
            </a:r>
            <a:endParaRPr lang="ru-RU" sz="2100" b="1" dirty="0">
              <a:solidFill>
                <a:srgbClr val="0F766E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D7BACC3-3F7B-4CBF-B798-693D5360B0C9}"/>
              </a:ext>
            </a:extLst>
          </p:cNvPr>
          <p:cNvSpPr>
            <a:spLocks noGrp="1"/>
          </p:cNvSpPr>
          <p:nvPr/>
        </p:nvSpPr>
        <p:spPr>
          <a:xfrm>
            <a:off x="8641991" y="4135967"/>
            <a:ext cx="971550" cy="1807633"/>
          </a:xfrm>
          <a:prstGeom prst="roundRect">
            <a:avLst>
              <a:gd name="adj" fmla="val 1961"/>
            </a:avLst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E09F98-E523-435F-AE8E-209BBFAC82A0}"/>
              </a:ext>
            </a:extLst>
          </p:cNvPr>
          <p:cNvSpPr>
            <a:spLocks noGrp="1"/>
          </p:cNvSpPr>
          <p:nvPr/>
        </p:nvSpPr>
        <p:spPr>
          <a:xfrm>
            <a:off x="9052963" y="603110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6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8F8EA1-2AE2-4DEB-9691-33341405F5E7}"/>
              </a:ext>
            </a:extLst>
          </p:cNvPr>
          <p:cNvSpPr>
            <a:spLocks noGrp="1"/>
          </p:cNvSpPr>
          <p:nvPr/>
        </p:nvSpPr>
        <p:spPr>
          <a:xfrm>
            <a:off x="3182686" y="43243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77C9FA-0B4E-4ED6-8E85-FF721C614E8A}"/>
              </a:ext>
            </a:extLst>
          </p:cNvPr>
          <p:cNvSpPr>
            <a:spLocks noGrp="1"/>
          </p:cNvSpPr>
          <p:nvPr/>
        </p:nvSpPr>
        <p:spPr>
          <a:xfrm>
            <a:off x="5097862" y="4422826"/>
            <a:ext cx="971550" cy="1520774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19CBC0-95C0-4575-A0A2-6000D1C6679C}"/>
              </a:ext>
            </a:extLst>
          </p:cNvPr>
          <p:cNvSpPr>
            <a:spLocks noGrp="1"/>
          </p:cNvSpPr>
          <p:nvPr/>
        </p:nvSpPr>
        <p:spPr>
          <a:xfrm>
            <a:off x="5511581" y="603497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A90FC83-ECC4-4DCE-8BCC-0B8DA95B5AA3}"/>
              </a:ext>
            </a:extLst>
          </p:cNvPr>
          <p:cNvSpPr>
            <a:spLocks noGrp="1"/>
          </p:cNvSpPr>
          <p:nvPr/>
        </p:nvSpPr>
        <p:spPr>
          <a:xfrm>
            <a:off x="6275313" y="4339196"/>
            <a:ext cx="971550" cy="1604403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15C1B9-A968-4E7C-A986-A82FDC935E2D}"/>
              </a:ext>
            </a:extLst>
          </p:cNvPr>
          <p:cNvSpPr>
            <a:spLocks noGrp="1"/>
          </p:cNvSpPr>
          <p:nvPr/>
        </p:nvSpPr>
        <p:spPr>
          <a:xfrm>
            <a:off x="6684888" y="6042942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4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28624CB-CE93-4699-90C9-36817A21FB03}"/>
              </a:ext>
            </a:extLst>
          </p:cNvPr>
          <p:cNvSpPr>
            <a:spLocks noGrp="1"/>
          </p:cNvSpPr>
          <p:nvPr/>
        </p:nvSpPr>
        <p:spPr>
          <a:xfrm>
            <a:off x="3921603" y="4542558"/>
            <a:ext cx="971550" cy="1401041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4C2770-8401-4BA1-B03E-794EDA732BE9}"/>
              </a:ext>
            </a:extLst>
          </p:cNvPr>
          <p:cNvSpPr>
            <a:spLocks noGrp="1"/>
          </p:cNvSpPr>
          <p:nvPr/>
        </p:nvSpPr>
        <p:spPr>
          <a:xfrm>
            <a:off x="4327034" y="6040684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2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B1083B-EE6E-4C34-BCC9-2B92AAB523A9}"/>
              </a:ext>
            </a:extLst>
          </p:cNvPr>
          <p:cNvSpPr>
            <a:spLocks noGrp="1"/>
          </p:cNvSpPr>
          <p:nvPr/>
        </p:nvSpPr>
        <p:spPr>
          <a:xfrm>
            <a:off x="1983439" y="4400550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0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3AA2440-1070-474F-BEAC-EE6680B65D14}"/>
              </a:ext>
            </a:extLst>
          </p:cNvPr>
          <p:cNvSpPr>
            <a:spLocks noGrp="1"/>
          </p:cNvSpPr>
          <p:nvPr/>
        </p:nvSpPr>
        <p:spPr>
          <a:xfrm>
            <a:off x="2748831" y="4648200"/>
            <a:ext cx="971550" cy="1295400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FB7818-37C2-4E93-AECE-7864D08D384F}"/>
              </a:ext>
            </a:extLst>
          </p:cNvPr>
          <p:cNvSpPr>
            <a:spLocks noGrp="1"/>
          </p:cNvSpPr>
          <p:nvPr/>
        </p:nvSpPr>
        <p:spPr>
          <a:xfrm>
            <a:off x="3110781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24A783B-D5D1-468F-AF86-A4AD7C9F2B5C}"/>
              </a:ext>
            </a:extLst>
          </p:cNvPr>
          <p:cNvSpPr>
            <a:spLocks noGrp="1"/>
          </p:cNvSpPr>
          <p:nvPr/>
        </p:nvSpPr>
        <p:spPr>
          <a:xfrm>
            <a:off x="11074212" y="2690253"/>
            <a:ext cx="2259106" cy="31964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 dirty="0" err="1">
                <a:solidFill>
                  <a:srgbClr val="1C1713"/>
                </a:solidFill>
              </a:rPr>
              <a:t>Рекурсивный</a:t>
            </a:r>
            <a:r>
              <a:rPr sz="1800" b="1" dirty="0">
                <a:solidFill>
                  <a:srgbClr val="1C1713"/>
                </a:solidFill>
              </a:rPr>
              <a:t> </a:t>
            </a:r>
            <a:r>
              <a:rPr sz="1800" b="1" dirty="0" err="1">
                <a:solidFill>
                  <a:srgbClr val="1C1713"/>
                </a:solidFill>
              </a:rPr>
              <a:t>шаблон</a:t>
            </a:r>
            <a:endParaRPr sz="1800" b="1" dirty="0">
              <a:solidFill>
                <a:srgbClr val="1C1713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FF903E-507B-4CF2-A126-92470A5B8FCD}"/>
              </a:ext>
            </a:extLst>
          </p:cNvPr>
          <p:cNvSpPr>
            <a:spLocks noGrp="1"/>
          </p:cNvSpPr>
          <p:nvPr/>
        </p:nvSpPr>
        <p:spPr>
          <a:xfrm>
            <a:off x="11074212" y="3181350"/>
            <a:ext cx="27432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C65B40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1) </a:t>
            </a:r>
            <a:r>
              <a:rPr sz="1650" dirty="0" err="1">
                <a:solidFill>
                  <a:srgbClr val="625B54"/>
                </a:solidFill>
              </a:rPr>
              <a:t>сравнить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крайние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элементы</a:t>
            </a:r>
            <a:endParaRPr sz="1650" dirty="0">
              <a:solidFill>
                <a:srgbClr val="625B5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D44C0D9-A4F2-442A-89E1-619A7DDDAC6B}"/>
              </a:ext>
            </a:extLst>
          </p:cNvPr>
          <p:cNvSpPr>
            <a:spLocks noGrp="1"/>
          </p:cNvSpPr>
          <p:nvPr/>
        </p:nvSpPr>
        <p:spPr>
          <a:xfrm>
            <a:off x="11074212" y="3648075"/>
            <a:ext cx="25717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2)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первые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E325FE-D06D-4161-A298-4A69821C44AC}"/>
              </a:ext>
            </a:extLst>
          </p:cNvPr>
          <p:cNvSpPr>
            <a:spLocks noGrp="1"/>
          </p:cNvSpPr>
          <p:nvPr/>
        </p:nvSpPr>
        <p:spPr>
          <a:xfrm>
            <a:off x="11074212" y="4091547"/>
            <a:ext cx="2940424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625B54"/>
                </a:solidFill>
              </a:rPr>
              <a:t>3) </a:t>
            </a:r>
            <a:r>
              <a:rPr sz="1650" dirty="0" err="1">
                <a:solidFill>
                  <a:srgbClr val="625B54"/>
                </a:solidFill>
              </a:rPr>
              <a:t>отсортировать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последние</a:t>
            </a:r>
            <a:r>
              <a:rPr sz="1650" dirty="0">
                <a:solidFill>
                  <a:srgbClr val="625B54"/>
                </a:solidFill>
              </a:rPr>
              <a:t> 2/3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BE7F8DD-8F2C-4F5C-A560-18EC0AAE731C}"/>
              </a:ext>
            </a:extLst>
          </p:cNvPr>
          <p:cNvSpPr>
            <a:spLocks noGrp="1"/>
          </p:cNvSpPr>
          <p:nvPr/>
        </p:nvSpPr>
        <p:spPr>
          <a:xfrm>
            <a:off x="11074212" y="4542559"/>
            <a:ext cx="17907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>
                <a:solidFill>
                  <a:srgbClr val="0F766E"/>
                </a:solidFill>
              </a:rPr>
              <a:t>4) </a:t>
            </a:r>
            <a:r>
              <a:rPr sz="1650" dirty="0" err="1">
                <a:solidFill>
                  <a:srgbClr val="0F766E"/>
                </a:solidFill>
              </a:rPr>
              <a:t>снова</a:t>
            </a:r>
            <a:r>
              <a:rPr sz="1650" dirty="0">
                <a:solidFill>
                  <a:srgbClr val="0F766E"/>
                </a:solidFill>
              </a:rPr>
              <a:t> </a:t>
            </a:r>
            <a:r>
              <a:rPr sz="1650" dirty="0" err="1">
                <a:solidFill>
                  <a:srgbClr val="0F766E"/>
                </a:solidFill>
              </a:rPr>
              <a:t>первые</a:t>
            </a:r>
            <a:r>
              <a:rPr sz="1650" dirty="0">
                <a:solidFill>
                  <a:srgbClr val="0F766E"/>
                </a:solidFill>
              </a:rPr>
              <a:t> 2/3</a:t>
            </a: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BBA92151-45CA-440A-A5C4-59895DE0B380}"/>
              </a:ext>
            </a:extLst>
          </p:cNvPr>
          <p:cNvSpPr>
            <a:spLocks noGrp="1"/>
          </p:cNvSpPr>
          <p:nvPr/>
        </p:nvSpPr>
        <p:spPr>
          <a:xfrm>
            <a:off x="838199" y="9486900"/>
            <a:ext cx="3769659" cy="19498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 С</a:t>
            </a:r>
            <a:r>
              <a:rPr sz="900" dirty="0" err="1">
                <a:solidFill>
                  <a:srgbClr val="625B54"/>
                </a:solidFill>
              </a:rPr>
              <a:t>обственная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визуализация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коду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A0C6D2A-FCA1-4177-BB04-0CA6128C7836}"/>
              </a:ext>
            </a:extLst>
          </p:cNvPr>
          <p:cNvSpPr>
            <a:spLocks noGrp="1"/>
          </p:cNvSpPr>
          <p:nvPr/>
        </p:nvSpPr>
        <p:spPr>
          <a:xfrm>
            <a:off x="1568436" y="4752109"/>
            <a:ext cx="971550" cy="1191491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436647A-3951-46AE-8162-0D0C8CC01A55}"/>
              </a:ext>
            </a:extLst>
          </p:cNvPr>
          <p:cNvSpPr>
            <a:spLocks noGrp="1"/>
          </p:cNvSpPr>
          <p:nvPr/>
        </p:nvSpPr>
        <p:spPr>
          <a:xfrm>
            <a:off x="7458652" y="4248150"/>
            <a:ext cx="971550" cy="1695450"/>
          </a:xfrm>
          <a:prstGeom prst="roundRect">
            <a:avLst>
              <a:gd name="adj" fmla="val 1961"/>
            </a:avLst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40BBCA5-9AE7-4237-A03F-F8CCF01FC543}"/>
              </a:ext>
            </a:extLst>
          </p:cNvPr>
          <p:cNvSpPr>
            <a:spLocks noGrp="1"/>
          </p:cNvSpPr>
          <p:nvPr/>
        </p:nvSpPr>
        <p:spPr>
          <a:xfrm>
            <a:off x="1978011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0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F0FDA7-EADD-4FEE-8311-D2B06E8C1446}"/>
              </a:ext>
            </a:extLst>
          </p:cNvPr>
          <p:cNvSpPr>
            <a:spLocks noGrp="1"/>
          </p:cNvSpPr>
          <p:nvPr/>
        </p:nvSpPr>
        <p:spPr>
          <a:xfrm>
            <a:off x="7884205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5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F89DC6C-6824-44F4-AD22-4D5917A7247D}"/>
              </a:ext>
            </a:extLst>
          </p:cNvPr>
          <p:cNvSpPr>
            <a:spLocks noGrp="1"/>
          </p:cNvSpPr>
          <p:nvPr/>
        </p:nvSpPr>
        <p:spPr>
          <a:xfrm>
            <a:off x="4352925" y="433144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D9E2D8F-89C0-4346-8C9F-DEE17D443F98}"/>
              </a:ext>
            </a:extLst>
          </p:cNvPr>
          <p:cNvSpPr>
            <a:spLocks noGrp="1"/>
          </p:cNvSpPr>
          <p:nvPr/>
        </p:nvSpPr>
        <p:spPr>
          <a:xfrm>
            <a:off x="5508804" y="417904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3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A38C487-6C36-407A-8B99-21AABC257CF7}"/>
              </a:ext>
            </a:extLst>
          </p:cNvPr>
          <p:cNvSpPr>
            <a:spLocks noGrp="1"/>
          </p:cNvSpPr>
          <p:nvPr/>
        </p:nvSpPr>
        <p:spPr>
          <a:xfrm>
            <a:off x="6683460" y="4116852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4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FD5F984-FD27-496C-B562-BCA959012F88}"/>
              </a:ext>
            </a:extLst>
          </p:cNvPr>
          <p:cNvSpPr>
            <a:spLocks noGrp="1"/>
          </p:cNvSpPr>
          <p:nvPr/>
        </p:nvSpPr>
        <p:spPr>
          <a:xfrm>
            <a:off x="7877166" y="3996789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5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19745-5575-40E6-A369-50609A4AC516}"/>
              </a:ext>
            </a:extLst>
          </p:cNvPr>
          <p:cNvSpPr>
            <a:spLocks noGrp="1"/>
          </p:cNvSpPr>
          <p:nvPr/>
        </p:nvSpPr>
        <p:spPr>
          <a:xfrm>
            <a:off x="9048750" y="3892597"/>
            <a:ext cx="1905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C65B40"/>
                </a:solidFill>
              </a:defRPr>
            </a:pPr>
            <a:r>
              <a:rPr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i</a:t>
            </a:r>
            <a:r>
              <a:rPr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</a:t>
            </a:r>
            <a:endParaRPr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D13095-6592-4848-B380-55D0CB2E289C}"/>
              </a:ext>
            </a:extLst>
          </p:cNvPr>
          <p:cNvSpPr>
            <a:spLocks noGrp="1"/>
          </p:cNvSpPr>
          <p:nvPr/>
        </p:nvSpPr>
        <p:spPr>
          <a:xfrm>
            <a:off x="11074212" y="4955471"/>
            <a:ext cx="152400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6FE4BB-4959-4CFF-8A75-22D226DABD24}"/>
              </a:ext>
            </a:extLst>
          </p:cNvPr>
          <p:cNvSpPr txBox="1"/>
          <p:nvPr/>
        </p:nvSpPr>
        <p:spPr>
          <a:xfrm>
            <a:off x="10991559" y="5066397"/>
            <a:ext cx="466500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625B54"/>
                </a:solidFill>
              </a:defRPr>
            </a:pPr>
            <a:r>
              <a:rPr lang="ru-RU" sz="1350" dirty="0">
                <a:solidFill>
                  <a:srgbClr val="625B54"/>
                </a:solidFill>
              </a:rPr>
              <a:t>Для массива из 7 элементов: t = floor(7 / 3) = 2, поэтому рекурсивные диапазоны имеют длину 5.</a:t>
            </a:r>
          </a:p>
        </p:txBody>
      </p:sp>
    </p:spTree>
    <p:extLst>
      <p:ext uri="{BB962C8B-B14F-4D97-AF65-F5344CB8AC3E}">
        <p14:creationId xmlns:p14="http://schemas.microsoft.com/office/powerpoint/2010/main" val="4282911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8" grpId="0"/>
      <p:bldP spid="9" grpId="0"/>
      <p:bldP spid="11" grpId="0"/>
      <p:bldP spid="14" grpId="0"/>
      <p:bldP spid="17" grpId="0"/>
      <p:bldP spid="18" grpId="0"/>
      <p:bldP spid="20" grpId="0"/>
      <p:bldP spid="34" grpId="0"/>
      <p:bldP spid="35" grpId="0"/>
      <p:bldP spid="36" grpId="0"/>
      <p:bldP spid="37" grpId="0"/>
      <p:bldP spid="38" grpId="0"/>
      <p:bldP spid="39" grpId="0"/>
      <p:bldP spid="4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58E90EF0-D97B-4364-B621-2DCF36FAC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E853648-63B3-4582-9B06-47EC8FC2CF15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8789894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lang="ru-RU" sz="4050" b="1" dirty="0">
                <a:solidFill>
                  <a:srgbClr val="1C1713"/>
                </a:solidFill>
              </a:rPr>
              <a:t>Как конкретно происходит сортировка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F47A6ED-DB14-4979-93CD-2DBEDA4D5DA7}"/>
              </a:ext>
            </a:extLst>
          </p:cNvPr>
          <p:cNvSpPr>
            <a:spLocks noGrp="1"/>
          </p:cNvSpPr>
          <p:nvPr/>
        </p:nvSpPr>
        <p:spPr>
          <a:xfrm>
            <a:off x="838200" y="1820396"/>
            <a:ext cx="67818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Внутри всё происходит аналогично (проверяем крайние элементы + 3 рекурсивных вызова)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AFC5704E-B34C-470D-A8F1-1749B3024C2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76784-00A4-4ABA-A28F-DF51C4B61E85}"/>
              </a:ext>
            </a:extLst>
          </p:cNvPr>
          <p:cNvSpPr>
            <a:spLocks noGrp="1"/>
          </p:cNvSpPr>
          <p:nvPr/>
        </p:nvSpPr>
        <p:spPr>
          <a:xfrm>
            <a:off x="838199" y="2781299"/>
            <a:ext cx="9820835" cy="77585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lang="ru-RU" sz="2100" b="1" dirty="0">
                <a:solidFill>
                  <a:srgbClr val="0F766E"/>
                </a:solidFill>
              </a:rPr>
              <a:t>Сначала идём в самый левый нижний угол (Так работает рекурсия) и дожидаемся пока он отработает (То есть будет сравнивать крайние элементы</a:t>
            </a:r>
            <a:r>
              <a:rPr lang="en-US" sz="2100" b="1" dirty="0">
                <a:solidFill>
                  <a:srgbClr val="0F766E"/>
                </a:solidFill>
              </a:rPr>
              <a:t>/</a:t>
            </a:r>
            <a:r>
              <a:rPr lang="ru-RU" sz="2100" b="1" dirty="0">
                <a:solidFill>
                  <a:srgbClr val="0F766E"/>
                </a:solidFill>
              </a:rPr>
              <a:t>отсортирует)</a:t>
            </a:r>
            <a:endParaRPr sz="2100" b="1" dirty="0">
              <a:solidFill>
                <a:srgbClr val="0F766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B9877-E3B0-447D-9565-93FB5A0EA145}"/>
              </a:ext>
            </a:extLst>
          </p:cNvPr>
          <p:cNvSpPr>
            <a:spLocks noGrp="1"/>
          </p:cNvSpPr>
          <p:nvPr/>
        </p:nvSpPr>
        <p:spPr>
          <a:xfrm>
            <a:off x="6210300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EE82D635-FB5D-476D-900D-9AE5EF47AB05}"/>
              </a:ext>
            </a:extLst>
          </p:cNvPr>
          <p:cNvSpPr>
            <a:spLocks noGrp="1"/>
          </p:cNvSpPr>
          <p:nvPr/>
        </p:nvSpPr>
        <p:spPr>
          <a:xfrm>
            <a:off x="838200" y="9486900"/>
            <a:ext cx="363855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С</a:t>
            </a:r>
            <a:r>
              <a:rPr sz="900" dirty="0" err="1">
                <a:solidFill>
                  <a:srgbClr val="625B54"/>
                </a:solidFill>
              </a:rPr>
              <a:t>обственная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визуализация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коду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14CB4E-7006-4AC3-8326-5BB9910CB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92228"/>
            <a:ext cx="9404535" cy="475211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FF0EE4F-3D5D-4DF3-ACA3-9B9360F8046C}"/>
              </a:ext>
            </a:extLst>
          </p:cNvPr>
          <p:cNvSpPr/>
          <p:nvPr/>
        </p:nvSpPr>
        <p:spPr>
          <a:xfrm>
            <a:off x="1572185" y="6947646"/>
            <a:ext cx="668991" cy="49305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57BB89-E002-4F5E-8E3F-3D80B78F0F99}"/>
              </a:ext>
            </a:extLst>
          </p:cNvPr>
          <p:cNvSpPr/>
          <p:nvPr/>
        </p:nvSpPr>
        <p:spPr>
          <a:xfrm>
            <a:off x="11160158" y="3692228"/>
            <a:ext cx="668991" cy="4930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slide-subtitle">
            <a:extLst>
              <a:ext uri="{FF2B5EF4-FFF2-40B4-BE49-F238E27FC236}">
                <a16:creationId xmlns:a16="http://schemas.microsoft.com/office/drawing/2014/main" id="{DAB668EF-35B0-4F85-9485-073F63ADD8B0}"/>
              </a:ext>
            </a:extLst>
          </p:cNvPr>
          <p:cNvSpPr>
            <a:spLocks noGrp="1"/>
          </p:cNvSpPr>
          <p:nvPr/>
        </p:nvSpPr>
        <p:spPr>
          <a:xfrm>
            <a:off x="12016660" y="3794854"/>
            <a:ext cx="3183467" cy="28780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- отсортировали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FA5818-0EBD-4335-9F0E-7E701896582D}"/>
              </a:ext>
            </a:extLst>
          </p:cNvPr>
          <p:cNvSpPr>
            <a:spLocks noGrp="1"/>
          </p:cNvSpPr>
          <p:nvPr/>
        </p:nvSpPr>
        <p:spPr>
          <a:xfrm>
            <a:off x="11080935" y="6459365"/>
            <a:ext cx="971550" cy="1520774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73F36B-418A-4AD7-9339-7589C857AFF2}"/>
              </a:ext>
            </a:extLst>
          </p:cNvPr>
          <p:cNvSpPr>
            <a:spLocks noGrp="1"/>
          </p:cNvSpPr>
          <p:nvPr/>
        </p:nvSpPr>
        <p:spPr>
          <a:xfrm>
            <a:off x="11494654" y="807151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6DC7F6-14A7-44A8-AD5E-643937B3826F}"/>
              </a:ext>
            </a:extLst>
          </p:cNvPr>
          <p:cNvSpPr>
            <a:spLocks noGrp="1"/>
          </p:cNvSpPr>
          <p:nvPr/>
        </p:nvSpPr>
        <p:spPr>
          <a:xfrm>
            <a:off x="12369273" y="6684739"/>
            <a:ext cx="971550" cy="1295400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AF59AF-D281-45B3-B193-FED6CE860D38}"/>
              </a:ext>
            </a:extLst>
          </p:cNvPr>
          <p:cNvSpPr>
            <a:spLocks noGrp="1"/>
          </p:cNvSpPr>
          <p:nvPr/>
        </p:nvSpPr>
        <p:spPr>
          <a:xfrm>
            <a:off x="12731223" y="807538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3" name="slide-subtitle">
            <a:extLst>
              <a:ext uri="{FF2B5EF4-FFF2-40B4-BE49-F238E27FC236}">
                <a16:creationId xmlns:a16="http://schemas.microsoft.com/office/drawing/2014/main" id="{53D88FC0-5536-42F2-84E3-4649C05E6530}"/>
              </a:ext>
            </a:extLst>
          </p:cNvPr>
          <p:cNvSpPr>
            <a:spLocks noGrp="1"/>
          </p:cNvSpPr>
          <p:nvPr/>
        </p:nvSpPr>
        <p:spPr>
          <a:xfrm>
            <a:off x="11080935" y="5465538"/>
            <a:ext cx="6131798" cy="89119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То есть мы доходим до момента того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как будет 2 элемента в выбранном отрезке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сравниваем их и меняем местами (если левый элемент больше правого)</a:t>
            </a:r>
            <a:r>
              <a:rPr lang="en-US" dirty="0">
                <a:solidFill>
                  <a:srgbClr val="625B54"/>
                </a:solidFill>
              </a:rPr>
              <a:t>:</a:t>
            </a:r>
            <a:endParaRPr lang="ru-RU" sz="1800" dirty="0">
              <a:solidFill>
                <a:srgbClr val="625B5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79E33-E7A1-453E-8493-2797CA0DC6A2}"/>
              </a:ext>
            </a:extLst>
          </p:cNvPr>
          <p:cNvSpPr/>
          <p:nvPr/>
        </p:nvSpPr>
        <p:spPr>
          <a:xfrm>
            <a:off x="11160158" y="4472828"/>
            <a:ext cx="668991" cy="493057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slide-subtitle">
            <a:extLst>
              <a:ext uri="{FF2B5EF4-FFF2-40B4-BE49-F238E27FC236}">
                <a16:creationId xmlns:a16="http://schemas.microsoft.com/office/drawing/2014/main" id="{78D28005-46E9-48A4-B501-99EB439AA0F8}"/>
              </a:ext>
            </a:extLst>
          </p:cNvPr>
          <p:cNvSpPr>
            <a:spLocks noGrp="1"/>
          </p:cNvSpPr>
          <p:nvPr/>
        </p:nvSpPr>
        <p:spPr>
          <a:xfrm>
            <a:off x="12016660" y="4575454"/>
            <a:ext cx="3183467" cy="28780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- Не отсортировали</a:t>
            </a:r>
            <a:endParaRPr sz="1800" dirty="0">
              <a:solidFill>
                <a:srgbClr val="625B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781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58E90EF0-D97B-4364-B621-2DCF36FAC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E853648-63B3-4582-9B06-47EC8FC2CF15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8789894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lang="ru-RU" sz="4050" b="1" dirty="0">
                <a:solidFill>
                  <a:srgbClr val="1C1713"/>
                </a:solidFill>
              </a:rPr>
              <a:t>Как конкретно происходит сортировка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F47A6ED-DB14-4979-93CD-2DBEDA4D5DA7}"/>
              </a:ext>
            </a:extLst>
          </p:cNvPr>
          <p:cNvSpPr>
            <a:spLocks noGrp="1"/>
          </p:cNvSpPr>
          <p:nvPr/>
        </p:nvSpPr>
        <p:spPr>
          <a:xfrm>
            <a:off x="838200" y="1820396"/>
            <a:ext cx="67818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Внутри всё происходит аналогично (проверяем крайние элементы + 3 рекурсивных вызова)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AFC5704E-B34C-470D-A8F1-1749B3024C2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76784-00A4-4ABA-A28F-DF51C4B61E85}"/>
              </a:ext>
            </a:extLst>
          </p:cNvPr>
          <p:cNvSpPr>
            <a:spLocks noGrp="1"/>
          </p:cNvSpPr>
          <p:nvPr/>
        </p:nvSpPr>
        <p:spPr>
          <a:xfrm>
            <a:off x="838199" y="2781299"/>
            <a:ext cx="9820835" cy="77585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lang="ru-RU" sz="2100" b="1" dirty="0">
                <a:solidFill>
                  <a:srgbClr val="0F766E"/>
                </a:solidFill>
              </a:rPr>
              <a:t>Сначала идём в самый левый нижний угол (Так работает рекурсия) и дожидаемся пока он отработает (То есть будет сравнивать крайние элементы</a:t>
            </a:r>
            <a:r>
              <a:rPr lang="en-US" sz="2100" b="1" dirty="0">
                <a:solidFill>
                  <a:srgbClr val="0F766E"/>
                </a:solidFill>
              </a:rPr>
              <a:t>/</a:t>
            </a:r>
            <a:r>
              <a:rPr lang="ru-RU" sz="2100" b="1" dirty="0">
                <a:solidFill>
                  <a:srgbClr val="0F766E"/>
                </a:solidFill>
              </a:rPr>
              <a:t>отсортирует)</a:t>
            </a:r>
            <a:endParaRPr sz="2100" b="1" dirty="0">
              <a:solidFill>
                <a:srgbClr val="0F766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B9877-E3B0-447D-9565-93FB5A0EA145}"/>
              </a:ext>
            </a:extLst>
          </p:cNvPr>
          <p:cNvSpPr>
            <a:spLocks noGrp="1"/>
          </p:cNvSpPr>
          <p:nvPr/>
        </p:nvSpPr>
        <p:spPr>
          <a:xfrm>
            <a:off x="6210300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EE82D635-FB5D-476D-900D-9AE5EF47AB05}"/>
              </a:ext>
            </a:extLst>
          </p:cNvPr>
          <p:cNvSpPr>
            <a:spLocks noGrp="1"/>
          </p:cNvSpPr>
          <p:nvPr/>
        </p:nvSpPr>
        <p:spPr>
          <a:xfrm>
            <a:off x="838200" y="9486900"/>
            <a:ext cx="363855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Собственная визуализация по реализованному коду Stooge Sort.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14CB4E-7006-4AC3-8326-5BB9910CB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92228"/>
            <a:ext cx="9404535" cy="475211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FF0EE4F-3D5D-4DF3-ACA3-9B9360F8046C}"/>
              </a:ext>
            </a:extLst>
          </p:cNvPr>
          <p:cNvSpPr/>
          <p:nvPr/>
        </p:nvSpPr>
        <p:spPr>
          <a:xfrm>
            <a:off x="1572185" y="6947646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57BB89-E002-4F5E-8E3F-3D80B78F0F99}"/>
              </a:ext>
            </a:extLst>
          </p:cNvPr>
          <p:cNvSpPr/>
          <p:nvPr/>
        </p:nvSpPr>
        <p:spPr>
          <a:xfrm>
            <a:off x="11160158" y="3692228"/>
            <a:ext cx="668991" cy="4930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slide-subtitle">
            <a:extLst>
              <a:ext uri="{FF2B5EF4-FFF2-40B4-BE49-F238E27FC236}">
                <a16:creationId xmlns:a16="http://schemas.microsoft.com/office/drawing/2014/main" id="{DAB668EF-35B0-4F85-9485-073F63ADD8B0}"/>
              </a:ext>
            </a:extLst>
          </p:cNvPr>
          <p:cNvSpPr>
            <a:spLocks noGrp="1"/>
          </p:cNvSpPr>
          <p:nvPr/>
        </p:nvSpPr>
        <p:spPr>
          <a:xfrm>
            <a:off x="12016660" y="3794854"/>
            <a:ext cx="3183467" cy="28780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- отсортировали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2FA5818-0EBD-4335-9F0E-7E701896582D}"/>
              </a:ext>
            </a:extLst>
          </p:cNvPr>
          <p:cNvSpPr>
            <a:spLocks noGrp="1"/>
          </p:cNvSpPr>
          <p:nvPr/>
        </p:nvSpPr>
        <p:spPr>
          <a:xfrm>
            <a:off x="12369273" y="6459365"/>
            <a:ext cx="971550" cy="1520774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73F36B-418A-4AD7-9339-7589C857AFF2}"/>
              </a:ext>
            </a:extLst>
          </p:cNvPr>
          <p:cNvSpPr>
            <a:spLocks noGrp="1"/>
          </p:cNvSpPr>
          <p:nvPr/>
        </p:nvSpPr>
        <p:spPr>
          <a:xfrm>
            <a:off x="12855048" y="807151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3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26DC7F6-14A7-44A8-AD5E-643937B3826F}"/>
              </a:ext>
            </a:extLst>
          </p:cNvPr>
          <p:cNvSpPr>
            <a:spLocks noGrp="1"/>
          </p:cNvSpPr>
          <p:nvPr/>
        </p:nvSpPr>
        <p:spPr>
          <a:xfrm>
            <a:off x="11080935" y="6684739"/>
            <a:ext cx="971550" cy="1295400"/>
          </a:xfrm>
          <a:prstGeom prst="roundRect">
            <a:avLst>
              <a:gd name="adj" fmla="val 1961"/>
            </a:avLst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AF59AF-D281-45B3-B193-FED6CE860D38}"/>
              </a:ext>
            </a:extLst>
          </p:cNvPr>
          <p:cNvSpPr>
            <a:spLocks noGrp="1"/>
          </p:cNvSpPr>
          <p:nvPr/>
        </p:nvSpPr>
        <p:spPr>
          <a:xfrm>
            <a:off x="11442885" y="807538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r>
              <a:rPr lang="ru-RU" sz="2250" b="1" dirty="0">
                <a:solidFill>
                  <a:srgbClr val="1C1713"/>
                </a:solidFill>
              </a:rPr>
              <a:t>1</a:t>
            </a: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3" name="slide-subtitle">
            <a:extLst>
              <a:ext uri="{FF2B5EF4-FFF2-40B4-BE49-F238E27FC236}">
                <a16:creationId xmlns:a16="http://schemas.microsoft.com/office/drawing/2014/main" id="{53D88FC0-5536-42F2-84E3-4649C05E6530}"/>
              </a:ext>
            </a:extLst>
          </p:cNvPr>
          <p:cNvSpPr>
            <a:spLocks noGrp="1"/>
          </p:cNvSpPr>
          <p:nvPr/>
        </p:nvSpPr>
        <p:spPr>
          <a:xfrm>
            <a:off x="11080935" y="5465538"/>
            <a:ext cx="6131798" cy="89119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То есть мы доходим до момента того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как будет 2 элемента в выбранном отрезке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сравниваем их и меняем местами (если левый элемент больше правого)</a:t>
            </a:r>
            <a:r>
              <a:rPr lang="en-US" dirty="0">
                <a:solidFill>
                  <a:srgbClr val="625B54"/>
                </a:solidFill>
              </a:rPr>
              <a:t>:</a:t>
            </a:r>
            <a:endParaRPr lang="ru-RU" sz="1800" dirty="0">
              <a:solidFill>
                <a:srgbClr val="625B54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79E33-E7A1-453E-8493-2797CA0DC6A2}"/>
              </a:ext>
            </a:extLst>
          </p:cNvPr>
          <p:cNvSpPr/>
          <p:nvPr/>
        </p:nvSpPr>
        <p:spPr>
          <a:xfrm>
            <a:off x="11160158" y="4472828"/>
            <a:ext cx="668991" cy="493057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slide-subtitle">
            <a:extLst>
              <a:ext uri="{FF2B5EF4-FFF2-40B4-BE49-F238E27FC236}">
                <a16:creationId xmlns:a16="http://schemas.microsoft.com/office/drawing/2014/main" id="{78D28005-46E9-48A4-B501-99EB439AA0F8}"/>
              </a:ext>
            </a:extLst>
          </p:cNvPr>
          <p:cNvSpPr>
            <a:spLocks noGrp="1"/>
          </p:cNvSpPr>
          <p:nvPr/>
        </p:nvSpPr>
        <p:spPr>
          <a:xfrm>
            <a:off x="12016660" y="4575454"/>
            <a:ext cx="3183467" cy="28780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- Не отсортировали</a:t>
            </a:r>
            <a:endParaRPr sz="1800" dirty="0">
              <a:solidFill>
                <a:srgbClr val="625B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277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bg">
            <a:extLst>
              <a:ext uri="{FF2B5EF4-FFF2-40B4-BE49-F238E27FC236}">
                <a16:creationId xmlns:a16="http://schemas.microsoft.com/office/drawing/2014/main" id="{58E90EF0-D97B-4364-B621-2DCF36FAC8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CE853648-63B3-4582-9B06-47EC8FC2CF15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8789894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lang="ru-RU" sz="4050" b="1" dirty="0">
                <a:solidFill>
                  <a:srgbClr val="1C1713"/>
                </a:solidFill>
              </a:rPr>
              <a:t>Как конкретно происходит сортировка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2F47A6ED-DB14-4979-93CD-2DBEDA4D5DA7}"/>
              </a:ext>
            </a:extLst>
          </p:cNvPr>
          <p:cNvSpPr>
            <a:spLocks noGrp="1"/>
          </p:cNvSpPr>
          <p:nvPr/>
        </p:nvSpPr>
        <p:spPr>
          <a:xfrm>
            <a:off x="838200" y="1820396"/>
            <a:ext cx="67818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Внутри всё происходит аналогично (проверяем крайние элементы + 3 рекурсивных вызова)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AFC5704E-B34C-470D-A8F1-1749B3024C22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376784-00A4-4ABA-A28F-DF51C4B61E85}"/>
              </a:ext>
            </a:extLst>
          </p:cNvPr>
          <p:cNvSpPr>
            <a:spLocks noGrp="1"/>
          </p:cNvSpPr>
          <p:nvPr/>
        </p:nvSpPr>
        <p:spPr>
          <a:xfrm>
            <a:off x="838199" y="2781299"/>
            <a:ext cx="9820835" cy="77585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100" b="1">
                <a:solidFill>
                  <a:srgbClr val="0F766E"/>
                </a:solidFill>
              </a:defRPr>
            </a:pPr>
            <a:r>
              <a:rPr lang="ru-RU" sz="2100" b="1" dirty="0">
                <a:solidFill>
                  <a:srgbClr val="0F766E"/>
                </a:solidFill>
              </a:rPr>
              <a:t>Далее аналогично сортируется следующая 2</a:t>
            </a:r>
            <a:r>
              <a:rPr lang="en-US" sz="2100" b="1" dirty="0">
                <a:solidFill>
                  <a:srgbClr val="0F766E"/>
                </a:solidFill>
              </a:rPr>
              <a:t>/3 </a:t>
            </a:r>
            <a:r>
              <a:rPr lang="ru-RU" sz="2100" b="1" dirty="0">
                <a:solidFill>
                  <a:srgbClr val="0F766E"/>
                </a:solidFill>
              </a:rPr>
              <a:t>часть и повторно первая </a:t>
            </a:r>
            <a:r>
              <a:rPr lang="en-US" sz="2100" b="1" dirty="0">
                <a:solidFill>
                  <a:srgbClr val="0F766E"/>
                </a:solidFill>
              </a:rPr>
              <a:t>2/3 </a:t>
            </a:r>
            <a:r>
              <a:rPr lang="ru-RU" sz="2100" b="1" dirty="0">
                <a:solidFill>
                  <a:srgbClr val="0F766E"/>
                </a:solidFill>
              </a:rPr>
              <a:t>часть</a:t>
            </a:r>
            <a:r>
              <a:rPr lang="en-US" sz="2100" b="1" dirty="0">
                <a:solidFill>
                  <a:srgbClr val="0F766E"/>
                </a:solidFill>
              </a:rPr>
              <a:t> </a:t>
            </a:r>
            <a:r>
              <a:rPr lang="ru-RU" sz="2100" b="1" dirty="0">
                <a:solidFill>
                  <a:srgbClr val="0F766E"/>
                </a:solidFill>
              </a:rPr>
              <a:t>и так далее</a:t>
            </a:r>
            <a:r>
              <a:rPr lang="en-US" sz="2100" b="1" dirty="0">
                <a:solidFill>
                  <a:srgbClr val="0F766E"/>
                </a:solidFill>
              </a:rPr>
              <a:t>:</a:t>
            </a:r>
            <a:endParaRPr sz="2100" b="1" dirty="0">
              <a:solidFill>
                <a:srgbClr val="0F766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5DB9877-E3B0-447D-9565-93FB5A0EA145}"/>
              </a:ext>
            </a:extLst>
          </p:cNvPr>
          <p:cNvSpPr>
            <a:spLocks noGrp="1"/>
          </p:cNvSpPr>
          <p:nvPr/>
        </p:nvSpPr>
        <p:spPr>
          <a:xfrm>
            <a:off x="6210300" y="6038850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9" name="source">
            <a:extLst>
              <a:ext uri="{FF2B5EF4-FFF2-40B4-BE49-F238E27FC236}">
                <a16:creationId xmlns:a16="http://schemas.microsoft.com/office/drawing/2014/main" id="{EE82D635-FB5D-476D-900D-9AE5EF47AB05}"/>
              </a:ext>
            </a:extLst>
          </p:cNvPr>
          <p:cNvSpPr>
            <a:spLocks noGrp="1"/>
          </p:cNvSpPr>
          <p:nvPr/>
        </p:nvSpPr>
        <p:spPr>
          <a:xfrm>
            <a:off x="838200" y="9486900"/>
            <a:ext cx="363855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Собственная визуализация по реализованному коду Stooge Sort.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314CB4E-7006-4AC3-8326-5BB9910CB3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692228"/>
            <a:ext cx="9404535" cy="4752115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7FF0EE4F-3D5D-4DF3-ACA3-9B9360F8046C}"/>
              </a:ext>
            </a:extLst>
          </p:cNvPr>
          <p:cNvSpPr/>
          <p:nvPr/>
        </p:nvSpPr>
        <p:spPr>
          <a:xfrm>
            <a:off x="1572185" y="6947646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57BB89-E002-4F5E-8E3F-3D80B78F0F99}"/>
              </a:ext>
            </a:extLst>
          </p:cNvPr>
          <p:cNvSpPr/>
          <p:nvPr/>
        </p:nvSpPr>
        <p:spPr>
          <a:xfrm>
            <a:off x="11160158" y="3692228"/>
            <a:ext cx="668991" cy="49305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slide-subtitle">
            <a:extLst>
              <a:ext uri="{FF2B5EF4-FFF2-40B4-BE49-F238E27FC236}">
                <a16:creationId xmlns:a16="http://schemas.microsoft.com/office/drawing/2014/main" id="{DAB668EF-35B0-4F85-9485-073F63ADD8B0}"/>
              </a:ext>
            </a:extLst>
          </p:cNvPr>
          <p:cNvSpPr>
            <a:spLocks noGrp="1"/>
          </p:cNvSpPr>
          <p:nvPr/>
        </p:nvSpPr>
        <p:spPr>
          <a:xfrm>
            <a:off x="12016660" y="3794854"/>
            <a:ext cx="3183467" cy="28780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- отсортировали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73F36B-418A-4AD7-9339-7589C857AFF2}"/>
              </a:ext>
            </a:extLst>
          </p:cNvPr>
          <p:cNvSpPr>
            <a:spLocks noGrp="1"/>
          </p:cNvSpPr>
          <p:nvPr/>
        </p:nvSpPr>
        <p:spPr>
          <a:xfrm>
            <a:off x="12855048" y="8071518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AF59AF-D281-45B3-B193-FED6CE860D38}"/>
              </a:ext>
            </a:extLst>
          </p:cNvPr>
          <p:cNvSpPr>
            <a:spLocks noGrp="1"/>
          </p:cNvSpPr>
          <p:nvPr/>
        </p:nvSpPr>
        <p:spPr>
          <a:xfrm>
            <a:off x="11442885" y="8075389"/>
            <a:ext cx="152400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250" b="1">
                <a:solidFill>
                  <a:srgbClr val="1C1713"/>
                </a:solidFill>
              </a:defRPr>
            </a:pPr>
            <a:endParaRPr sz="2250" b="1" dirty="0">
              <a:solidFill>
                <a:srgbClr val="1C1713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179E33-E7A1-453E-8493-2797CA0DC6A2}"/>
              </a:ext>
            </a:extLst>
          </p:cNvPr>
          <p:cNvSpPr/>
          <p:nvPr/>
        </p:nvSpPr>
        <p:spPr>
          <a:xfrm>
            <a:off x="11160158" y="4472828"/>
            <a:ext cx="668991" cy="493057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slide-subtitle">
            <a:extLst>
              <a:ext uri="{FF2B5EF4-FFF2-40B4-BE49-F238E27FC236}">
                <a16:creationId xmlns:a16="http://schemas.microsoft.com/office/drawing/2014/main" id="{78D28005-46E9-48A4-B501-99EB439AA0F8}"/>
              </a:ext>
            </a:extLst>
          </p:cNvPr>
          <p:cNvSpPr>
            <a:spLocks noGrp="1"/>
          </p:cNvSpPr>
          <p:nvPr/>
        </p:nvSpPr>
        <p:spPr>
          <a:xfrm>
            <a:off x="12016660" y="4575454"/>
            <a:ext cx="3183467" cy="28780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- Не отсортировали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4DA7B20-1B81-418C-A8C3-1E217E461CD5}"/>
              </a:ext>
            </a:extLst>
          </p:cNvPr>
          <p:cNvSpPr/>
          <p:nvPr/>
        </p:nvSpPr>
        <p:spPr>
          <a:xfrm>
            <a:off x="2365392" y="6947646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E70B3D0-FFBF-4FD6-AA69-6CAF472BF2ED}"/>
              </a:ext>
            </a:extLst>
          </p:cNvPr>
          <p:cNvSpPr/>
          <p:nvPr/>
        </p:nvSpPr>
        <p:spPr>
          <a:xfrm>
            <a:off x="3205833" y="6947645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FCA77E6-A824-4B44-80BA-C5CF7A76A4B9}"/>
              </a:ext>
            </a:extLst>
          </p:cNvPr>
          <p:cNvSpPr/>
          <p:nvPr/>
        </p:nvSpPr>
        <p:spPr>
          <a:xfrm>
            <a:off x="2241176" y="5523489"/>
            <a:ext cx="1066800" cy="5904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4477E5-9235-4234-834F-05D0BAC93088}"/>
              </a:ext>
            </a:extLst>
          </p:cNvPr>
          <p:cNvSpPr/>
          <p:nvPr/>
        </p:nvSpPr>
        <p:spPr>
          <a:xfrm>
            <a:off x="4229100" y="6947645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CD44C5F-CD48-4C1E-91AA-A85425B01DA5}"/>
              </a:ext>
            </a:extLst>
          </p:cNvPr>
          <p:cNvSpPr/>
          <p:nvPr/>
        </p:nvSpPr>
        <p:spPr>
          <a:xfrm>
            <a:off x="5037713" y="6947644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87A2F4A-5B48-417B-A1E5-6E72D791881F}"/>
              </a:ext>
            </a:extLst>
          </p:cNvPr>
          <p:cNvSpPr/>
          <p:nvPr/>
        </p:nvSpPr>
        <p:spPr>
          <a:xfrm>
            <a:off x="5894208" y="6947643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57082D-40F5-4AC7-8510-EA96D549FDEB}"/>
              </a:ext>
            </a:extLst>
          </p:cNvPr>
          <p:cNvSpPr/>
          <p:nvPr/>
        </p:nvSpPr>
        <p:spPr>
          <a:xfrm>
            <a:off x="4898091" y="5523489"/>
            <a:ext cx="1066800" cy="5904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05E44DE-021D-43F1-8B70-2F0EEF159790}"/>
              </a:ext>
            </a:extLst>
          </p:cNvPr>
          <p:cNvSpPr/>
          <p:nvPr/>
        </p:nvSpPr>
        <p:spPr>
          <a:xfrm>
            <a:off x="6752944" y="6947643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7D851B7-B86C-48F6-AEC9-6CFA5DC112DB}"/>
              </a:ext>
            </a:extLst>
          </p:cNvPr>
          <p:cNvSpPr/>
          <p:nvPr/>
        </p:nvSpPr>
        <p:spPr>
          <a:xfrm>
            <a:off x="7518270" y="6947642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C6D0DA-842B-4185-9DB4-6BE5DF39F55E}"/>
              </a:ext>
            </a:extLst>
          </p:cNvPr>
          <p:cNvSpPr/>
          <p:nvPr/>
        </p:nvSpPr>
        <p:spPr>
          <a:xfrm>
            <a:off x="8283596" y="6947641"/>
            <a:ext cx="668991" cy="49305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AB68662-19A3-4373-963E-9B613136775A}"/>
              </a:ext>
            </a:extLst>
          </p:cNvPr>
          <p:cNvSpPr/>
          <p:nvPr/>
        </p:nvSpPr>
        <p:spPr>
          <a:xfrm>
            <a:off x="7319365" y="5531633"/>
            <a:ext cx="1066800" cy="590440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26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">
            <a:extLst>
              <a:ext uri="{FF2B5EF4-FFF2-40B4-BE49-F238E27FC236}">
                <a16:creationId xmlns:a16="http://schemas.microsoft.com/office/drawing/2014/main" id="{E9DF52A3-1722-4668-855D-EF574AF81B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ADF210D-0DFB-4E16-BB4A-4541E4D762A4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10325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Теория</a:t>
            </a:r>
            <a:r>
              <a:rPr lang="ru-RU" sz="4050" b="1" dirty="0">
                <a:solidFill>
                  <a:srgbClr val="1C1713"/>
                </a:solidFill>
              </a:rPr>
              <a:t> и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асимптотика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6D65A807-C146-43A3-892F-8FF1D70F016D}"/>
              </a:ext>
            </a:extLst>
          </p:cNvPr>
          <p:cNvSpPr>
            <a:spLocks noGrp="1"/>
          </p:cNvSpPr>
          <p:nvPr/>
        </p:nvSpPr>
        <p:spPr>
          <a:xfrm>
            <a:off x="838200" y="1466849"/>
            <a:ext cx="11906250" cy="60847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Для того, чтобы оценить временную сложность воспользуемся основной теоремой о рекуррентных соотношениях (Мастер-теоремой) – это теорема является просто инструментом для вычисления временной сложности.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04A01530-8A2C-4051-943B-BD8F2138EED9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768542F9-23B6-4F00-BA11-145ED953E742}"/>
              </a:ext>
            </a:extLst>
          </p:cNvPr>
          <p:cNvSpPr>
            <a:spLocks noGrp="1"/>
          </p:cNvSpPr>
          <p:nvPr/>
        </p:nvSpPr>
        <p:spPr>
          <a:xfrm>
            <a:off x="838200" y="9486900"/>
            <a:ext cx="50673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Т</a:t>
            </a:r>
            <a:r>
              <a:rPr sz="900" dirty="0" err="1">
                <a:solidFill>
                  <a:srgbClr val="625B54"/>
                </a:solidFill>
              </a:rPr>
              <a:t>еоретическая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оценка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рекуррентному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соотношению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694BD74-0E27-4065-9364-3595613A1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47817"/>
            <a:ext cx="2905371" cy="1031962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ECEA55B-C186-4214-A3BA-9296F8A6710D}"/>
              </a:ext>
            </a:extLst>
          </p:cNvPr>
          <p:cNvSpPr txBox="1"/>
          <p:nvPr/>
        </p:nvSpPr>
        <p:spPr>
          <a:xfrm>
            <a:off x="710453" y="2524963"/>
            <a:ext cx="12617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ru-RU" sz="1800" b="1" dirty="0">
                <a:solidFill>
                  <a:srgbClr val="0F766E"/>
                </a:solidFill>
              </a:rPr>
              <a:t>Формула</a:t>
            </a:r>
            <a:r>
              <a:rPr lang="en-US" sz="1800" b="1" dirty="0">
                <a:solidFill>
                  <a:srgbClr val="0F766E"/>
                </a:solidFill>
              </a:rPr>
              <a:t>:</a:t>
            </a:r>
            <a:endParaRPr lang="ru-RU" sz="1800" b="1" dirty="0">
              <a:solidFill>
                <a:srgbClr val="0F766E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1912621-8BF3-4DA0-8BEE-425AB7866F84}"/>
              </a:ext>
            </a:extLst>
          </p:cNvPr>
          <p:cNvSpPr txBox="1"/>
          <p:nvPr/>
        </p:nvSpPr>
        <p:spPr>
          <a:xfrm>
            <a:off x="838200" y="4233301"/>
            <a:ext cx="903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lang="ru-RU" sz="1800" b="1" dirty="0">
                <a:solidFill>
                  <a:srgbClr val="3E6588"/>
                </a:solidFill>
              </a:rPr>
              <a:t>Здес</a:t>
            </a:r>
            <a:r>
              <a:rPr lang="ru-RU" b="1" dirty="0">
                <a:solidFill>
                  <a:srgbClr val="3E6588"/>
                </a:solidFill>
              </a:rPr>
              <a:t>ь</a:t>
            </a:r>
            <a:r>
              <a:rPr lang="en-US" b="1" dirty="0">
                <a:solidFill>
                  <a:srgbClr val="3E6588"/>
                </a:solidFill>
              </a:rPr>
              <a:t>:</a:t>
            </a:r>
            <a:endParaRPr lang="ru-RU" sz="1800" b="1" dirty="0">
              <a:solidFill>
                <a:srgbClr val="3E6588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5C1B23B-3B98-458C-9DA7-5A3CBF4745AF}"/>
              </a:ext>
            </a:extLst>
          </p:cNvPr>
          <p:cNvSpPr txBox="1"/>
          <p:nvPr/>
        </p:nvSpPr>
        <p:spPr>
          <a:xfrm>
            <a:off x="838200" y="4711836"/>
            <a:ext cx="1295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lang="en-US" dirty="0">
                <a:solidFill>
                  <a:srgbClr val="1C1713"/>
                </a:solidFill>
              </a:rPr>
              <a:t>a – </a:t>
            </a:r>
            <a:r>
              <a:rPr lang="ru-RU" dirty="0">
                <a:solidFill>
                  <a:srgbClr val="1C1713"/>
                </a:solidFill>
              </a:rPr>
              <a:t>количество рекурсивных вызовов</a:t>
            </a:r>
            <a:r>
              <a:rPr lang="en-US" dirty="0">
                <a:solidFill>
                  <a:srgbClr val="1C1713"/>
                </a:solidFill>
              </a:rPr>
              <a:t>/</a:t>
            </a:r>
            <a:r>
              <a:rPr lang="ru-RU" dirty="0">
                <a:solidFill>
                  <a:srgbClr val="1C1713"/>
                </a:solidFill>
              </a:rPr>
              <a:t>подзадач</a:t>
            </a:r>
            <a:r>
              <a:rPr lang="en-US" dirty="0">
                <a:solidFill>
                  <a:srgbClr val="1C1713"/>
                </a:solidFill>
              </a:rPr>
              <a:t> </a:t>
            </a:r>
            <a:r>
              <a:rPr lang="ru-RU" dirty="0">
                <a:solidFill>
                  <a:srgbClr val="1C1713"/>
                </a:solidFill>
              </a:rPr>
              <a:t>(у нас 3 вызова 1-ая</a:t>
            </a:r>
            <a:r>
              <a:rPr lang="en-US" dirty="0">
                <a:solidFill>
                  <a:srgbClr val="1C1713"/>
                </a:solidFill>
              </a:rPr>
              <a:t> 2/3 </a:t>
            </a:r>
            <a:r>
              <a:rPr lang="ru-RU" dirty="0">
                <a:solidFill>
                  <a:srgbClr val="1C1713"/>
                </a:solidFill>
              </a:rPr>
              <a:t>часть</a:t>
            </a:r>
            <a:r>
              <a:rPr lang="en-US" dirty="0">
                <a:solidFill>
                  <a:srgbClr val="1C1713"/>
                </a:solidFill>
              </a:rPr>
              <a:t>, </a:t>
            </a:r>
            <a:r>
              <a:rPr lang="ru-RU" dirty="0">
                <a:solidFill>
                  <a:srgbClr val="1C1713"/>
                </a:solidFill>
              </a:rPr>
              <a:t>2-ая </a:t>
            </a:r>
            <a:r>
              <a:rPr lang="en-US" dirty="0">
                <a:solidFill>
                  <a:srgbClr val="1C1713"/>
                </a:solidFill>
              </a:rPr>
              <a:t>2/3</a:t>
            </a:r>
            <a:r>
              <a:rPr lang="ru-RU" dirty="0">
                <a:solidFill>
                  <a:srgbClr val="1C1713"/>
                </a:solidFill>
              </a:rPr>
              <a:t> часть и повторно 1-ая 2-3 часть)</a:t>
            </a:r>
            <a:r>
              <a:rPr lang="en-US" dirty="0">
                <a:solidFill>
                  <a:srgbClr val="1C1713"/>
                </a:solidFill>
              </a:rPr>
              <a:t> </a:t>
            </a:r>
            <a:endParaRPr lang="ru-RU" sz="1800" dirty="0">
              <a:solidFill>
                <a:srgbClr val="1C171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49666CE-C4F6-474C-8A64-4259D4217B7A}"/>
              </a:ext>
            </a:extLst>
          </p:cNvPr>
          <p:cNvSpPr txBox="1"/>
          <p:nvPr/>
        </p:nvSpPr>
        <p:spPr>
          <a:xfrm>
            <a:off x="838200" y="5165435"/>
            <a:ext cx="1295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lang="en-US" dirty="0">
                <a:solidFill>
                  <a:srgbClr val="1C1713"/>
                </a:solidFill>
              </a:rPr>
              <a:t>b – </a:t>
            </a:r>
            <a:r>
              <a:rPr lang="ru-RU" dirty="0">
                <a:solidFill>
                  <a:srgbClr val="1C1713"/>
                </a:solidFill>
              </a:rPr>
              <a:t>во сколько раз уменьшается размер подзадачи ( в 1</a:t>
            </a:r>
            <a:r>
              <a:rPr lang="en-US" dirty="0">
                <a:solidFill>
                  <a:srgbClr val="1C1713"/>
                </a:solidFill>
              </a:rPr>
              <a:t>,5 </a:t>
            </a:r>
            <a:r>
              <a:rPr lang="ru-RU" dirty="0">
                <a:solidFill>
                  <a:srgbClr val="1C1713"/>
                </a:solidFill>
              </a:rPr>
              <a:t>раза</a:t>
            </a:r>
            <a:r>
              <a:rPr lang="en-US" dirty="0">
                <a:solidFill>
                  <a:srgbClr val="1C1713"/>
                </a:solidFill>
              </a:rPr>
              <a:t>,</a:t>
            </a:r>
            <a:r>
              <a:rPr lang="ru-RU" dirty="0">
                <a:solidFill>
                  <a:srgbClr val="1C1713"/>
                </a:solidFill>
              </a:rPr>
              <a:t> так как мы берем 2</a:t>
            </a:r>
            <a:r>
              <a:rPr lang="en-US" dirty="0">
                <a:solidFill>
                  <a:srgbClr val="1C1713"/>
                </a:solidFill>
              </a:rPr>
              <a:t>/3 </a:t>
            </a:r>
            <a:r>
              <a:rPr lang="ru-RU" dirty="0">
                <a:solidFill>
                  <a:srgbClr val="1C1713"/>
                </a:solidFill>
              </a:rPr>
              <a:t>часть массива)</a:t>
            </a:r>
            <a:endParaRPr lang="ru-RU" sz="1800" dirty="0">
              <a:solidFill>
                <a:srgbClr val="1C1713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E2E6D49-C183-40B0-A988-B54A7DF3968A}"/>
              </a:ext>
            </a:extLst>
          </p:cNvPr>
          <p:cNvSpPr txBox="1"/>
          <p:nvPr/>
        </p:nvSpPr>
        <p:spPr>
          <a:xfrm>
            <a:off x="838200" y="5629637"/>
            <a:ext cx="1295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lang="en-US" dirty="0">
                <a:solidFill>
                  <a:srgbClr val="1C1713"/>
                </a:solidFill>
              </a:rPr>
              <a:t>f(n) – </a:t>
            </a:r>
            <a:r>
              <a:rPr lang="ru-RU" dirty="0">
                <a:solidFill>
                  <a:srgbClr val="1C1713"/>
                </a:solidFill>
              </a:rPr>
              <a:t>время на нерекурсивные действия (будет </a:t>
            </a:r>
            <a:r>
              <a:rPr lang="en-US" dirty="0">
                <a:solidFill>
                  <a:srgbClr val="1C1713"/>
                </a:solidFill>
              </a:rPr>
              <a:t>O(1), </a:t>
            </a:r>
            <a:r>
              <a:rPr lang="ru-RU" dirty="0">
                <a:solidFill>
                  <a:srgbClr val="1C1713"/>
                </a:solidFill>
              </a:rPr>
              <a:t>так как у нас это только </a:t>
            </a:r>
            <a:r>
              <a:rPr lang="en-US" dirty="0">
                <a:solidFill>
                  <a:srgbClr val="1C1713"/>
                </a:solidFill>
              </a:rPr>
              <a:t>swap </a:t>
            </a:r>
            <a:r>
              <a:rPr lang="ru-RU" dirty="0">
                <a:solidFill>
                  <a:srgbClr val="1C1713"/>
                </a:solidFill>
              </a:rPr>
              <a:t>и сравнения)</a:t>
            </a:r>
            <a:endParaRPr lang="ru-RU" sz="1800" dirty="0">
              <a:solidFill>
                <a:srgbClr val="1C171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D6E9A7-9474-4E78-A458-2315FCF11CCC}"/>
              </a:ext>
            </a:extLst>
          </p:cNvPr>
          <p:cNvSpPr txBox="1"/>
          <p:nvPr/>
        </p:nvSpPr>
        <p:spPr>
          <a:xfrm>
            <a:off x="838200" y="6780883"/>
            <a:ext cx="914848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pt-BR" sz="2550" b="1" dirty="0">
                <a:solidFill>
                  <a:srgbClr val="1C1713"/>
                </a:solidFill>
              </a:rPr>
              <a:t>T(n) = 3T(2n / 3) + O(1)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5D53A26-BE85-4AB3-9488-4585CAB0F847}"/>
              </a:ext>
            </a:extLst>
          </p:cNvPr>
          <p:cNvSpPr txBox="1"/>
          <p:nvPr/>
        </p:nvSpPr>
        <p:spPr>
          <a:xfrm>
            <a:off x="838200" y="6311025"/>
            <a:ext cx="9148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lang="ru-RU" sz="1800" b="1" dirty="0">
                <a:solidFill>
                  <a:srgbClr val="0F766E"/>
                </a:solidFill>
              </a:rPr>
              <a:t>Рекуррентное соотношение</a:t>
            </a:r>
          </a:p>
        </p:txBody>
      </p:sp>
      <p:sp>
        <p:nvSpPr>
          <p:cNvPr id="47" name="slide-subtitle">
            <a:extLst>
              <a:ext uri="{FF2B5EF4-FFF2-40B4-BE49-F238E27FC236}">
                <a16:creationId xmlns:a16="http://schemas.microsoft.com/office/drawing/2014/main" id="{CC5CB2AC-3AA4-49A7-B34C-67A409E7FBF1}"/>
              </a:ext>
            </a:extLst>
          </p:cNvPr>
          <p:cNvSpPr>
            <a:spLocks noGrp="1"/>
          </p:cNvSpPr>
          <p:nvPr/>
        </p:nvSpPr>
        <p:spPr>
          <a:xfrm>
            <a:off x="838200" y="7413436"/>
            <a:ext cx="11906250" cy="60847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sz="1800" dirty="0">
                <a:solidFill>
                  <a:srgbClr val="625B54"/>
                </a:solidFill>
              </a:rPr>
              <a:t>Ещё</a:t>
            </a:r>
            <a:r>
              <a:rPr lang="en-US" sz="1800" dirty="0">
                <a:solidFill>
                  <a:srgbClr val="625B54"/>
                </a:solidFill>
              </a:rPr>
              <a:t>,</a:t>
            </a:r>
            <a:r>
              <a:rPr lang="ru-RU" sz="1800" dirty="0">
                <a:solidFill>
                  <a:srgbClr val="625B54"/>
                </a:solidFill>
              </a:rPr>
              <a:t> так как на каждом уровне мы будем брать всё меньше и меньше отрезок</a:t>
            </a:r>
            <a:r>
              <a:rPr lang="en-US" sz="1800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то финальный уровень получим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когда </a:t>
            </a:r>
          </a:p>
          <a:p>
            <a:pPr>
              <a:defRPr sz="1800">
                <a:solidFill>
                  <a:srgbClr val="625B54"/>
                </a:solidFill>
              </a:defRPr>
            </a:pPr>
            <a:r>
              <a:rPr lang="en-US" sz="1800" dirty="0">
                <a:solidFill>
                  <a:srgbClr val="625B54"/>
                </a:solidFill>
              </a:rPr>
              <a:t>2/3</a:t>
            </a:r>
            <a:r>
              <a:rPr lang="ru-RU" sz="1800" dirty="0">
                <a:solidFill>
                  <a:srgbClr val="625B54"/>
                </a:solidFill>
              </a:rPr>
              <a:t> умножим столько раз</a:t>
            </a:r>
            <a:r>
              <a:rPr lang="en-US" sz="1800" dirty="0">
                <a:solidFill>
                  <a:srgbClr val="625B54"/>
                </a:solidFill>
              </a:rPr>
              <a:t>, </a:t>
            </a:r>
            <a:r>
              <a:rPr lang="ru-RU" sz="1800" dirty="0">
                <a:solidFill>
                  <a:srgbClr val="625B54"/>
                </a:solidFill>
              </a:rPr>
              <a:t>что получим 1 (массив размером 1 тоже будет в рекурсии)</a:t>
            </a:r>
            <a:r>
              <a:rPr lang="en-US" sz="1800" dirty="0">
                <a:solidFill>
                  <a:srgbClr val="625B54"/>
                </a:solidFill>
              </a:rPr>
              <a:t>, k – </a:t>
            </a:r>
            <a:r>
              <a:rPr lang="ru-RU" sz="1800" dirty="0">
                <a:solidFill>
                  <a:srgbClr val="625B54"/>
                </a:solidFill>
              </a:rPr>
              <a:t>глубина рекурсии</a:t>
            </a:r>
            <a:r>
              <a:rPr lang="en-US" dirty="0">
                <a:solidFill>
                  <a:srgbClr val="625B54"/>
                </a:solidFill>
              </a:rPr>
              <a:t>:</a:t>
            </a:r>
            <a:endParaRPr lang="ru-RU" sz="1800" dirty="0">
              <a:solidFill>
                <a:srgbClr val="625B54"/>
              </a:solidFill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2F7987-5F54-4CA8-845D-05294038D637}"/>
              </a:ext>
            </a:extLst>
          </p:cNvPr>
          <p:cNvSpPr txBox="1"/>
          <p:nvPr/>
        </p:nvSpPr>
        <p:spPr>
          <a:xfrm>
            <a:off x="838200" y="8122441"/>
            <a:ext cx="2095500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en-US" sz="2550" b="1" dirty="0">
                <a:solidFill>
                  <a:srgbClr val="1C1713"/>
                </a:solidFill>
              </a:rPr>
              <a:t>n*</a:t>
            </a:r>
            <a:r>
              <a:rPr lang="ru-RU" sz="2550" b="1" dirty="0">
                <a:solidFill>
                  <a:srgbClr val="1C1713"/>
                </a:solidFill>
              </a:rPr>
              <a:t>(2</a:t>
            </a:r>
            <a:r>
              <a:rPr lang="en-US" sz="2550" b="1" dirty="0">
                <a:solidFill>
                  <a:srgbClr val="1C1713"/>
                </a:solidFill>
              </a:rPr>
              <a:t>/3)^k = 1</a:t>
            </a:r>
            <a:endParaRPr lang="pt-BR" sz="2550" b="1" dirty="0">
              <a:solidFill>
                <a:srgbClr val="1C1713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9F6194-68D1-4768-8BA6-063F046FE7B0}"/>
              </a:ext>
            </a:extLst>
          </p:cNvPr>
          <p:cNvSpPr txBox="1"/>
          <p:nvPr/>
        </p:nvSpPr>
        <p:spPr>
          <a:xfrm>
            <a:off x="3743571" y="8122441"/>
            <a:ext cx="197383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en-US" sz="2550" b="1" dirty="0">
                <a:solidFill>
                  <a:srgbClr val="1C1713"/>
                </a:solidFill>
              </a:rPr>
              <a:t>k = log</a:t>
            </a:r>
            <a:r>
              <a:rPr lang="ru-RU" sz="2550" b="1" dirty="0">
                <a:solidFill>
                  <a:srgbClr val="1C1713"/>
                </a:solidFill>
              </a:rPr>
              <a:t>3</a:t>
            </a:r>
            <a:r>
              <a:rPr lang="en-US" sz="2550" b="1" dirty="0">
                <a:solidFill>
                  <a:srgbClr val="1C1713"/>
                </a:solidFill>
              </a:rPr>
              <a:t>/2(n)</a:t>
            </a:r>
            <a:endParaRPr lang="pt-BR" sz="2550" b="1" dirty="0">
              <a:solidFill>
                <a:srgbClr val="1C1713"/>
              </a:solidFill>
            </a:endParaRP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567A9B0-B52B-4D72-9523-432395981120}"/>
              </a:ext>
            </a:extLst>
          </p:cNvPr>
          <p:cNvCxnSpPr/>
          <p:nvPr/>
        </p:nvCxnSpPr>
        <p:spPr>
          <a:xfrm>
            <a:off x="2933700" y="8364815"/>
            <a:ext cx="607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slide-subtitle">
            <a:extLst>
              <a:ext uri="{FF2B5EF4-FFF2-40B4-BE49-F238E27FC236}">
                <a16:creationId xmlns:a16="http://schemas.microsoft.com/office/drawing/2014/main" id="{0E05BCE1-4F7F-4A3B-8B17-9B1449FCB50F}"/>
              </a:ext>
            </a:extLst>
          </p:cNvPr>
          <p:cNvSpPr>
            <a:spLocks noGrp="1"/>
          </p:cNvSpPr>
          <p:nvPr/>
        </p:nvSpPr>
        <p:spPr>
          <a:xfrm>
            <a:off x="838200" y="8645849"/>
            <a:ext cx="11906250" cy="60847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Ну и так как на каждом уровне у нас 3 рекурсивных вызова</a:t>
            </a:r>
          </a:p>
          <a:p>
            <a:pPr>
              <a:defRPr sz="2550" b="1">
                <a:solidFill>
                  <a:srgbClr val="1C1713"/>
                </a:solidFill>
              </a:defRPr>
            </a:pPr>
            <a:r>
              <a:rPr lang="ru-RU" sz="2550" b="1" dirty="0">
                <a:solidFill>
                  <a:srgbClr val="1C1713"/>
                </a:solidFill>
              </a:rPr>
              <a:t>Будет рост 3</a:t>
            </a:r>
            <a:r>
              <a:rPr lang="en-US" sz="2550" b="1" dirty="0">
                <a:solidFill>
                  <a:srgbClr val="1C1713"/>
                </a:solidFill>
              </a:rPr>
              <a:t>*3*3*3*…=3^k</a:t>
            </a:r>
            <a:r>
              <a:rPr lang="ru-RU" sz="2550" b="1" dirty="0">
                <a:solidFill>
                  <a:srgbClr val="1C1713"/>
                </a:solidFill>
              </a:rPr>
              <a:t> (рекурсивных вызовов</a:t>
            </a:r>
            <a:r>
              <a:rPr lang="en-US" sz="2550" b="1" dirty="0">
                <a:solidFill>
                  <a:srgbClr val="1C1713"/>
                </a:solidFill>
              </a:rPr>
              <a:t> </a:t>
            </a:r>
            <a:r>
              <a:rPr lang="ru-RU" sz="2550" b="1" dirty="0">
                <a:solidFill>
                  <a:srgbClr val="1C1713"/>
                </a:solidFill>
              </a:rPr>
              <a:t>на конкретном уровне)</a:t>
            </a:r>
          </a:p>
        </p:txBody>
      </p:sp>
    </p:spTree>
    <p:extLst>
      <p:ext uri="{BB962C8B-B14F-4D97-AF65-F5344CB8AC3E}">
        <p14:creationId xmlns:p14="http://schemas.microsoft.com/office/powerpoint/2010/main" val="131437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0" grpId="0"/>
      <p:bldP spid="41" grpId="0"/>
      <p:bldP spid="42" grpId="0"/>
      <p:bldP spid="44" grpId="0"/>
      <p:bldP spid="46" grpId="0"/>
      <p:bldP spid="47" grpId="0"/>
      <p:bldP spid="48" grpId="0"/>
      <p:bldP spid="49" grpId="0"/>
      <p:bldP spid="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g">
            <a:extLst>
              <a:ext uri="{FF2B5EF4-FFF2-40B4-BE49-F238E27FC236}">
                <a16:creationId xmlns:a16="http://schemas.microsoft.com/office/drawing/2014/main" id="{E9DF52A3-1722-4668-855D-EF574AF81B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ADF210D-0DFB-4E16-BB4A-4541E4D762A4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1032510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>
                <a:solidFill>
                  <a:srgbClr val="1C1713"/>
                </a:solidFill>
              </a:rPr>
              <a:t>Теория, асимптотика и смысл аппроксимации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6D65A807-C146-43A3-892F-8FF1D70F016D}"/>
              </a:ext>
            </a:extLst>
          </p:cNvPr>
          <p:cNvSpPr>
            <a:spLocks noGrp="1"/>
          </p:cNvSpPr>
          <p:nvPr/>
        </p:nvSpPr>
        <p:spPr>
          <a:xfrm>
            <a:off x="838200" y="1787238"/>
            <a:ext cx="11906250" cy="28809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Получаем</a:t>
            </a:r>
            <a:r>
              <a:rPr lang="en-US" dirty="0">
                <a:solidFill>
                  <a:srgbClr val="625B54"/>
                </a:solidFill>
              </a:rPr>
              <a:t>…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04A01530-8A2C-4051-943B-BD8F2138EED9}"/>
              </a:ext>
            </a:extLst>
          </p:cNvPr>
          <p:cNvSpPr>
            <a:spLocks noGrp="1"/>
          </p:cNvSpPr>
          <p:nvPr/>
        </p:nvSpPr>
        <p:spPr>
          <a:xfrm>
            <a:off x="838200" y="219075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AE1085-A774-40E3-8CE1-14277A813A32}"/>
              </a:ext>
            </a:extLst>
          </p:cNvPr>
          <p:cNvSpPr>
            <a:spLocks noGrp="1"/>
          </p:cNvSpPr>
          <p:nvPr/>
        </p:nvSpPr>
        <p:spPr>
          <a:xfrm>
            <a:off x="838200" y="3267075"/>
            <a:ext cx="8858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 dirty="0" err="1">
                <a:solidFill>
                  <a:srgbClr val="0F766E"/>
                </a:solidFill>
              </a:rPr>
              <a:t>Рекуррентное</a:t>
            </a:r>
            <a:r>
              <a:rPr sz="1800" b="1" dirty="0">
                <a:solidFill>
                  <a:srgbClr val="0F766E"/>
                </a:solidFill>
              </a:rPr>
              <a:t> </a:t>
            </a:r>
            <a:r>
              <a:rPr sz="1800" b="1" dirty="0" err="1">
                <a:solidFill>
                  <a:srgbClr val="0F766E"/>
                </a:solidFill>
              </a:rPr>
              <a:t>соотношение</a:t>
            </a:r>
            <a:endParaRPr sz="1800" b="1" dirty="0">
              <a:solidFill>
                <a:srgbClr val="0F766E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8830B-C1EC-4C85-8AE1-B37EAE7161D4}"/>
              </a:ext>
            </a:extLst>
          </p:cNvPr>
          <p:cNvSpPr>
            <a:spLocks noGrp="1"/>
          </p:cNvSpPr>
          <p:nvPr/>
        </p:nvSpPr>
        <p:spPr>
          <a:xfrm>
            <a:off x="838200" y="4543405"/>
            <a:ext cx="76962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По</a:t>
            </a:r>
            <a:r>
              <a:rPr sz="1800" dirty="0">
                <a:solidFill>
                  <a:srgbClr val="1C1713"/>
                </a:solidFill>
              </a:rPr>
              <a:t> Master theorem </a:t>
            </a:r>
            <a:r>
              <a:rPr sz="1800" dirty="0" err="1">
                <a:solidFill>
                  <a:srgbClr val="1C1713"/>
                </a:solidFill>
              </a:rPr>
              <a:t>получаем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показатель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степени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lang="en-US" sz="1800" dirty="0">
                <a:solidFill>
                  <a:srgbClr val="1C1713"/>
                </a:solidFill>
              </a:rPr>
              <a:t>log_(3/2)(3) </a:t>
            </a:r>
            <a:r>
              <a:rPr sz="1800" dirty="0">
                <a:solidFill>
                  <a:srgbClr val="1C1713"/>
                </a:solidFill>
              </a:rPr>
              <a:t>≈ 2.7095, </a:t>
            </a:r>
            <a:r>
              <a:rPr sz="1800" dirty="0" err="1">
                <a:solidFill>
                  <a:srgbClr val="1C1713"/>
                </a:solidFill>
              </a:rPr>
              <a:t>поэтому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теоретическая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временная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сложность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записывается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как</a:t>
            </a:r>
            <a:r>
              <a:rPr sz="1800" dirty="0">
                <a:solidFill>
                  <a:srgbClr val="1C1713"/>
                </a:solidFill>
              </a:rPr>
              <a:t> O(n^2.7095).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711ABE-7CE6-4350-A9F9-4494B8D32A2D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88582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65B40"/>
                </a:solidFill>
              </a:defRPr>
            </a:pPr>
            <a:r>
              <a:rPr sz="1800" b="1" dirty="0" err="1">
                <a:solidFill>
                  <a:srgbClr val="C65B40"/>
                </a:solidFill>
              </a:rPr>
              <a:t>Почему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тогда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мы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всё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равно</a:t>
            </a:r>
            <a:r>
              <a:rPr lang="ru-RU" sz="1800" b="1" dirty="0">
                <a:solidFill>
                  <a:srgbClr val="C65B40"/>
                </a:solidFill>
              </a:rPr>
              <a:t> будем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lang="ru-RU" sz="1800" b="1" dirty="0">
                <a:solidFill>
                  <a:srgbClr val="C65B40"/>
                </a:solidFill>
              </a:rPr>
              <a:t>рисовать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кривую</a:t>
            </a:r>
            <a:r>
              <a:rPr sz="1800" b="1" dirty="0">
                <a:solidFill>
                  <a:srgbClr val="C65B40"/>
                </a:solidFill>
              </a:rPr>
              <a:t> k·n^2.7095?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CF6728-C4B3-471E-81A1-7E72C51A77B9}"/>
              </a:ext>
            </a:extLst>
          </p:cNvPr>
          <p:cNvSpPr>
            <a:spLocks noGrp="1"/>
          </p:cNvSpPr>
          <p:nvPr/>
        </p:nvSpPr>
        <p:spPr>
          <a:xfrm>
            <a:off x="838200" y="58483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68AD48-2E2F-4270-AF58-FB16D6275C0B}"/>
              </a:ext>
            </a:extLst>
          </p:cNvPr>
          <p:cNvSpPr>
            <a:spLocks noGrp="1"/>
          </p:cNvSpPr>
          <p:nvPr/>
        </p:nvSpPr>
        <p:spPr>
          <a:xfrm>
            <a:off x="1390650" y="5848350"/>
            <a:ext cx="65913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>
                <a:solidFill>
                  <a:srgbClr val="1C1713"/>
                </a:solidFill>
              </a:rPr>
              <a:t>O(n^2.7095) </a:t>
            </a:r>
            <a:r>
              <a:rPr sz="1800" dirty="0" err="1">
                <a:solidFill>
                  <a:srgbClr val="1C1713"/>
                </a:solidFill>
              </a:rPr>
              <a:t>задаёт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только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класс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роста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единицы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измерения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миллисекундах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DF04B6-E275-487E-AEEC-D1C357E33FBC}"/>
              </a:ext>
            </a:extLst>
          </p:cNvPr>
          <p:cNvSpPr>
            <a:spLocks noGrp="1"/>
          </p:cNvSpPr>
          <p:nvPr/>
        </p:nvSpPr>
        <p:spPr>
          <a:xfrm>
            <a:off x="838200" y="64770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F56C32-B3BC-4901-B13F-34F524F522FE}"/>
              </a:ext>
            </a:extLst>
          </p:cNvPr>
          <p:cNvSpPr>
            <a:spLocks noGrp="1"/>
          </p:cNvSpPr>
          <p:nvPr/>
        </p:nvSpPr>
        <p:spPr>
          <a:xfrm>
            <a:off x="1390650" y="6477000"/>
            <a:ext cx="685800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коэффициент</a:t>
            </a:r>
            <a:r>
              <a:rPr sz="1800" dirty="0">
                <a:solidFill>
                  <a:srgbClr val="1C1713"/>
                </a:solidFill>
              </a:rPr>
              <a:t> k </a:t>
            </a:r>
            <a:r>
              <a:rPr sz="1800" dirty="0" err="1">
                <a:solidFill>
                  <a:srgbClr val="1C1713"/>
                </a:solidFill>
              </a:rPr>
              <a:t>подгоняет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теоретическую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форму</a:t>
            </a:r>
            <a:r>
              <a:rPr sz="1800" dirty="0">
                <a:solidFill>
                  <a:srgbClr val="1C1713"/>
                </a:solidFill>
              </a:rPr>
              <a:t> к </a:t>
            </a:r>
            <a:r>
              <a:rPr sz="1800" dirty="0" err="1">
                <a:solidFill>
                  <a:srgbClr val="1C1713"/>
                </a:solidFill>
              </a:rPr>
              <a:t>масштабу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реальных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данных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B6801B1-5B4A-4976-A31C-7BD284AFF517}"/>
              </a:ext>
            </a:extLst>
          </p:cNvPr>
          <p:cNvSpPr>
            <a:spLocks noGrp="1"/>
          </p:cNvSpPr>
          <p:nvPr/>
        </p:nvSpPr>
        <p:spPr>
          <a:xfrm>
            <a:off x="838200" y="71056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165D30-F3B9-4A23-803C-0A04801C59C9}"/>
              </a:ext>
            </a:extLst>
          </p:cNvPr>
          <p:cNvSpPr>
            <a:spLocks noGrp="1"/>
          </p:cNvSpPr>
          <p:nvPr/>
        </p:nvSpPr>
        <p:spPr>
          <a:xfrm>
            <a:off x="1390650" y="7105650"/>
            <a:ext cx="699135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поэтому</a:t>
            </a:r>
            <a:r>
              <a:rPr sz="1800" dirty="0">
                <a:solidFill>
                  <a:srgbClr val="1C1713"/>
                </a:solidFill>
              </a:rPr>
              <a:t> «</a:t>
            </a:r>
            <a:r>
              <a:rPr sz="1800" dirty="0" err="1">
                <a:solidFill>
                  <a:srgbClr val="1C1713"/>
                </a:solidFill>
              </a:rPr>
              <a:t>аппроксимация</a:t>
            </a:r>
            <a:r>
              <a:rPr sz="1800" dirty="0">
                <a:solidFill>
                  <a:srgbClr val="1C1713"/>
                </a:solidFill>
              </a:rPr>
              <a:t>» </a:t>
            </a:r>
            <a:r>
              <a:rPr sz="1800" dirty="0" err="1">
                <a:solidFill>
                  <a:srgbClr val="1C1713"/>
                </a:solidFill>
              </a:rPr>
              <a:t>здесь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означает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замену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теории</a:t>
            </a:r>
            <a:r>
              <a:rPr sz="1800" dirty="0">
                <a:solidFill>
                  <a:srgbClr val="1C1713"/>
                </a:solidFill>
              </a:rPr>
              <a:t>, а </a:t>
            </a:r>
            <a:r>
              <a:rPr sz="1800" dirty="0" err="1">
                <a:solidFill>
                  <a:srgbClr val="1C1713"/>
                </a:solidFill>
              </a:rPr>
              <a:t>перенос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её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реальные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оси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графика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BA9CE3-40C9-4C3C-ADD9-AF2E4A3CC89B}"/>
              </a:ext>
            </a:extLst>
          </p:cNvPr>
          <p:cNvSpPr>
            <a:spLocks noGrp="1"/>
          </p:cNvSpPr>
          <p:nvPr/>
        </p:nvSpPr>
        <p:spPr>
          <a:xfrm>
            <a:off x="10191750" y="3695700"/>
            <a:ext cx="7258050" cy="990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7800" b="1">
                <a:solidFill>
                  <a:srgbClr val="3E6588"/>
                </a:solidFill>
              </a:defRPr>
            </a:pPr>
            <a:r>
              <a:rPr sz="7800" b="1" dirty="0">
                <a:solidFill>
                  <a:srgbClr val="3E6588"/>
                </a:solidFill>
              </a:rPr>
              <a:t>2.7095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A2BA8-0938-40BD-A10A-570691D1F6CB}"/>
              </a:ext>
            </a:extLst>
          </p:cNvPr>
          <p:cNvSpPr>
            <a:spLocks noGrp="1"/>
          </p:cNvSpPr>
          <p:nvPr/>
        </p:nvSpPr>
        <p:spPr>
          <a:xfrm>
            <a:off x="10191749" y="4923304"/>
            <a:ext cx="3335991" cy="2381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 err="1">
                <a:solidFill>
                  <a:srgbClr val="625B54"/>
                </a:solidFill>
              </a:rPr>
              <a:t>показатель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теоретического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роста</a:t>
            </a:r>
            <a:endParaRPr sz="1800" dirty="0">
              <a:solidFill>
                <a:srgbClr val="625B54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F4A1A8-5141-4E01-ADAC-ACE1892D19FB}"/>
              </a:ext>
            </a:extLst>
          </p:cNvPr>
          <p:cNvSpPr>
            <a:spLocks noGrp="1"/>
          </p:cNvSpPr>
          <p:nvPr/>
        </p:nvSpPr>
        <p:spPr>
          <a:xfrm>
            <a:off x="10191750" y="5257800"/>
            <a:ext cx="1714500" cy="28575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52E232-E5A0-461F-A81C-7E1FBEE16E3C}"/>
              </a:ext>
            </a:extLst>
          </p:cNvPr>
          <p:cNvSpPr>
            <a:spLocks noGrp="1"/>
          </p:cNvSpPr>
          <p:nvPr/>
        </p:nvSpPr>
        <p:spPr>
          <a:xfrm>
            <a:off x="10191750" y="5448300"/>
            <a:ext cx="72580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sz="1800" b="1" dirty="0" err="1">
                <a:solidFill>
                  <a:srgbClr val="3E6588"/>
                </a:solidFill>
              </a:rPr>
              <a:t>Почему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эксперимент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может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отклоняться</a:t>
            </a:r>
            <a:endParaRPr sz="1800" b="1" dirty="0">
              <a:solidFill>
                <a:srgbClr val="3E6588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F52ECE-9944-49B3-8875-4DC4EDECDA8B}"/>
              </a:ext>
            </a:extLst>
          </p:cNvPr>
          <p:cNvSpPr>
            <a:spLocks noGrp="1"/>
          </p:cNvSpPr>
          <p:nvPr/>
        </p:nvSpPr>
        <p:spPr>
          <a:xfrm>
            <a:off x="10191750" y="58483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2660E63-8394-4D91-AA64-9C8D5D02B651}"/>
              </a:ext>
            </a:extLst>
          </p:cNvPr>
          <p:cNvSpPr>
            <a:spLocks noGrp="1"/>
          </p:cNvSpPr>
          <p:nvPr/>
        </p:nvSpPr>
        <p:spPr>
          <a:xfrm>
            <a:off x="10744200" y="5848350"/>
            <a:ext cx="3581400" cy="590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целочисленное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деление</a:t>
            </a:r>
            <a:r>
              <a:rPr sz="1800" dirty="0">
                <a:solidFill>
                  <a:srgbClr val="1C1713"/>
                </a:solidFill>
              </a:rPr>
              <a:t> n / 3 </a:t>
            </a:r>
            <a:r>
              <a:rPr sz="1800" dirty="0" err="1">
                <a:solidFill>
                  <a:srgbClr val="1C1713"/>
                </a:solidFill>
              </a:rPr>
              <a:t>делает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рекурсию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дискретной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D2981E1-94C7-41C6-901D-0EF4649E52DC}"/>
              </a:ext>
            </a:extLst>
          </p:cNvPr>
          <p:cNvSpPr>
            <a:spLocks noGrp="1"/>
          </p:cNvSpPr>
          <p:nvPr/>
        </p:nvSpPr>
        <p:spPr>
          <a:xfrm>
            <a:off x="10191750" y="64770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2444AA-3839-4E71-9AF8-B867B226243C}"/>
              </a:ext>
            </a:extLst>
          </p:cNvPr>
          <p:cNvSpPr>
            <a:spLocks noGrp="1"/>
          </p:cNvSpPr>
          <p:nvPr/>
        </p:nvSpPr>
        <p:spPr>
          <a:xfrm>
            <a:off x="10744200" y="6477000"/>
            <a:ext cx="3676650" cy="79337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замеры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времени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содержат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константы</a:t>
            </a:r>
            <a:r>
              <a:rPr sz="1800" dirty="0">
                <a:solidFill>
                  <a:srgbClr val="1C1713"/>
                </a:solidFill>
              </a:rPr>
              <a:t> JVM: </a:t>
            </a:r>
            <a:r>
              <a:rPr sz="1800" dirty="0" err="1">
                <a:solidFill>
                  <a:srgbClr val="1C1713"/>
                </a:solidFill>
              </a:rPr>
              <a:t>прогрев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кеши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планирование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процессора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E5E021-38FA-40FF-85A6-FAA1B0EE918D}"/>
              </a:ext>
            </a:extLst>
          </p:cNvPr>
          <p:cNvSpPr>
            <a:spLocks noGrp="1"/>
          </p:cNvSpPr>
          <p:nvPr/>
        </p:nvSpPr>
        <p:spPr>
          <a:xfrm>
            <a:off x="10191750" y="73342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09CE86-3116-4686-8456-BBFE1FC0AC0A}"/>
              </a:ext>
            </a:extLst>
          </p:cNvPr>
          <p:cNvSpPr>
            <a:spLocks noGrp="1"/>
          </p:cNvSpPr>
          <p:nvPr/>
        </p:nvSpPr>
        <p:spPr>
          <a:xfrm>
            <a:off x="10744200" y="7334249"/>
            <a:ext cx="3829050" cy="91327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конечном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диапазоне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размеров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теория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видна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обязана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совпадать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точка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точку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25" name="source">
            <a:extLst>
              <a:ext uri="{FF2B5EF4-FFF2-40B4-BE49-F238E27FC236}">
                <a16:creationId xmlns:a16="http://schemas.microsoft.com/office/drawing/2014/main" id="{768542F9-23B6-4F00-BA11-145ED953E742}"/>
              </a:ext>
            </a:extLst>
          </p:cNvPr>
          <p:cNvSpPr>
            <a:spLocks noGrp="1"/>
          </p:cNvSpPr>
          <p:nvPr/>
        </p:nvSpPr>
        <p:spPr>
          <a:xfrm>
            <a:off x="838200" y="9486900"/>
            <a:ext cx="506730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Т</a:t>
            </a:r>
            <a:r>
              <a:rPr sz="900" dirty="0" err="1">
                <a:solidFill>
                  <a:srgbClr val="625B54"/>
                </a:solidFill>
              </a:rPr>
              <a:t>еоретическая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оценка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по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рекуррентному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соотношению</a:t>
            </a:r>
            <a:r>
              <a:rPr sz="900" dirty="0">
                <a:solidFill>
                  <a:srgbClr val="625B54"/>
                </a:solidFill>
              </a:rPr>
              <a:t> Stooge Sort.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9479AD-9D93-4CE3-B378-DB67732F259F}"/>
              </a:ext>
            </a:extLst>
          </p:cNvPr>
          <p:cNvSpPr>
            <a:spLocks noGrp="1"/>
          </p:cNvSpPr>
          <p:nvPr/>
        </p:nvSpPr>
        <p:spPr>
          <a:xfrm>
            <a:off x="893233" y="2733674"/>
            <a:ext cx="1773767" cy="38098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pt-BR" sz="2550" b="1" dirty="0">
                <a:solidFill>
                  <a:srgbClr val="1C1713"/>
                </a:solidFill>
              </a:rPr>
              <a:t>3^log_3/2(n) 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95B0E6D-CA2D-434A-8724-ACB6951BF859}"/>
              </a:ext>
            </a:extLst>
          </p:cNvPr>
          <p:cNvCxnSpPr/>
          <p:nvPr/>
        </p:nvCxnSpPr>
        <p:spPr>
          <a:xfrm>
            <a:off x="2764491" y="2911097"/>
            <a:ext cx="6073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59CEE0E5-E2D9-415D-8985-F3AC65830409}"/>
              </a:ext>
            </a:extLst>
          </p:cNvPr>
          <p:cNvSpPr>
            <a:spLocks noGrp="1"/>
          </p:cNvSpPr>
          <p:nvPr/>
        </p:nvSpPr>
        <p:spPr>
          <a:xfrm>
            <a:off x="3552825" y="2723588"/>
            <a:ext cx="1882775" cy="39108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pt-BR" sz="2550" b="1" dirty="0">
                <a:solidFill>
                  <a:srgbClr val="1C1713"/>
                </a:solidFill>
              </a:rPr>
              <a:t>n^log_3/2(3)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C5F631B-AEC8-4C60-8577-22966D193098}"/>
              </a:ext>
            </a:extLst>
          </p:cNvPr>
          <p:cNvSpPr>
            <a:spLocks noGrp="1"/>
          </p:cNvSpPr>
          <p:nvPr/>
        </p:nvSpPr>
        <p:spPr>
          <a:xfrm>
            <a:off x="838200" y="3695700"/>
            <a:ext cx="4030133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pt-BR" sz="2550" b="1" dirty="0">
                <a:solidFill>
                  <a:srgbClr val="1C1713"/>
                </a:solidFill>
              </a:rPr>
              <a:t>T(n) = O(n^log_3/2(3))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6FFD49-BF7C-420B-9A45-8A04E0DF4948}"/>
              </a:ext>
            </a:extLst>
          </p:cNvPr>
          <p:cNvSpPr>
            <a:spLocks noGrp="1"/>
          </p:cNvSpPr>
          <p:nvPr/>
        </p:nvSpPr>
        <p:spPr>
          <a:xfrm>
            <a:off x="4962525" y="3657600"/>
            <a:ext cx="3571875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lang="ru-RU" dirty="0">
                <a:solidFill>
                  <a:srgbClr val="1C1713"/>
                </a:solidFill>
              </a:rPr>
              <a:t>Так как</a:t>
            </a:r>
            <a:r>
              <a:rPr lang="en-US" dirty="0">
                <a:solidFill>
                  <a:srgbClr val="1C1713"/>
                </a:solidFill>
              </a:rPr>
              <a:t> n^log_3/2(3) </a:t>
            </a:r>
            <a:r>
              <a:rPr lang="ru-RU" dirty="0">
                <a:solidFill>
                  <a:srgbClr val="1C1713"/>
                </a:solidFill>
              </a:rPr>
              <a:t>растёт быстрее</a:t>
            </a:r>
          </a:p>
          <a:p>
            <a:pPr>
              <a:defRPr sz="1800">
                <a:solidFill>
                  <a:srgbClr val="1C1713"/>
                </a:solidFill>
              </a:defRPr>
            </a:pPr>
            <a:r>
              <a:rPr lang="ru-RU" dirty="0">
                <a:solidFill>
                  <a:srgbClr val="1C1713"/>
                </a:solidFill>
              </a:rPr>
              <a:t>можно убрать </a:t>
            </a:r>
            <a:r>
              <a:rPr lang="en-US" dirty="0">
                <a:solidFill>
                  <a:srgbClr val="1C1713"/>
                </a:solidFill>
              </a:rPr>
              <a:t>O(1)</a:t>
            </a:r>
            <a:endParaRPr sz="1800" dirty="0">
              <a:solidFill>
                <a:srgbClr val="1C17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28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28" grpId="0"/>
      <p:bldP spid="31" grpId="0"/>
      <p:bldP spid="32" grpId="0"/>
      <p:bldP spid="3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g">
            <a:extLst>
              <a:ext uri="{FF2B5EF4-FFF2-40B4-BE49-F238E27FC236}">
                <a16:creationId xmlns:a16="http://schemas.microsoft.com/office/drawing/2014/main" id="{72AF3DEB-7C09-4E26-A5D4-4AA3690943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1815262C-3B43-4732-B0C2-3029C667DD6A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71628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>
                <a:solidFill>
                  <a:srgbClr val="1C1713"/>
                </a:solidFill>
              </a:rPr>
              <a:t>Экспериментальная постановка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0BFA640A-D97B-4BDD-AE0B-23E110B8F912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1154430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 err="1">
                <a:solidFill>
                  <a:srgbClr val="625B54"/>
                </a:solidFill>
              </a:rPr>
              <a:t>Диапазон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выбрали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так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чтобы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график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был</a:t>
            </a:r>
            <a:r>
              <a:rPr sz="1800" dirty="0">
                <a:solidFill>
                  <a:srgbClr val="625B54"/>
                </a:solidFill>
              </a:rPr>
              <a:t> и </a:t>
            </a:r>
            <a:r>
              <a:rPr sz="1800" dirty="0" err="1">
                <a:solidFill>
                  <a:srgbClr val="625B54"/>
                </a:solidFill>
              </a:rPr>
              <a:t>наглядным</a:t>
            </a:r>
            <a:r>
              <a:rPr sz="1800" dirty="0">
                <a:solidFill>
                  <a:srgbClr val="625B54"/>
                </a:solidFill>
              </a:rPr>
              <a:t>, и </a:t>
            </a:r>
            <a:r>
              <a:rPr sz="1800" dirty="0" err="1">
                <a:solidFill>
                  <a:srgbClr val="625B54"/>
                </a:solidFill>
              </a:rPr>
              <a:t>выполнимым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времени</a:t>
            </a:r>
            <a:r>
              <a:rPr sz="1800" dirty="0">
                <a:solidFill>
                  <a:srgbClr val="625B54"/>
                </a:solidFill>
              </a:rPr>
              <a:t>: </a:t>
            </a:r>
            <a:r>
              <a:rPr sz="1800" dirty="0" err="1">
                <a:solidFill>
                  <a:srgbClr val="625B54"/>
                </a:solidFill>
              </a:rPr>
              <a:t>ранний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рост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виден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уже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на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сотнях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элементов</a:t>
            </a:r>
            <a:r>
              <a:rPr sz="1800" dirty="0">
                <a:solidFill>
                  <a:srgbClr val="625B54"/>
                </a:solidFill>
              </a:rPr>
              <a:t>, а к 2400-2500 </a:t>
            </a:r>
            <a:r>
              <a:rPr sz="1800" dirty="0" err="1">
                <a:solidFill>
                  <a:srgbClr val="625B54"/>
                </a:solidFill>
              </a:rPr>
              <a:t>алгоритм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становится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по-настоящему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тяжёлым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C18F9736-FBE2-4335-8612-284B630157E7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2095500" cy="38100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D1BEF8-1F24-4A62-A522-47DDA15A9C2F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2381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25B54"/>
                </a:solidFill>
              </a:defRPr>
            </a:pPr>
            <a:r>
              <a:rPr sz="1200" dirty="0" err="1">
                <a:solidFill>
                  <a:srgbClr val="625B54"/>
                </a:solidFill>
              </a:rPr>
              <a:t>размеры</a:t>
            </a:r>
            <a:r>
              <a:rPr sz="1200" dirty="0">
                <a:solidFill>
                  <a:srgbClr val="625B54"/>
                </a:solidFill>
              </a:rPr>
              <a:t> </a:t>
            </a:r>
            <a:r>
              <a:rPr sz="1200" dirty="0" err="1">
                <a:solidFill>
                  <a:srgbClr val="625B54"/>
                </a:solidFill>
              </a:rPr>
              <a:t>входа</a:t>
            </a:r>
            <a:endParaRPr sz="1200" dirty="0">
              <a:solidFill>
                <a:srgbClr val="625B54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949AD2-1E94-459B-94A6-AA73E5020DB4}"/>
              </a:ext>
            </a:extLst>
          </p:cNvPr>
          <p:cNvSpPr>
            <a:spLocks noGrp="1"/>
          </p:cNvSpPr>
          <p:nvPr/>
        </p:nvSpPr>
        <p:spPr>
          <a:xfrm>
            <a:off x="838200" y="3219450"/>
            <a:ext cx="2381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0F766E"/>
                </a:solidFill>
              </a:defRPr>
            </a:pPr>
            <a:r>
              <a:rPr sz="3150" b="1">
                <a:solidFill>
                  <a:srgbClr val="0F766E"/>
                </a:solidFill>
              </a:rPr>
              <a:t>100..2500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9BB3E6-B50C-406E-B2F2-3E2948BC5350}"/>
              </a:ext>
            </a:extLst>
          </p:cNvPr>
          <p:cNvSpPr>
            <a:spLocks noGrp="1"/>
          </p:cNvSpPr>
          <p:nvPr/>
        </p:nvSpPr>
        <p:spPr>
          <a:xfrm>
            <a:off x="838200" y="3829050"/>
            <a:ext cx="23812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25B54"/>
                </a:solidFill>
              </a:defRPr>
            </a:pPr>
            <a:r>
              <a:rPr sz="1200" dirty="0" err="1">
                <a:solidFill>
                  <a:srgbClr val="625B54"/>
                </a:solidFill>
              </a:rPr>
              <a:t>шаг</a:t>
            </a:r>
            <a:endParaRPr sz="1200" dirty="0">
              <a:solidFill>
                <a:srgbClr val="625B5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23FF07-ED84-49E0-B057-D2CB1C7B2AEA}"/>
              </a:ext>
            </a:extLst>
          </p:cNvPr>
          <p:cNvSpPr>
            <a:spLocks noGrp="1"/>
          </p:cNvSpPr>
          <p:nvPr/>
        </p:nvSpPr>
        <p:spPr>
          <a:xfrm>
            <a:off x="838200" y="4038600"/>
            <a:ext cx="2381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C65B40"/>
                </a:solidFill>
              </a:defRPr>
            </a:pPr>
            <a:r>
              <a:rPr sz="3150" b="1">
                <a:solidFill>
                  <a:srgbClr val="C65B40"/>
                </a:solidFill>
              </a:rPr>
              <a:t>100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90E6D-E37F-4F79-BAA3-E263CB985E0F}"/>
              </a:ext>
            </a:extLst>
          </p:cNvPr>
          <p:cNvSpPr>
            <a:spLocks noGrp="1"/>
          </p:cNvSpPr>
          <p:nvPr/>
        </p:nvSpPr>
        <p:spPr>
          <a:xfrm>
            <a:off x="838200" y="4648200"/>
            <a:ext cx="23812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00">
                <a:solidFill>
                  <a:srgbClr val="625B54"/>
                </a:solidFill>
              </a:defRPr>
            </a:pPr>
            <a:r>
              <a:rPr sz="1200" dirty="0" err="1">
                <a:solidFill>
                  <a:srgbClr val="625B54"/>
                </a:solidFill>
              </a:rPr>
              <a:t>подготовленных</a:t>
            </a:r>
            <a:r>
              <a:rPr sz="1200" dirty="0">
                <a:solidFill>
                  <a:srgbClr val="625B54"/>
                </a:solidFill>
              </a:rPr>
              <a:t> </a:t>
            </a:r>
            <a:r>
              <a:rPr sz="1200" dirty="0" err="1">
                <a:solidFill>
                  <a:srgbClr val="625B54"/>
                </a:solidFill>
              </a:rPr>
              <a:t>наборов</a:t>
            </a:r>
            <a:endParaRPr sz="1200" dirty="0">
              <a:solidFill>
                <a:srgbClr val="625B5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7BCC11-DF1F-4022-8E00-51452D7BC75B}"/>
              </a:ext>
            </a:extLst>
          </p:cNvPr>
          <p:cNvSpPr>
            <a:spLocks noGrp="1"/>
          </p:cNvSpPr>
          <p:nvPr/>
        </p:nvSpPr>
        <p:spPr>
          <a:xfrm>
            <a:off x="838200" y="4857750"/>
            <a:ext cx="2381250" cy="4000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3150" b="1">
                <a:solidFill>
                  <a:srgbClr val="B9893C"/>
                </a:solidFill>
              </a:defRPr>
            </a:pPr>
            <a:r>
              <a:rPr sz="3150" b="1">
                <a:solidFill>
                  <a:srgbClr val="B9893C"/>
                </a:solidFill>
              </a:rPr>
              <a:t>100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D71A7D-DBC5-4C93-B092-930AF103711E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72009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>
                <a:solidFill>
                  <a:srgbClr val="1C1713"/>
                </a:solidFill>
              </a:rPr>
              <a:t>Почему именно так: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B98077-AF19-4A45-BF33-A4EDC9FCDDC1}"/>
              </a:ext>
            </a:extLst>
          </p:cNvPr>
          <p:cNvSpPr>
            <a:spLocks noGrp="1"/>
          </p:cNvSpPr>
          <p:nvPr/>
        </p:nvSpPr>
        <p:spPr>
          <a:xfrm>
            <a:off x="838200" y="59055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7D10F1-FB0A-4637-BCB1-AEBDBB408CD9}"/>
              </a:ext>
            </a:extLst>
          </p:cNvPr>
          <p:cNvSpPr>
            <a:spLocks noGrp="1"/>
          </p:cNvSpPr>
          <p:nvPr/>
        </p:nvSpPr>
        <p:spPr>
          <a:xfrm>
            <a:off x="1390650" y="5905500"/>
            <a:ext cx="48768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>
                <a:solidFill>
                  <a:srgbClr val="1C1713"/>
                </a:solidFill>
              </a:rPr>
              <a:t>25 размеров × 4 типа данных = ровно 100 заранее подготовленных наборов;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4A7C0E-E1AC-4253-860A-2CF77A169083}"/>
              </a:ext>
            </a:extLst>
          </p:cNvPr>
          <p:cNvSpPr>
            <a:spLocks noGrp="1"/>
          </p:cNvSpPr>
          <p:nvPr/>
        </p:nvSpPr>
        <p:spPr>
          <a:xfrm>
            <a:off x="838200" y="65341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3E9EDD-F8BA-4B77-903A-CCB8FBD2A64A}"/>
              </a:ext>
            </a:extLst>
          </p:cNvPr>
          <p:cNvSpPr>
            <a:spLocks noGrp="1"/>
          </p:cNvSpPr>
          <p:nvPr/>
        </p:nvSpPr>
        <p:spPr>
          <a:xfrm>
            <a:off x="1390650" y="6534150"/>
            <a:ext cx="6076950" cy="571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шаг</a:t>
            </a:r>
            <a:r>
              <a:rPr sz="1800" dirty="0">
                <a:solidFill>
                  <a:srgbClr val="1C1713"/>
                </a:solidFill>
              </a:rPr>
              <a:t> 100 </a:t>
            </a:r>
            <a:r>
              <a:rPr sz="1800" dirty="0" err="1">
                <a:solidFill>
                  <a:srgbClr val="1C1713"/>
                </a:solidFill>
              </a:rPr>
              <a:t>делает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графики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читаемыми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распиливает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ось</a:t>
            </a:r>
            <a:r>
              <a:rPr sz="1800" dirty="0">
                <a:solidFill>
                  <a:srgbClr val="1C1713"/>
                </a:solidFill>
              </a:rPr>
              <a:t> X </a:t>
            </a: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лишний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шум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4262F2-9C6A-4944-8838-683C09906E76}"/>
              </a:ext>
            </a:extLst>
          </p:cNvPr>
          <p:cNvSpPr>
            <a:spLocks noGrp="1"/>
          </p:cNvSpPr>
          <p:nvPr/>
        </p:nvSpPr>
        <p:spPr>
          <a:xfrm>
            <a:off x="838200" y="71628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8091C9-7F32-4477-A228-6F371D7EC441}"/>
              </a:ext>
            </a:extLst>
          </p:cNvPr>
          <p:cNvSpPr>
            <a:spLocks noGrp="1"/>
          </p:cNvSpPr>
          <p:nvPr/>
        </p:nvSpPr>
        <p:spPr>
          <a:xfrm>
            <a:off x="1390650" y="7162800"/>
            <a:ext cx="5962650" cy="838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верхняя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граница</a:t>
            </a:r>
            <a:r>
              <a:rPr sz="1800" dirty="0">
                <a:solidFill>
                  <a:srgbClr val="1C1713"/>
                </a:solidFill>
              </a:rPr>
              <a:t> 2500 </a:t>
            </a:r>
            <a:r>
              <a:rPr sz="1800" dirty="0" err="1">
                <a:solidFill>
                  <a:srgbClr val="1C1713"/>
                </a:solidFill>
              </a:rPr>
              <a:t>уже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даёт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время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около</a:t>
            </a:r>
            <a:r>
              <a:rPr sz="1800" dirty="0">
                <a:solidFill>
                  <a:srgbClr val="1C1713"/>
                </a:solidFill>
              </a:rPr>
              <a:t> 1.4 с </a:t>
            </a: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один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прогон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чего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достаточно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для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демонстрации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взрывного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роста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0BC00D-6F4B-4B75-A578-164EAEED7244}"/>
              </a:ext>
            </a:extLst>
          </p:cNvPr>
          <p:cNvSpPr>
            <a:spLocks noGrp="1"/>
          </p:cNvSpPr>
          <p:nvPr/>
        </p:nvSpPr>
        <p:spPr>
          <a:xfrm>
            <a:off x="8648700" y="3009900"/>
            <a:ext cx="8801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sz="1800" b="1">
                <a:solidFill>
                  <a:srgbClr val="3E6588"/>
                </a:solidFill>
              </a:rPr>
              <a:t>Типы входных данных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D87435-4BB5-43FB-8417-1757103F1D76}"/>
              </a:ext>
            </a:extLst>
          </p:cNvPr>
          <p:cNvSpPr>
            <a:spLocks noGrp="1"/>
          </p:cNvSpPr>
          <p:nvPr/>
        </p:nvSpPr>
        <p:spPr>
          <a:xfrm>
            <a:off x="8648700" y="34480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DEF231-909A-4045-BCBB-AAEA4611A303}"/>
              </a:ext>
            </a:extLst>
          </p:cNvPr>
          <p:cNvSpPr>
            <a:spLocks noGrp="1"/>
          </p:cNvSpPr>
          <p:nvPr/>
        </p:nvSpPr>
        <p:spPr>
          <a:xfrm>
            <a:off x="9201150" y="3448050"/>
            <a:ext cx="171450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>
                <a:solidFill>
                  <a:srgbClr val="1C1713"/>
                </a:solidFill>
              </a:rPr>
              <a:t>случайные числа;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A1D4FD-CB26-4C7C-88F7-2100571359C3}"/>
              </a:ext>
            </a:extLst>
          </p:cNvPr>
          <p:cNvSpPr>
            <a:spLocks noGrp="1"/>
          </p:cNvSpPr>
          <p:nvPr/>
        </p:nvSpPr>
        <p:spPr>
          <a:xfrm>
            <a:off x="8648700" y="39243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 dirty="0">
                <a:solidFill>
                  <a:srgbClr val="3E6588"/>
                </a:solidFill>
              </a:rPr>
              <a:t>02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74687D3-FE06-4F68-B6FB-6121C2A1DFF3}"/>
              </a:ext>
            </a:extLst>
          </p:cNvPr>
          <p:cNvSpPr>
            <a:spLocks noGrp="1"/>
          </p:cNvSpPr>
          <p:nvPr/>
        </p:nvSpPr>
        <p:spPr>
          <a:xfrm>
            <a:off x="9201149" y="3867150"/>
            <a:ext cx="2703979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отсортированный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массив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2FB5BC-B3F4-484A-AF25-FC2B1584625B}"/>
              </a:ext>
            </a:extLst>
          </p:cNvPr>
          <p:cNvSpPr>
            <a:spLocks noGrp="1"/>
          </p:cNvSpPr>
          <p:nvPr/>
        </p:nvSpPr>
        <p:spPr>
          <a:xfrm>
            <a:off x="8648700" y="4391025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 dirty="0">
                <a:solidFill>
                  <a:srgbClr val="3E6588"/>
                </a:solidFill>
              </a:rPr>
              <a:t>03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D76C31E-7E47-4E5B-9873-5F08BB2741C4}"/>
              </a:ext>
            </a:extLst>
          </p:cNvPr>
          <p:cNvSpPr>
            <a:spLocks noGrp="1"/>
          </p:cNvSpPr>
          <p:nvPr/>
        </p:nvSpPr>
        <p:spPr>
          <a:xfrm>
            <a:off x="9201150" y="4362450"/>
            <a:ext cx="2883274" cy="2476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массив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обратном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порядке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2BE7CB7-F261-4420-8FCF-9BB629EC7A4A}"/>
              </a:ext>
            </a:extLst>
          </p:cNvPr>
          <p:cNvSpPr>
            <a:spLocks noGrp="1"/>
          </p:cNvSpPr>
          <p:nvPr/>
        </p:nvSpPr>
        <p:spPr>
          <a:xfrm>
            <a:off x="8648700" y="48768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3E6588"/>
                </a:solidFill>
              </a:defRPr>
            </a:pPr>
            <a:r>
              <a:rPr sz="1350" b="1">
                <a:solidFill>
                  <a:srgbClr val="3E6588"/>
                </a:solidFill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A58BDB3-5C2D-47B3-BDCB-E947BBA764F8}"/>
              </a:ext>
            </a:extLst>
          </p:cNvPr>
          <p:cNvSpPr>
            <a:spLocks noGrp="1"/>
          </p:cNvSpPr>
          <p:nvPr/>
        </p:nvSpPr>
        <p:spPr>
          <a:xfrm>
            <a:off x="9201150" y="4876800"/>
            <a:ext cx="5200650" cy="4572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почти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отсортированный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массив</a:t>
            </a:r>
            <a:r>
              <a:rPr sz="1800" dirty="0">
                <a:solidFill>
                  <a:srgbClr val="1C1713"/>
                </a:solidFill>
              </a:rPr>
              <a:t> с </a:t>
            </a:r>
            <a:r>
              <a:rPr sz="1800" dirty="0" err="1">
                <a:solidFill>
                  <a:srgbClr val="1C1713"/>
                </a:solidFill>
              </a:rPr>
              <a:t>небольшим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числом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lang="en-US" dirty="0">
                <a:solidFill>
                  <a:srgbClr val="1C1713"/>
                </a:solidFill>
              </a:rPr>
              <a:t>swap’</a:t>
            </a:r>
            <a:r>
              <a:rPr lang="ru-RU" dirty="0">
                <a:solidFill>
                  <a:srgbClr val="1C1713"/>
                </a:solidFill>
              </a:rPr>
              <a:t>ов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5F63BA-9C2F-42F0-9615-FA2ED1F8F432}"/>
              </a:ext>
            </a:extLst>
          </p:cNvPr>
          <p:cNvSpPr>
            <a:spLocks noGrp="1"/>
          </p:cNvSpPr>
          <p:nvPr/>
        </p:nvSpPr>
        <p:spPr>
          <a:xfrm>
            <a:off x="8648700" y="5543550"/>
            <a:ext cx="1905000" cy="28575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0A0AB3-0B75-48E9-92C2-EB0E9406E73D}"/>
              </a:ext>
            </a:extLst>
          </p:cNvPr>
          <p:cNvSpPr>
            <a:spLocks noGrp="1"/>
          </p:cNvSpPr>
          <p:nvPr/>
        </p:nvSpPr>
        <p:spPr>
          <a:xfrm>
            <a:off x="8648700" y="5791200"/>
            <a:ext cx="8801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>
                <a:solidFill>
                  <a:srgbClr val="1C1713"/>
                </a:solidFill>
              </a:rPr>
              <a:t>Как считались метрики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5E5C82-780C-45A1-822B-5A7F26C65E2D}"/>
              </a:ext>
            </a:extLst>
          </p:cNvPr>
          <p:cNvSpPr>
            <a:spLocks noGrp="1"/>
          </p:cNvSpPr>
          <p:nvPr/>
        </p:nvSpPr>
        <p:spPr>
          <a:xfrm>
            <a:off x="8648700" y="6229349"/>
            <a:ext cx="6724650" cy="7905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625B54"/>
                </a:solidFill>
              </a:defRPr>
            </a:pPr>
            <a:r>
              <a:rPr sz="1650" dirty="0" err="1">
                <a:solidFill>
                  <a:srgbClr val="625B54"/>
                </a:solidFill>
              </a:rPr>
              <a:t>Время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усреднялось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</a:t>
            </a:r>
            <a:r>
              <a:rPr sz="1650" dirty="0">
                <a:solidFill>
                  <a:srgbClr val="625B54"/>
                </a:solidFill>
              </a:rPr>
              <a:t> 5 </a:t>
            </a:r>
            <a:r>
              <a:rPr sz="1650" dirty="0" err="1">
                <a:solidFill>
                  <a:srgbClr val="625B54"/>
                </a:solidFill>
              </a:rPr>
              <a:t>запускам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после</a:t>
            </a:r>
            <a:r>
              <a:rPr sz="1650" dirty="0">
                <a:solidFill>
                  <a:srgbClr val="625B54"/>
                </a:solidFill>
              </a:rPr>
              <a:t> 2 </a:t>
            </a:r>
            <a:r>
              <a:rPr sz="1650" dirty="0" err="1">
                <a:solidFill>
                  <a:srgbClr val="625B54"/>
                </a:solidFill>
              </a:rPr>
              <a:t>прогревов</a:t>
            </a:r>
            <a:r>
              <a:rPr sz="1650" dirty="0">
                <a:solidFill>
                  <a:srgbClr val="625B54"/>
                </a:solidFill>
              </a:rPr>
              <a:t> JVM. </a:t>
            </a:r>
            <a:r>
              <a:rPr sz="1650" dirty="0" err="1">
                <a:solidFill>
                  <a:srgbClr val="625B54"/>
                </a:solidFill>
              </a:rPr>
              <a:t>Операционный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счётчик</a:t>
            </a:r>
            <a:r>
              <a:rPr lang="ru-RU"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фиксировал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рекурсивные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вызовы</a:t>
            </a:r>
            <a:r>
              <a:rPr sz="1650" dirty="0">
                <a:solidFill>
                  <a:srgbClr val="625B54"/>
                </a:solidFill>
              </a:rPr>
              <a:t> и </a:t>
            </a:r>
            <a:r>
              <a:rPr lang="en-US" sz="1650" dirty="0">
                <a:solidFill>
                  <a:srgbClr val="625B54"/>
                </a:solidFill>
              </a:rPr>
              <a:t>swap’</a:t>
            </a:r>
            <a:r>
              <a:rPr lang="ru-RU" sz="1650" dirty="0">
                <a:solidFill>
                  <a:srgbClr val="625B54"/>
                </a:solidFill>
              </a:rPr>
              <a:t>ы</a:t>
            </a:r>
            <a:r>
              <a:rPr sz="1650" dirty="0">
                <a:solidFill>
                  <a:srgbClr val="625B54"/>
                </a:solidFill>
              </a:rPr>
              <a:t>; </a:t>
            </a:r>
            <a:r>
              <a:rPr sz="1650" dirty="0" err="1">
                <a:solidFill>
                  <a:srgbClr val="625B54"/>
                </a:solidFill>
              </a:rPr>
              <a:t>для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одного</a:t>
            </a:r>
            <a:r>
              <a:rPr sz="1650" dirty="0">
                <a:solidFill>
                  <a:srgbClr val="625B54"/>
                </a:solidFill>
              </a:rPr>
              <a:t> и </a:t>
            </a:r>
            <a:r>
              <a:rPr sz="1650" dirty="0" err="1">
                <a:solidFill>
                  <a:srgbClr val="625B54"/>
                </a:solidFill>
              </a:rPr>
              <a:t>того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же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входа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он</a:t>
            </a:r>
            <a:r>
              <a:rPr sz="1650" dirty="0">
                <a:solidFill>
                  <a:srgbClr val="625B54"/>
                </a:solidFill>
              </a:rPr>
              <a:t> </a:t>
            </a:r>
            <a:r>
              <a:rPr sz="1650" dirty="0" err="1">
                <a:solidFill>
                  <a:srgbClr val="625B54"/>
                </a:solidFill>
              </a:rPr>
              <a:t>детерминирован</a:t>
            </a:r>
            <a:r>
              <a:rPr sz="165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30" name="source">
            <a:extLst>
              <a:ext uri="{FF2B5EF4-FFF2-40B4-BE49-F238E27FC236}">
                <a16:creationId xmlns:a16="http://schemas.microsoft.com/office/drawing/2014/main" id="{7822970B-2E79-4BCA-BCED-03FA47F3D1FC}"/>
              </a:ext>
            </a:extLst>
          </p:cNvPr>
          <p:cNvSpPr>
            <a:spLocks noGrp="1"/>
          </p:cNvSpPr>
          <p:nvPr/>
        </p:nvSpPr>
        <p:spPr>
          <a:xfrm>
            <a:off x="838200" y="9372600"/>
            <a:ext cx="3867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lang="ru-RU" sz="900" dirty="0">
                <a:solidFill>
                  <a:srgbClr val="625B54"/>
                </a:solidFill>
              </a:rPr>
              <a:t>Входные данные для экспериментов</a:t>
            </a:r>
            <a:r>
              <a:rPr sz="900" dirty="0">
                <a:solidFill>
                  <a:srgbClr val="625B5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67222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bg">
            <a:extLst>
              <a:ext uri="{FF2B5EF4-FFF2-40B4-BE49-F238E27FC236}">
                <a16:creationId xmlns:a16="http://schemas.microsoft.com/office/drawing/2014/main" id="{0D48B248-803E-4F2A-B62A-AF9C69A936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9AE93E7-B0E4-4BFD-9D48-EB7FE5D8A725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8682318" cy="666748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lang="ru-RU" sz="4050" b="1" dirty="0">
                <a:solidFill>
                  <a:srgbClr val="1C1713"/>
                </a:solidFill>
              </a:rPr>
              <a:t>Ключевые точки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таблицы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измерений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A48FD8E0-BFD8-42E8-90A1-785AF68B280C}"/>
              </a:ext>
            </a:extLst>
          </p:cNvPr>
          <p:cNvSpPr>
            <a:spLocks noGrp="1"/>
          </p:cNvSpPr>
          <p:nvPr/>
        </p:nvSpPr>
        <p:spPr>
          <a:xfrm>
            <a:off x="838200" y="1981199"/>
            <a:ext cx="11582400" cy="5810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 err="1">
                <a:solidFill>
                  <a:srgbClr val="625B54"/>
                </a:solidFill>
              </a:rPr>
              <a:t>Показываю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несколько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характерных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размеров</a:t>
            </a:r>
            <a:r>
              <a:rPr sz="1800" dirty="0">
                <a:solidFill>
                  <a:srgbClr val="625B54"/>
                </a:solidFill>
              </a:rPr>
              <a:t>: </a:t>
            </a:r>
            <a:r>
              <a:rPr lang="ru-RU" sz="1800" dirty="0">
                <a:solidFill>
                  <a:srgbClr val="625B54"/>
                </a:solidFill>
              </a:rPr>
              <a:t>начало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первый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крупный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скачок</a:t>
            </a:r>
            <a:r>
              <a:rPr sz="1800" dirty="0">
                <a:solidFill>
                  <a:srgbClr val="625B54"/>
                </a:solidFill>
              </a:rPr>
              <a:t> и </a:t>
            </a:r>
            <a:r>
              <a:rPr sz="1800" dirty="0" err="1">
                <a:solidFill>
                  <a:srgbClr val="625B54"/>
                </a:solidFill>
              </a:rPr>
              <a:t>область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где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один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прогон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уже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занимает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почти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полторы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секунды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27D041F1-1B3F-49F6-A3F7-E0C21534F632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1E8350-245D-4C59-9534-25A4751703F3}"/>
              </a:ext>
            </a:extLst>
          </p:cNvPr>
          <p:cNvSpPr>
            <a:spLocks noGrp="1"/>
          </p:cNvSpPr>
          <p:nvPr/>
        </p:nvSpPr>
        <p:spPr>
          <a:xfrm>
            <a:off x="838200" y="3009899"/>
            <a:ext cx="8115300" cy="29471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 dirty="0" err="1">
                <a:solidFill>
                  <a:srgbClr val="1C1713"/>
                </a:solidFill>
              </a:rPr>
              <a:t>Среднее</a:t>
            </a:r>
            <a:r>
              <a:rPr sz="1800" b="1" dirty="0">
                <a:solidFill>
                  <a:srgbClr val="1C1713"/>
                </a:solidFill>
              </a:rPr>
              <a:t> </a:t>
            </a:r>
            <a:r>
              <a:rPr sz="1800" b="1" dirty="0" err="1">
                <a:solidFill>
                  <a:srgbClr val="1C1713"/>
                </a:solidFill>
              </a:rPr>
              <a:t>время</a:t>
            </a:r>
            <a:r>
              <a:rPr sz="1800" b="1" dirty="0">
                <a:solidFill>
                  <a:srgbClr val="1C1713"/>
                </a:solidFill>
              </a:rPr>
              <a:t>, </a:t>
            </a:r>
            <a:r>
              <a:rPr sz="1800" b="1" dirty="0" err="1">
                <a:solidFill>
                  <a:srgbClr val="1C1713"/>
                </a:solidFill>
              </a:rPr>
              <a:t>мс</a:t>
            </a:r>
            <a:endParaRPr sz="1800" b="1" dirty="0">
              <a:solidFill>
                <a:srgbClr val="1C1713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EB9B72-3F86-40A7-BEA3-AF642AC66EFF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1714500" cy="28575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3F6B1F-0062-4E65-8BCF-006482368501}"/>
              </a:ext>
            </a:extLst>
          </p:cNvPr>
          <p:cNvSpPr>
            <a:spLocks noGrp="1"/>
          </p:cNvSpPr>
          <p:nvPr/>
        </p:nvSpPr>
        <p:spPr>
          <a:xfrm>
            <a:off x="838200" y="3486150"/>
            <a:ext cx="114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 dirty="0">
                <a:solidFill>
                  <a:srgbClr val="C65B40"/>
                </a:solidFill>
              </a:rPr>
              <a:t>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92536C-6D7D-4150-966C-EDC90DF8F00C}"/>
              </a:ext>
            </a:extLst>
          </p:cNvPr>
          <p:cNvSpPr>
            <a:spLocks noGrp="1"/>
          </p:cNvSpPr>
          <p:nvPr/>
        </p:nvSpPr>
        <p:spPr>
          <a:xfrm>
            <a:off x="2095500" y="34861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 dirty="0" err="1">
                <a:solidFill>
                  <a:srgbClr val="C65B40"/>
                </a:solidFill>
              </a:rPr>
              <a:t>случ</a:t>
            </a:r>
            <a:r>
              <a:rPr sz="1350" b="1" dirty="0">
                <a:solidFill>
                  <a:srgbClr val="C65B40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46C22B-C304-4864-865B-E74FB7C9DC00}"/>
              </a:ext>
            </a:extLst>
          </p:cNvPr>
          <p:cNvSpPr>
            <a:spLocks noGrp="1"/>
          </p:cNvSpPr>
          <p:nvPr/>
        </p:nvSpPr>
        <p:spPr>
          <a:xfrm>
            <a:off x="3562350" y="34861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сорт.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B7BC87-EB4E-4919-ABEB-232ED3B539DA}"/>
              </a:ext>
            </a:extLst>
          </p:cNvPr>
          <p:cNvSpPr>
            <a:spLocks noGrp="1"/>
          </p:cNvSpPr>
          <p:nvPr/>
        </p:nvSpPr>
        <p:spPr>
          <a:xfrm>
            <a:off x="5029200" y="34861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обр.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109366-DF11-4F31-9ED4-0F4626DD2B3C}"/>
              </a:ext>
            </a:extLst>
          </p:cNvPr>
          <p:cNvSpPr>
            <a:spLocks noGrp="1"/>
          </p:cNvSpPr>
          <p:nvPr/>
        </p:nvSpPr>
        <p:spPr>
          <a:xfrm>
            <a:off x="6496050" y="348615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почти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89F7871-9CE6-49DD-95BB-FAA356C41476}"/>
              </a:ext>
            </a:extLst>
          </p:cNvPr>
          <p:cNvSpPr>
            <a:spLocks noGrp="1"/>
          </p:cNvSpPr>
          <p:nvPr/>
        </p:nvSpPr>
        <p:spPr>
          <a:xfrm>
            <a:off x="838200" y="3810000"/>
            <a:ext cx="8115300" cy="19050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86F2A6-429A-47AE-8874-81A82E388CA3}"/>
              </a:ext>
            </a:extLst>
          </p:cNvPr>
          <p:cNvSpPr>
            <a:spLocks noGrp="1"/>
          </p:cNvSpPr>
          <p:nvPr/>
        </p:nvSpPr>
        <p:spPr>
          <a:xfrm>
            <a:off x="838200" y="3962400"/>
            <a:ext cx="1143000" cy="23812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100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F75147-BDA9-4B9A-B0F6-DDE1328B5039}"/>
              </a:ext>
            </a:extLst>
          </p:cNvPr>
          <p:cNvSpPr>
            <a:spLocks noGrp="1"/>
          </p:cNvSpPr>
          <p:nvPr/>
        </p:nvSpPr>
        <p:spPr>
          <a:xfrm>
            <a:off x="2095500" y="3962400"/>
            <a:ext cx="1352550" cy="209548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1.16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A3126B-2634-4AB7-8BF3-742B3DD84FC3}"/>
              </a:ext>
            </a:extLst>
          </p:cNvPr>
          <p:cNvSpPr>
            <a:spLocks noGrp="1"/>
          </p:cNvSpPr>
          <p:nvPr/>
        </p:nvSpPr>
        <p:spPr>
          <a:xfrm>
            <a:off x="3562350" y="3962400"/>
            <a:ext cx="1352550" cy="20002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0.207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144F34-1B31-467E-8ACB-F90CEBAED34D}"/>
              </a:ext>
            </a:extLst>
          </p:cNvPr>
          <p:cNvSpPr>
            <a:spLocks noGrp="1"/>
          </p:cNvSpPr>
          <p:nvPr/>
        </p:nvSpPr>
        <p:spPr>
          <a:xfrm>
            <a:off x="5029200" y="3962400"/>
            <a:ext cx="1352550" cy="209548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0.254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E85862-7990-4FF5-83D8-7302F0E3B5AA}"/>
              </a:ext>
            </a:extLst>
          </p:cNvPr>
          <p:cNvSpPr>
            <a:spLocks noGrp="1"/>
          </p:cNvSpPr>
          <p:nvPr/>
        </p:nvSpPr>
        <p:spPr>
          <a:xfrm>
            <a:off x="6496050" y="396240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0.198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A40FA0-FD33-43BE-96AF-5BA62FC18989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9938E1-0BDD-4C1D-B9EB-CC376F431681}"/>
              </a:ext>
            </a:extLst>
          </p:cNvPr>
          <p:cNvSpPr>
            <a:spLocks noGrp="1"/>
          </p:cNvSpPr>
          <p:nvPr/>
        </p:nvSpPr>
        <p:spPr>
          <a:xfrm>
            <a:off x="838200" y="4400549"/>
            <a:ext cx="1143000" cy="200027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500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3DEB7A-9A0B-4BAD-A7B3-87B4AC68F04A}"/>
              </a:ext>
            </a:extLst>
          </p:cNvPr>
          <p:cNvSpPr>
            <a:spLocks noGrp="1"/>
          </p:cNvSpPr>
          <p:nvPr/>
        </p:nvSpPr>
        <p:spPr>
          <a:xfrm>
            <a:off x="2095500" y="4400550"/>
            <a:ext cx="1352550" cy="18097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>
                <a:solidFill>
                  <a:srgbClr val="1C1713"/>
                </a:solidFill>
              </a:rPr>
              <a:t>16.9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6396AB-BF19-479A-B453-DBD9E5196D56}"/>
              </a:ext>
            </a:extLst>
          </p:cNvPr>
          <p:cNvSpPr>
            <a:spLocks noGrp="1"/>
          </p:cNvSpPr>
          <p:nvPr/>
        </p:nvSpPr>
        <p:spPr>
          <a:xfrm>
            <a:off x="3562350" y="4400550"/>
            <a:ext cx="1352550" cy="23812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16.5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FA3F89-0A50-4F03-8F56-9D9634353C13}"/>
              </a:ext>
            </a:extLst>
          </p:cNvPr>
          <p:cNvSpPr>
            <a:spLocks noGrp="1"/>
          </p:cNvSpPr>
          <p:nvPr/>
        </p:nvSpPr>
        <p:spPr>
          <a:xfrm>
            <a:off x="5029200" y="4400550"/>
            <a:ext cx="1352550" cy="18097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17.0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382EEC-5F7D-40B4-81A5-07218DBBAD3A}"/>
              </a:ext>
            </a:extLst>
          </p:cNvPr>
          <p:cNvSpPr>
            <a:spLocks noGrp="1"/>
          </p:cNvSpPr>
          <p:nvPr/>
        </p:nvSpPr>
        <p:spPr>
          <a:xfrm>
            <a:off x="6496050" y="4400550"/>
            <a:ext cx="1543050" cy="18097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16.6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0892E3-0734-4932-AA74-24C39E4792AE}"/>
              </a:ext>
            </a:extLst>
          </p:cNvPr>
          <p:cNvSpPr>
            <a:spLocks noGrp="1"/>
          </p:cNvSpPr>
          <p:nvPr/>
        </p:nvSpPr>
        <p:spPr>
          <a:xfrm>
            <a:off x="838200" y="468630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EC6D36-4926-4ACF-98C0-D812FFA680AD}"/>
              </a:ext>
            </a:extLst>
          </p:cNvPr>
          <p:cNvSpPr>
            <a:spLocks noGrp="1"/>
          </p:cNvSpPr>
          <p:nvPr/>
        </p:nvSpPr>
        <p:spPr>
          <a:xfrm>
            <a:off x="838200" y="4838700"/>
            <a:ext cx="1143000" cy="20002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800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A25D57C-3F26-4EE8-B2EE-4B0171624155}"/>
              </a:ext>
            </a:extLst>
          </p:cNvPr>
          <p:cNvSpPr>
            <a:spLocks noGrp="1"/>
          </p:cNvSpPr>
          <p:nvPr/>
        </p:nvSpPr>
        <p:spPr>
          <a:xfrm>
            <a:off x="2095500" y="4838700"/>
            <a:ext cx="13525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90.0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41A814-F222-4664-AFAE-F174F154DD07}"/>
              </a:ext>
            </a:extLst>
          </p:cNvPr>
          <p:cNvSpPr>
            <a:spLocks noGrp="1"/>
          </p:cNvSpPr>
          <p:nvPr/>
        </p:nvSpPr>
        <p:spPr>
          <a:xfrm>
            <a:off x="3562350" y="4838699"/>
            <a:ext cx="1352550" cy="22859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85.1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AEA8CB2-806F-49E1-8F87-B7D66C55BD71}"/>
              </a:ext>
            </a:extLst>
          </p:cNvPr>
          <p:cNvSpPr>
            <a:spLocks noGrp="1"/>
          </p:cNvSpPr>
          <p:nvPr/>
        </p:nvSpPr>
        <p:spPr>
          <a:xfrm>
            <a:off x="5029200" y="483870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85.4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CC97C8-C374-459A-A806-1CCBA75FCE86}"/>
              </a:ext>
            </a:extLst>
          </p:cNvPr>
          <p:cNvSpPr>
            <a:spLocks noGrp="1"/>
          </p:cNvSpPr>
          <p:nvPr/>
        </p:nvSpPr>
        <p:spPr>
          <a:xfrm>
            <a:off x="6496050" y="4838699"/>
            <a:ext cx="1543050" cy="17144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92.8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2FB59F-082B-4ACE-88D3-470BEC9F28AB}"/>
              </a:ext>
            </a:extLst>
          </p:cNvPr>
          <p:cNvSpPr>
            <a:spLocks noGrp="1"/>
          </p:cNvSpPr>
          <p:nvPr/>
        </p:nvSpPr>
        <p:spPr>
          <a:xfrm>
            <a:off x="838200" y="512445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125D254-55F3-49CE-A54F-7AA39B9D390F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114300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1600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BFF9B1-A54B-4257-A0FF-7F57E860699B}"/>
              </a:ext>
            </a:extLst>
          </p:cNvPr>
          <p:cNvSpPr>
            <a:spLocks noGrp="1"/>
          </p:cNvSpPr>
          <p:nvPr/>
        </p:nvSpPr>
        <p:spPr>
          <a:xfrm>
            <a:off x="2095500" y="5276849"/>
            <a:ext cx="1352550" cy="20898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788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EDD65-4B75-411F-8632-DF8BA770DAD8}"/>
              </a:ext>
            </a:extLst>
          </p:cNvPr>
          <p:cNvSpPr>
            <a:spLocks noGrp="1"/>
          </p:cNvSpPr>
          <p:nvPr/>
        </p:nvSpPr>
        <p:spPr>
          <a:xfrm>
            <a:off x="3562350" y="5276850"/>
            <a:ext cx="1352550" cy="23812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758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898DD3C-D922-442A-B8CD-A868470D852B}"/>
              </a:ext>
            </a:extLst>
          </p:cNvPr>
          <p:cNvSpPr>
            <a:spLocks noGrp="1"/>
          </p:cNvSpPr>
          <p:nvPr/>
        </p:nvSpPr>
        <p:spPr>
          <a:xfrm>
            <a:off x="5029200" y="5276850"/>
            <a:ext cx="1352550" cy="208988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777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471AE2E-8778-48C6-8FD0-9F9B08B4A19D}"/>
              </a:ext>
            </a:extLst>
          </p:cNvPr>
          <p:cNvSpPr>
            <a:spLocks noGrp="1"/>
          </p:cNvSpPr>
          <p:nvPr/>
        </p:nvSpPr>
        <p:spPr>
          <a:xfrm>
            <a:off x="6496050" y="5276850"/>
            <a:ext cx="15430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764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02E7C07-24BB-4F69-ADFB-BEC184D78DCF}"/>
              </a:ext>
            </a:extLst>
          </p:cNvPr>
          <p:cNvSpPr>
            <a:spLocks noGrp="1"/>
          </p:cNvSpPr>
          <p:nvPr/>
        </p:nvSpPr>
        <p:spPr>
          <a:xfrm>
            <a:off x="838200" y="556260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FBF6755-898F-4C2E-85B0-DFA37DBDDE7F}"/>
              </a:ext>
            </a:extLst>
          </p:cNvPr>
          <p:cNvSpPr>
            <a:spLocks noGrp="1"/>
          </p:cNvSpPr>
          <p:nvPr/>
        </p:nvSpPr>
        <p:spPr>
          <a:xfrm>
            <a:off x="838200" y="5715000"/>
            <a:ext cx="1143000" cy="19946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2400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909040-A34E-465A-8CBE-771A81CCC216}"/>
              </a:ext>
            </a:extLst>
          </p:cNvPr>
          <p:cNvSpPr>
            <a:spLocks noGrp="1"/>
          </p:cNvSpPr>
          <p:nvPr/>
        </p:nvSpPr>
        <p:spPr>
          <a:xfrm>
            <a:off x="2095500" y="5714999"/>
            <a:ext cx="1352550" cy="22859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1401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9987679-F9DA-4A34-A9A9-B58765B7964E}"/>
              </a:ext>
            </a:extLst>
          </p:cNvPr>
          <p:cNvSpPr>
            <a:spLocks noGrp="1"/>
          </p:cNvSpPr>
          <p:nvPr/>
        </p:nvSpPr>
        <p:spPr>
          <a:xfrm>
            <a:off x="3562350" y="5715000"/>
            <a:ext cx="1352550" cy="199462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1381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A6BD6A3-4A18-4521-8BE2-CE4A345393ED}"/>
              </a:ext>
            </a:extLst>
          </p:cNvPr>
          <p:cNvSpPr>
            <a:spLocks noGrp="1"/>
          </p:cNvSpPr>
          <p:nvPr/>
        </p:nvSpPr>
        <p:spPr>
          <a:xfrm>
            <a:off x="5029200" y="5714999"/>
            <a:ext cx="1352550" cy="19946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1404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67DB453-ED31-4B33-94E8-AB49CDFA75DA}"/>
              </a:ext>
            </a:extLst>
          </p:cNvPr>
          <p:cNvSpPr>
            <a:spLocks noGrp="1"/>
          </p:cNvSpPr>
          <p:nvPr/>
        </p:nvSpPr>
        <p:spPr>
          <a:xfrm>
            <a:off x="6496050" y="5715000"/>
            <a:ext cx="1543050" cy="20170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1394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21B230E-1C14-4D6C-8742-EE57228423B5}"/>
              </a:ext>
            </a:extLst>
          </p:cNvPr>
          <p:cNvSpPr>
            <a:spLocks noGrp="1"/>
          </p:cNvSpPr>
          <p:nvPr/>
        </p:nvSpPr>
        <p:spPr>
          <a:xfrm>
            <a:off x="9353550" y="3009900"/>
            <a:ext cx="81153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1C1713"/>
                </a:solidFill>
              </a:defRPr>
            </a:pPr>
            <a:r>
              <a:rPr sz="1800" b="1">
                <a:solidFill>
                  <a:srgbClr val="1C1713"/>
                </a:solidFill>
              </a:rPr>
              <a:t>Операции, calls + swaps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47EFD4B-9FD7-43C1-8A36-548587A7A838}"/>
              </a:ext>
            </a:extLst>
          </p:cNvPr>
          <p:cNvSpPr>
            <a:spLocks noGrp="1"/>
          </p:cNvSpPr>
          <p:nvPr/>
        </p:nvSpPr>
        <p:spPr>
          <a:xfrm>
            <a:off x="9353550" y="3333750"/>
            <a:ext cx="1714500" cy="2857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1674E6-9CD9-4170-BF6C-6E8F0161961E}"/>
              </a:ext>
            </a:extLst>
          </p:cNvPr>
          <p:cNvSpPr>
            <a:spLocks noGrp="1"/>
          </p:cNvSpPr>
          <p:nvPr/>
        </p:nvSpPr>
        <p:spPr>
          <a:xfrm>
            <a:off x="9353550" y="3486150"/>
            <a:ext cx="114300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069F5A1-C0A9-4C13-B985-946BED4288BF}"/>
              </a:ext>
            </a:extLst>
          </p:cNvPr>
          <p:cNvSpPr>
            <a:spLocks noGrp="1"/>
          </p:cNvSpPr>
          <p:nvPr/>
        </p:nvSpPr>
        <p:spPr>
          <a:xfrm>
            <a:off x="10610850" y="34861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случ.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9B6E947-8F15-43AD-A30A-41359747D68E}"/>
              </a:ext>
            </a:extLst>
          </p:cNvPr>
          <p:cNvSpPr>
            <a:spLocks noGrp="1"/>
          </p:cNvSpPr>
          <p:nvPr/>
        </p:nvSpPr>
        <p:spPr>
          <a:xfrm>
            <a:off x="12077700" y="34861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сорт.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1714FD-0B74-46D7-A1D3-9E6D709C0260}"/>
              </a:ext>
            </a:extLst>
          </p:cNvPr>
          <p:cNvSpPr>
            <a:spLocks noGrp="1"/>
          </p:cNvSpPr>
          <p:nvPr/>
        </p:nvSpPr>
        <p:spPr>
          <a:xfrm>
            <a:off x="13544550" y="34861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обр.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3028870-8A3A-4412-AAA9-5291303A59FD}"/>
              </a:ext>
            </a:extLst>
          </p:cNvPr>
          <p:cNvSpPr>
            <a:spLocks noGrp="1"/>
          </p:cNvSpPr>
          <p:nvPr/>
        </p:nvSpPr>
        <p:spPr>
          <a:xfrm>
            <a:off x="15011400" y="348615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почти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78B0E25-53F9-4E72-AF47-893EDEFE87D4}"/>
              </a:ext>
            </a:extLst>
          </p:cNvPr>
          <p:cNvSpPr>
            <a:spLocks noGrp="1"/>
          </p:cNvSpPr>
          <p:nvPr/>
        </p:nvSpPr>
        <p:spPr>
          <a:xfrm>
            <a:off x="9353550" y="3810000"/>
            <a:ext cx="8115300" cy="19050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A02DE2E-6D11-466B-801D-3532B8540FCB}"/>
              </a:ext>
            </a:extLst>
          </p:cNvPr>
          <p:cNvSpPr>
            <a:spLocks noGrp="1"/>
          </p:cNvSpPr>
          <p:nvPr/>
        </p:nvSpPr>
        <p:spPr>
          <a:xfrm>
            <a:off x="9353550" y="3962400"/>
            <a:ext cx="114300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100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AD89ED3-047C-4061-B19F-9A443D5001FA}"/>
              </a:ext>
            </a:extLst>
          </p:cNvPr>
          <p:cNvSpPr>
            <a:spLocks noGrp="1"/>
          </p:cNvSpPr>
          <p:nvPr/>
        </p:nvSpPr>
        <p:spPr>
          <a:xfrm>
            <a:off x="10610850" y="3962400"/>
            <a:ext cx="1352550" cy="2095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268.1K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82DEBF9-E57D-41FB-B330-73971C1180AD}"/>
              </a:ext>
            </a:extLst>
          </p:cNvPr>
          <p:cNvSpPr>
            <a:spLocks noGrp="1"/>
          </p:cNvSpPr>
          <p:nvPr/>
        </p:nvSpPr>
        <p:spPr>
          <a:xfrm>
            <a:off x="12077700" y="3962399"/>
            <a:ext cx="1352550" cy="20954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265.7K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32CF2A7-C822-4268-B30C-28EF8670CF1F}"/>
              </a:ext>
            </a:extLst>
          </p:cNvPr>
          <p:cNvSpPr>
            <a:spLocks noGrp="1"/>
          </p:cNvSpPr>
          <p:nvPr/>
        </p:nvSpPr>
        <p:spPr>
          <a:xfrm>
            <a:off x="13544550" y="3962400"/>
            <a:ext cx="1352550" cy="20002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270.3K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C6ECF20-B57D-48BF-8FEF-953920778C8C}"/>
              </a:ext>
            </a:extLst>
          </p:cNvPr>
          <p:cNvSpPr>
            <a:spLocks noGrp="1"/>
          </p:cNvSpPr>
          <p:nvPr/>
        </p:nvSpPr>
        <p:spPr>
          <a:xfrm>
            <a:off x="15011400" y="396240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265.8K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61B7BC43-CEDD-401B-AC55-AC804A57CB10}"/>
              </a:ext>
            </a:extLst>
          </p:cNvPr>
          <p:cNvSpPr>
            <a:spLocks noGrp="1"/>
          </p:cNvSpPr>
          <p:nvPr/>
        </p:nvSpPr>
        <p:spPr>
          <a:xfrm>
            <a:off x="9353550" y="424815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B409543-A5E0-4A5C-BAE9-B37F94857FCF}"/>
              </a:ext>
            </a:extLst>
          </p:cNvPr>
          <p:cNvSpPr>
            <a:spLocks noGrp="1"/>
          </p:cNvSpPr>
          <p:nvPr/>
        </p:nvSpPr>
        <p:spPr>
          <a:xfrm>
            <a:off x="9353550" y="4400550"/>
            <a:ext cx="11430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500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AB44C5E-BD5F-4393-BE70-C86265CEC8A1}"/>
              </a:ext>
            </a:extLst>
          </p:cNvPr>
          <p:cNvSpPr>
            <a:spLocks noGrp="1"/>
          </p:cNvSpPr>
          <p:nvPr/>
        </p:nvSpPr>
        <p:spPr>
          <a:xfrm>
            <a:off x="10610850" y="440055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21.584M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2BB774-582F-484E-A61E-8D4F6033A87C}"/>
              </a:ext>
            </a:extLst>
          </p:cNvPr>
          <p:cNvSpPr>
            <a:spLocks noGrp="1"/>
          </p:cNvSpPr>
          <p:nvPr/>
        </p:nvSpPr>
        <p:spPr>
          <a:xfrm>
            <a:off x="12077700" y="4400550"/>
            <a:ext cx="1352550" cy="200026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21.523M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662A5D8-6D09-49FF-A95B-BFECB49E1329}"/>
              </a:ext>
            </a:extLst>
          </p:cNvPr>
          <p:cNvSpPr>
            <a:spLocks noGrp="1"/>
          </p:cNvSpPr>
          <p:nvPr/>
        </p:nvSpPr>
        <p:spPr>
          <a:xfrm>
            <a:off x="13544550" y="4400550"/>
            <a:ext cx="135255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21.645M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2E57B47D-5818-4EBE-B3A0-CC4E580576BD}"/>
              </a:ext>
            </a:extLst>
          </p:cNvPr>
          <p:cNvSpPr>
            <a:spLocks noGrp="1"/>
          </p:cNvSpPr>
          <p:nvPr/>
        </p:nvSpPr>
        <p:spPr>
          <a:xfrm>
            <a:off x="15011400" y="4400550"/>
            <a:ext cx="15430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21.526M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87AEE02-817B-4816-B569-FBA1F3DF9B52}"/>
              </a:ext>
            </a:extLst>
          </p:cNvPr>
          <p:cNvSpPr>
            <a:spLocks noGrp="1"/>
          </p:cNvSpPr>
          <p:nvPr/>
        </p:nvSpPr>
        <p:spPr>
          <a:xfrm>
            <a:off x="9353550" y="468630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54D98DF-C539-457C-BD0B-37B63E646999}"/>
              </a:ext>
            </a:extLst>
          </p:cNvPr>
          <p:cNvSpPr>
            <a:spLocks noGrp="1"/>
          </p:cNvSpPr>
          <p:nvPr/>
        </p:nvSpPr>
        <p:spPr>
          <a:xfrm>
            <a:off x="9353550" y="4838699"/>
            <a:ext cx="1143000" cy="19050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800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EB769CB-78ED-4340-8A95-F49D921C98A2}"/>
              </a:ext>
            </a:extLst>
          </p:cNvPr>
          <p:cNvSpPr>
            <a:spLocks noGrp="1"/>
          </p:cNvSpPr>
          <p:nvPr/>
        </p:nvSpPr>
        <p:spPr>
          <a:xfrm>
            <a:off x="10610850" y="4838700"/>
            <a:ext cx="13525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64.727M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C793969-BDA7-4F15-A2B9-6ED2BABA82ED}"/>
              </a:ext>
            </a:extLst>
          </p:cNvPr>
          <p:cNvSpPr>
            <a:spLocks noGrp="1"/>
          </p:cNvSpPr>
          <p:nvPr/>
        </p:nvSpPr>
        <p:spPr>
          <a:xfrm>
            <a:off x="12077700" y="4838700"/>
            <a:ext cx="13525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64.570M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BD2B4B9-43EE-4376-9A84-FA83A95F490F}"/>
              </a:ext>
            </a:extLst>
          </p:cNvPr>
          <p:cNvSpPr>
            <a:spLocks noGrp="1"/>
          </p:cNvSpPr>
          <p:nvPr/>
        </p:nvSpPr>
        <p:spPr>
          <a:xfrm>
            <a:off x="13544550" y="4838700"/>
            <a:ext cx="13525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64.885M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4CA26D9-EEB5-4994-9AB0-A2C1A696CE3B}"/>
              </a:ext>
            </a:extLst>
          </p:cNvPr>
          <p:cNvSpPr>
            <a:spLocks noGrp="1"/>
          </p:cNvSpPr>
          <p:nvPr/>
        </p:nvSpPr>
        <p:spPr>
          <a:xfrm>
            <a:off x="15011400" y="4838700"/>
            <a:ext cx="1543050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64.578M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1150034-4382-493B-A6BA-151233F7BD09}"/>
              </a:ext>
            </a:extLst>
          </p:cNvPr>
          <p:cNvSpPr>
            <a:spLocks noGrp="1"/>
          </p:cNvSpPr>
          <p:nvPr/>
        </p:nvSpPr>
        <p:spPr>
          <a:xfrm>
            <a:off x="9353550" y="512445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2F91209-2015-4020-A55B-2C21A01E0190}"/>
              </a:ext>
            </a:extLst>
          </p:cNvPr>
          <p:cNvSpPr>
            <a:spLocks noGrp="1"/>
          </p:cNvSpPr>
          <p:nvPr/>
        </p:nvSpPr>
        <p:spPr>
          <a:xfrm>
            <a:off x="9353550" y="5276849"/>
            <a:ext cx="1143000" cy="20955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1600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EB2B19F-8293-4016-B375-402F9212D9AF}"/>
              </a:ext>
            </a:extLst>
          </p:cNvPr>
          <p:cNvSpPr>
            <a:spLocks noGrp="1"/>
          </p:cNvSpPr>
          <p:nvPr/>
        </p:nvSpPr>
        <p:spPr>
          <a:xfrm>
            <a:off x="10610850" y="5276850"/>
            <a:ext cx="13525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581.760M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73018E9-C7C8-4FEA-A5C4-69C1EFCD1BC7}"/>
              </a:ext>
            </a:extLst>
          </p:cNvPr>
          <p:cNvSpPr>
            <a:spLocks noGrp="1"/>
          </p:cNvSpPr>
          <p:nvPr/>
        </p:nvSpPr>
        <p:spPr>
          <a:xfrm>
            <a:off x="12077700" y="5276850"/>
            <a:ext cx="13525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581.131M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EFD486D9-D813-4BC9-A5D0-48E810D99217}"/>
              </a:ext>
            </a:extLst>
          </p:cNvPr>
          <p:cNvSpPr>
            <a:spLocks noGrp="1"/>
          </p:cNvSpPr>
          <p:nvPr/>
        </p:nvSpPr>
        <p:spPr>
          <a:xfrm>
            <a:off x="13544550" y="5276850"/>
            <a:ext cx="1352550" cy="218514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582.399M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85AEA47-ED62-49FE-8F72-72BA21EAAABB}"/>
              </a:ext>
            </a:extLst>
          </p:cNvPr>
          <p:cNvSpPr>
            <a:spLocks noGrp="1"/>
          </p:cNvSpPr>
          <p:nvPr/>
        </p:nvSpPr>
        <p:spPr>
          <a:xfrm>
            <a:off x="15011400" y="5276849"/>
            <a:ext cx="1543050" cy="21851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581.270M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59DE660-E87F-43AC-B4D8-4BF2AAAC79E6}"/>
              </a:ext>
            </a:extLst>
          </p:cNvPr>
          <p:cNvSpPr>
            <a:spLocks noGrp="1"/>
          </p:cNvSpPr>
          <p:nvPr/>
        </p:nvSpPr>
        <p:spPr>
          <a:xfrm>
            <a:off x="9353550" y="5562600"/>
            <a:ext cx="8115300" cy="9525"/>
          </a:xfrm>
          <a:prstGeom prst="rect">
            <a:avLst/>
          </a:prstGeom>
          <a:solidFill>
            <a:srgbClr val="D9CEC1"/>
          </a:solidFill>
          <a:ln w="0">
            <a:solidFill>
              <a:srgbClr val="D9CEC1"/>
            </a:solidFill>
            <a:prstDash val="solid"/>
          </a:ln>
        </p:spPr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518E40A-5D41-43D1-82B2-7ECEB5B28CC2}"/>
              </a:ext>
            </a:extLst>
          </p:cNvPr>
          <p:cNvSpPr>
            <a:spLocks noGrp="1"/>
          </p:cNvSpPr>
          <p:nvPr/>
        </p:nvSpPr>
        <p:spPr>
          <a:xfrm>
            <a:off x="9353550" y="5715000"/>
            <a:ext cx="1143000" cy="152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>
                <a:solidFill>
                  <a:srgbClr val="1C1713"/>
                </a:solidFill>
              </a:rPr>
              <a:t>2400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2D4C12-802D-4A66-A272-FA819C91FAEA}"/>
              </a:ext>
            </a:extLst>
          </p:cNvPr>
          <p:cNvSpPr>
            <a:spLocks noGrp="1"/>
          </p:cNvSpPr>
          <p:nvPr/>
        </p:nvSpPr>
        <p:spPr>
          <a:xfrm>
            <a:off x="10610850" y="5714999"/>
            <a:ext cx="1352550" cy="20002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1.745B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CFA737FD-44BD-4951-80E3-8D348D8DE6DC}"/>
              </a:ext>
            </a:extLst>
          </p:cNvPr>
          <p:cNvSpPr>
            <a:spLocks noGrp="1"/>
          </p:cNvSpPr>
          <p:nvPr/>
        </p:nvSpPr>
        <p:spPr>
          <a:xfrm>
            <a:off x="12077700" y="5715000"/>
            <a:ext cx="1352550" cy="20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1.743B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787318-967B-4CE0-9866-F73E4CE5716E}"/>
              </a:ext>
            </a:extLst>
          </p:cNvPr>
          <p:cNvSpPr>
            <a:spLocks noGrp="1"/>
          </p:cNvSpPr>
          <p:nvPr/>
        </p:nvSpPr>
        <p:spPr>
          <a:xfrm>
            <a:off x="13544550" y="5714999"/>
            <a:ext cx="1352550" cy="19049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1.746B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785AED7-1AD0-4516-9F0E-04B551332903}"/>
              </a:ext>
            </a:extLst>
          </p:cNvPr>
          <p:cNvSpPr>
            <a:spLocks noGrp="1"/>
          </p:cNvSpPr>
          <p:nvPr/>
        </p:nvSpPr>
        <p:spPr>
          <a:xfrm>
            <a:off x="15011400" y="5715000"/>
            <a:ext cx="1543050" cy="20002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275" b="0">
                <a:solidFill>
                  <a:srgbClr val="1C1713"/>
                </a:solidFill>
              </a:defRPr>
            </a:pPr>
            <a:r>
              <a:rPr sz="1275" b="0" dirty="0">
                <a:solidFill>
                  <a:srgbClr val="1C1713"/>
                </a:solidFill>
              </a:rPr>
              <a:t>1.744B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B7006D8-FE2E-4537-B0D5-E0223F795BD4}"/>
              </a:ext>
            </a:extLst>
          </p:cNvPr>
          <p:cNvSpPr>
            <a:spLocks noGrp="1"/>
          </p:cNvSpPr>
          <p:nvPr/>
        </p:nvSpPr>
        <p:spPr>
          <a:xfrm>
            <a:off x="838200" y="6095999"/>
            <a:ext cx="8115300" cy="419099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25B54"/>
                </a:solidFill>
              </a:defRPr>
            </a:pPr>
            <a:r>
              <a:rPr sz="1350" dirty="0" err="1">
                <a:solidFill>
                  <a:srgbClr val="625B54"/>
                </a:solidFill>
              </a:rPr>
              <a:t>Полный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набор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из</a:t>
            </a:r>
            <a:r>
              <a:rPr sz="1350" dirty="0">
                <a:solidFill>
                  <a:srgbClr val="625B54"/>
                </a:solidFill>
              </a:rPr>
              <a:t> 100 </a:t>
            </a:r>
            <a:r>
              <a:rPr sz="1350" dirty="0" err="1">
                <a:solidFill>
                  <a:srgbClr val="625B54"/>
                </a:solidFill>
              </a:rPr>
              <a:t>измерений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сохранён</a:t>
            </a:r>
            <a:r>
              <a:rPr sz="1350" dirty="0">
                <a:solidFill>
                  <a:srgbClr val="625B54"/>
                </a:solidFill>
              </a:rPr>
              <a:t> в results</a:t>
            </a:r>
            <a:r>
              <a:rPr lang="en-US" sz="1350" dirty="0">
                <a:solidFill>
                  <a:srgbClr val="625B54"/>
                </a:solidFill>
              </a:rPr>
              <a:t>_getted</a:t>
            </a:r>
            <a:r>
              <a:rPr sz="1350" dirty="0">
                <a:solidFill>
                  <a:srgbClr val="625B54"/>
                </a:solidFill>
              </a:rPr>
              <a:t>.xlsx</a:t>
            </a:r>
            <a:r>
              <a:rPr lang="en-US" sz="1350" dirty="0">
                <a:solidFill>
                  <a:srgbClr val="625B54"/>
                </a:solidFill>
              </a:rPr>
              <a:t>,</a:t>
            </a:r>
            <a:r>
              <a:rPr lang="ru-RU" sz="1350" dirty="0">
                <a:solidFill>
                  <a:srgbClr val="625B54"/>
                </a:solidFill>
              </a:rPr>
              <a:t> можно будет посмотреть в репозитории на </a:t>
            </a:r>
            <a:r>
              <a:rPr lang="en-US" sz="1350" dirty="0" err="1">
                <a:solidFill>
                  <a:srgbClr val="625B54"/>
                </a:solidFill>
              </a:rPr>
              <a:t>github</a:t>
            </a:r>
            <a:r>
              <a:rPr sz="1350" dirty="0">
                <a:solidFill>
                  <a:srgbClr val="625B54"/>
                </a:solidFill>
              </a:rPr>
              <a:t>; </a:t>
            </a:r>
            <a:r>
              <a:rPr sz="1350" dirty="0" err="1">
                <a:solidFill>
                  <a:srgbClr val="625B54"/>
                </a:solidFill>
              </a:rPr>
              <a:t>на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слайде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оставлены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только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lang="ru-RU" sz="1350" dirty="0">
                <a:solidFill>
                  <a:srgbClr val="625B54"/>
                </a:solidFill>
              </a:rPr>
              <a:t>ключевые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точки</a:t>
            </a:r>
            <a:endParaRPr sz="1350" dirty="0">
              <a:solidFill>
                <a:srgbClr val="625B54"/>
              </a:solidFill>
            </a:endParaRPr>
          </a:p>
        </p:txBody>
      </p:sp>
      <p:sp>
        <p:nvSpPr>
          <p:cNvPr id="80" name="source">
            <a:extLst>
              <a:ext uri="{FF2B5EF4-FFF2-40B4-BE49-F238E27FC236}">
                <a16:creationId xmlns:a16="http://schemas.microsoft.com/office/drawing/2014/main" id="{B3535FC0-5CC2-48B1-AE29-BF45B3F83628}"/>
              </a:ext>
            </a:extLst>
          </p:cNvPr>
          <p:cNvSpPr>
            <a:spLocks noGrp="1"/>
          </p:cNvSpPr>
          <p:nvPr/>
        </p:nvSpPr>
        <p:spPr>
          <a:xfrm>
            <a:off x="838200" y="9372600"/>
            <a:ext cx="348615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sz="900" dirty="0" err="1">
                <a:solidFill>
                  <a:srgbClr val="625B54"/>
                </a:solidFill>
              </a:rPr>
              <a:t>Источник</a:t>
            </a:r>
            <a:r>
              <a:rPr sz="900" dirty="0">
                <a:solidFill>
                  <a:srgbClr val="625B54"/>
                </a:solidFill>
              </a:rPr>
              <a:t>: results</a:t>
            </a:r>
            <a:r>
              <a:rPr lang="en-US" sz="900" dirty="0">
                <a:solidFill>
                  <a:srgbClr val="625B54"/>
                </a:solidFill>
              </a:rPr>
              <a:t>_getted</a:t>
            </a:r>
            <a:r>
              <a:rPr sz="900" dirty="0">
                <a:solidFill>
                  <a:srgbClr val="625B54"/>
                </a:solidFill>
              </a:rPr>
              <a:t>.xlsx</a:t>
            </a:r>
          </a:p>
        </p:txBody>
      </p:sp>
    </p:spTree>
    <p:extLst>
      <p:ext uri="{BB962C8B-B14F-4D97-AF65-F5344CB8AC3E}">
        <p14:creationId xmlns:p14="http://schemas.microsoft.com/office/powerpoint/2010/main" val="1407798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>
            <a:extLst>
              <a:ext uri="{FF2B5EF4-FFF2-40B4-BE49-F238E27FC236}">
                <a16:creationId xmlns:a16="http://schemas.microsoft.com/office/drawing/2014/main" id="{1D31D0F8-C176-49F1-837D-574E8A604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35BE3216-A51A-4FDD-9455-A7087443F07A}"/>
              </a:ext>
            </a:extLst>
          </p:cNvPr>
          <p:cNvSpPr>
            <a:spLocks noGrp="1"/>
          </p:cNvSpPr>
          <p:nvPr/>
        </p:nvSpPr>
        <p:spPr>
          <a:xfrm>
            <a:off x="838200" y="566177"/>
            <a:ext cx="4362450" cy="5143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Время</a:t>
            </a:r>
            <a:r>
              <a:rPr sz="4050" b="1" dirty="0">
                <a:solidFill>
                  <a:srgbClr val="1C1713"/>
                </a:solidFill>
              </a:rPr>
              <a:t> </a:t>
            </a:r>
            <a:r>
              <a:rPr sz="4050" b="1" dirty="0" err="1">
                <a:solidFill>
                  <a:srgbClr val="1C1713"/>
                </a:solidFill>
              </a:rPr>
              <a:t>выполнения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8F3FC36A-E547-49FE-84DC-4444A5B737D5}"/>
              </a:ext>
            </a:extLst>
          </p:cNvPr>
          <p:cNvSpPr>
            <a:spLocks noGrp="1"/>
          </p:cNvSpPr>
          <p:nvPr/>
        </p:nvSpPr>
        <p:spPr>
          <a:xfrm>
            <a:off x="838200" y="1268226"/>
            <a:ext cx="104965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>
                <a:solidFill>
                  <a:srgbClr val="625B54"/>
                </a:solidFill>
              </a:rPr>
              <a:t>У </a:t>
            </a:r>
            <a:r>
              <a:rPr sz="1800" dirty="0" err="1">
                <a:solidFill>
                  <a:srgbClr val="625B54"/>
                </a:solidFill>
              </a:rPr>
              <a:t>всех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четырёх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типов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входа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форма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роста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почти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совпадает</a:t>
            </a:r>
            <a:r>
              <a:rPr sz="1800" dirty="0">
                <a:solidFill>
                  <a:srgbClr val="625B54"/>
                </a:solidFill>
              </a:rPr>
              <a:t>: </a:t>
            </a:r>
            <a:r>
              <a:rPr sz="1800" dirty="0" err="1">
                <a:solidFill>
                  <a:srgbClr val="625B54"/>
                </a:solidFill>
              </a:rPr>
              <a:t>различается</a:t>
            </a:r>
            <a:r>
              <a:rPr sz="1800" dirty="0">
                <a:solidFill>
                  <a:srgbClr val="625B54"/>
                </a:solidFill>
              </a:rPr>
              <a:t> в </a:t>
            </a:r>
            <a:r>
              <a:rPr sz="1800" dirty="0" err="1">
                <a:solidFill>
                  <a:srgbClr val="625B54"/>
                </a:solidFill>
              </a:rPr>
              <a:t>основном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постоянный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множитель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B1305250-4C19-4012-B6FA-5644D19B4198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095500" cy="38100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graphicFrame>
        <p:nvGraphicFramePr>
          <p:cNvPr id="5" name="time-chart"/>
          <p:cNvGraphicFramePr/>
          <p:nvPr>
            <p:extLst>
              <p:ext uri="{D42A27DB-BD31-4B8C-83A1-F6EECF244321}">
                <p14:modId xmlns:p14="http://schemas.microsoft.com/office/powerpoint/2010/main" val="3284088980"/>
              </p:ext>
            </p:extLst>
          </p:nvPr>
        </p:nvGraphicFramePr>
        <p:xfrm>
          <a:off x="838200" y="2266950"/>
          <a:ext cx="15430500" cy="590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207E6424-CC97-4041-A227-110895CB876C}"/>
              </a:ext>
            </a:extLst>
          </p:cNvPr>
          <p:cNvSpPr>
            <a:spLocks noGrp="1"/>
          </p:cNvSpPr>
          <p:nvPr/>
        </p:nvSpPr>
        <p:spPr>
          <a:xfrm>
            <a:off x="838200" y="8401049"/>
            <a:ext cx="13296900" cy="49810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25B54"/>
                </a:solidFill>
              </a:defRPr>
            </a:pPr>
            <a:r>
              <a:rPr sz="1350" dirty="0" err="1">
                <a:solidFill>
                  <a:srgbClr val="625B54"/>
                </a:solidFill>
              </a:rPr>
              <a:t>После</a:t>
            </a:r>
            <a:r>
              <a:rPr sz="1350" dirty="0">
                <a:solidFill>
                  <a:srgbClr val="625B54"/>
                </a:solidFill>
              </a:rPr>
              <a:t> 1600 </a:t>
            </a:r>
            <a:r>
              <a:rPr sz="1350" dirty="0" err="1">
                <a:solidFill>
                  <a:srgbClr val="625B54"/>
                </a:solidFill>
              </a:rPr>
              <a:t>элементов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один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прогон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уже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стоит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примерно</a:t>
            </a:r>
            <a:r>
              <a:rPr sz="1350" dirty="0">
                <a:solidFill>
                  <a:srgbClr val="625B54"/>
                </a:solidFill>
              </a:rPr>
              <a:t> 0.76-0.80 с, а к 2400-2500 </a:t>
            </a:r>
            <a:r>
              <a:rPr sz="1350" dirty="0" err="1">
                <a:solidFill>
                  <a:srgbClr val="625B54"/>
                </a:solidFill>
              </a:rPr>
              <a:t>достигает</a:t>
            </a:r>
            <a:r>
              <a:rPr sz="1350" dirty="0">
                <a:solidFill>
                  <a:srgbClr val="625B54"/>
                </a:solidFill>
              </a:rPr>
              <a:t> 1.37-1.41 с. </a:t>
            </a:r>
            <a:r>
              <a:rPr sz="1350" dirty="0" err="1">
                <a:solidFill>
                  <a:srgbClr val="625B54"/>
                </a:solidFill>
              </a:rPr>
              <a:t>Поэтому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диапазон</a:t>
            </a:r>
            <a:r>
              <a:rPr sz="1350" dirty="0">
                <a:solidFill>
                  <a:srgbClr val="625B54"/>
                </a:solidFill>
              </a:rPr>
              <a:t> 100..2500 </a:t>
            </a:r>
            <a:r>
              <a:rPr sz="1350" dirty="0" err="1">
                <a:solidFill>
                  <a:srgbClr val="625B54"/>
                </a:solidFill>
              </a:rPr>
              <a:t>оказался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достаточным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для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демонстрации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роста</a:t>
            </a:r>
            <a:r>
              <a:rPr sz="135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35CDC54A-FFC7-4989-ACCC-90A4D95EA965}"/>
              </a:ext>
            </a:extLst>
          </p:cNvPr>
          <p:cNvSpPr>
            <a:spLocks noGrp="1"/>
          </p:cNvSpPr>
          <p:nvPr/>
        </p:nvSpPr>
        <p:spPr>
          <a:xfrm>
            <a:off x="838200" y="9429749"/>
            <a:ext cx="2960914" cy="291073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sz="900" dirty="0" err="1">
                <a:solidFill>
                  <a:srgbClr val="625B54"/>
                </a:solidFill>
              </a:rPr>
              <a:t>Источник</a:t>
            </a:r>
            <a:r>
              <a:rPr sz="900" dirty="0">
                <a:solidFill>
                  <a:srgbClr val="625B54"/>
                </a:solidFill>
              </a:rPr>
              <a:t>: </a:t>
            </a:r>
            <a:r>
              <a:rPr sz="900" dirty="0" err="1">
                <a:solidFill>
                  <a:srgbClr val="625B54"/>
                </a:solidFill>
              </a:rPr>
              <a:t>собственные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замеры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времени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из</a:t>
            </a:r>
            <a:r>
              <a:rPr sz="900" dirty="0">
                <a:solidFill>
                  <a:srgbClr val="625B54"/>
                </a:solidFill>
              </a:rPr>
              <a:t> results</a:t>
            </a:r>
            <a:r>
              <a:rPr lang="ru-RU" sz="900" dirty="0">
                <a:solidFill>
                  <a:srgbClr val="625B54"/>
                </a:solidFill>
              </a:rPr>
              <a:t>_</a:t>
            </a:r>
            <a:r>
              <a:rPr lang="en-US" sz="900" dirty="0">
                <a:solidFill>
                  <a:srgbClr val="625B54"/>
                </a:solidFill>
              </a:rPr>
              <a:t>getted</a:t>
            </a:r>
            <a:r>
              <a:rPr sz="900" dirty="0">
                <a:solidFill>
                  <a:srgbClr val="625B54"/>
                </a:solidFill>
              </a:rPr>
              <a:t>.xlsx.</a:t>
            </a:r>
          </a:p>
        </p:txBody>
      </p:sp>
    </p:spTree>
    <p:extLst>
      <p:ext uri="{BB962C8B-B14F-4D97-AF65-F5344CB8AC3E}">
        <p14:creationId xmlns:p14="http://schemas.microsoft.com/office/powerpoint/2010/main" val="611652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g">
            <a:extLst>
              <a:ext uri="{FF2B5EF4-FFF2-40B4-BE49-F238E27FC236}">
                <a16:creationId xmlns:a16="http://schemas.microsoft.com/office/drawing/2014/main" id="{2CF5D65C-A86A-40CD-891D-5DD24DE4E00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2A026880-6834-4B44-A347-EB7C54DD3B82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365760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>
                <a:solidFill>
                  <a:srgbClr val="1C1713"/>
                </a:solidFill>
              </a:rPr>
              <a:t>Число операций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5BB1A0FC-0B57-4AE6-B07A-8B19A8C6286A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10740992" cy="266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 err="1">
                <a:solidFill>
                  <a:srgbClr val="625B54"/>
                </a:solidFill>
              </a:rPr>
              <a:t>Главный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вклад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даёт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рекурсивная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структура</a:t>
            </a:r>
            <a:r>
              <a:rPr sz="1800" dirty="0">
                <a:solidFill>
                  <a:srgbClr val="625B54"/>
                </a:solidFill>
              </a:rPr>
              <a:t>. </a:t>
            </a:r>
            <a:r>
              <a:rPr sz="1800" dirty="0" err="1">
                <a:solidFill>
                  <a:srgbClr val="625B54"/>
                </a:solidFill>
              </a:rPr>
              <a:t>Разница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между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типами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входа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заметна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но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намного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меньше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общего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роста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</a:t>
            </a:r>
            <a:r>
              <a:rPr sz="1800" dirty="0">
                <a:solidFill>
                  <a:srgbClr val="625B54"/>
                </a:solidFill>
              </a:rPr>
              <a:t> n.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C9DBFAB2-2401-452A-BB47-C65938A1129A}"/>
              </a:ext>
            </a:extLst>
          </p:cNvPr>
          <p:cNvSpPr>
            <a:spLocks noGrp="1"/>
          </p:cNvSpPr>
          <p:nvPr/>
        </p:nvSpPr>
        <p:spPr>
          <a:xfrm>
            <a:off x="838200" y="24765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graphicFrame>
        <p:nvGraphicFramePr>
          <p:cNvPr id="5" name="operations-chart"/>
          <p:cNvGraphicFramePr/>
          <p:nvPr>
            <p:extLst>
              <p:ext uri="{D42A27DB-BD31-4B8C-83A1-F6EECF244321}">
                <p14:modId xmlns:p14="http://schemas.microsoft.com/office/powerpoint/2010/main" val="3281108866"/>
              </p:ext>
            </p:extLst>
          </p:nvPr>
        </p:nvGraphicFramePr>
        <p:xfrm>
          <a:off x="838200" y="2781300"/>
          <a:ext cx="15430500" cy="5905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DF1756F-B063-4C85-ACBF-41D7A7F8CAAA}"/>
              </a:ext>
            </a:extLst>
          </p:cNvPr>
          <p:cNvSpPr>
            <a:spLocks noGrp="1"/>
          </p:cNvSpPr>
          <p:nvPr/>
        </p:nvSpPr>
        <p:spPr>
          <a:xfrm>
            <a:off x="838200" y="8915400"/>
            <a:ext cx="1249680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>
                <a:solidFill>
                  <a:srgbClr val="625B54"/>
                </a:solidFill>
              </a:defRPr>
            </a:pPr>
            <a:r>
              <a:rPr sz="1350" dirty="0" err="1">
                <a:solidFill>
                  <a:srgbClr val="625B54"/>
                </a:solidFill>
              </a:rPr>
              <a:t>На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размере</a:t>
            </a:r>
            <a:r>
              <a:rPr sz="1350" dirty="0">
                <a:solidFill>
                  <a:srgbClr val="625B54"/>
                </a:solidFill>
              </a:rPr>
              <a:t> 2500 у </a:t>
            </a:r>
            <a:r>
              <a:rPr lang="ru-RU" sz="1350" dirty="0">
                <a:solidFill>
                  <a:srgbClr val="625B54"/>
                </a:solidFill>
              </a:rPr>
              <a:t>перевёрнутого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массива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lang="ru-RU" sz="1350" dirty="0">
                <a:solidFill>
                  <a:srgbClr val="625B54"/>
                </a:solidFill>
              </a:rPr>
              <a:t>свапы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доходят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до</a:t>
            </a:r>
            <a:r>
              <a:rPr sz="1350" dirty="0">
                <a:solidFill>
                  <a:srgbClr val="625B54"/>
                </a:solidFill>
              </a:rPr>
              <a:t> 3.105M, </a:t>
            </a:r>
            <a:r>
              <a:rPr sz="1350" dirty="0" err="1">
                <a:solidFill>
                  <a:srgbClr val="625B54"/>
                </a:solidFill>
              </a:rPr>
              <a:t>но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это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всё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равно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малая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добавка</a:t>
            </a:r>
            <a:r>
              <a:rPr sz="1350" dirty="0">
                <a:solidFill>
                  <a:srgbClr val="625B54"/>
                </a:solidFill>
              </a:rPr>
              <a:t> к 1.746B </a:t>
            </a:r>
            <a:r>
              <a:rPr sz="1350" dirty="0" err="1">
                <a:solidFill>
                  <a:srgbClr val="625B54"/>
                </a:solidFill>
              </a:rPr>
              <a:t>общих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операций</a:t>
            </a:r>
            <a:r>
              <a:rPr sz="1350" dirty="0">
                <a:solidFill>
                  <a:srgbClr val="625B54"/>
                </a:solidFill>
              </a:rPr>
              <a:t>. </a:t>
            </a:r>
            <a:r>
              <a:rPr sz="1350" dirty="0" err="1">
                <a:solidFill>
                  <a:srgbClr val="625B54"/>
                </a:solidFill>
              </a:rPr>
              <a:t>Поэтому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кривые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почти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совпадают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по</a:t>
            </a:r>
            <a:r>
              <a:rPr sz="1350" dirty="0">
                <a:solidFill>
                  <a:srgbClr val="625B54"/>
                </a:solidFill>
              </a:rPr>
              <a:t> </a:t>
            </a:r>
            <a:r>
              <a:rPr sz="1350" dirty="0" err="1">
                <a:solidFill>
                  <a:srgbClr val="625B54"/>
                </a:solidFill>
              </a:rPr>
              <a:t>форме</a:t>
            </a:r>
            <a:r>
              <a:rPr sz="135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7" name="source">
            <a:extLst>
              <a:ext uri="{FF2B5EF4-FFF2-40B4-BE49-F238E27FC236}">
                <a16:creationId xmlns:a16="http://schemas.microsoft.com/office/drawing/2014/main" id="{01FA8365-688D-4046-AA96-A5C431C31A62}"/>
              </a:ext>
            </a:extLst>
          </p:cNvPr>
          <p:cNvSpPr>
            <a:spLocks noGrp="1"/>
          </p:cNvSpPr>
          <p:nvPr/>
        </p:nvSpPr>
        <p:spPr>
          <a:xfrm>
            <a:off x="838200" y="9372600"/>
            <a:ext cx="29718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sz="900" dirty="0" err="1">
                <a:solidFill>
                  <a:srgbClr val="625B54"/>
                </a:solidFill>
              </a:rPr>
              <a:t>Источник</a:t>
            </a:r>
            <a:r>
              <a:rPr sz="900" dirty="0">
                <a:solidFill>
                  <a:srgbClr val="625B54"/>
                </a:solidFill>
              </a:rPr>
              <a:t>: </a:t>
            </a:r>
            <a:r>
              <a:rPr sz="900" dirty="0" err="1">
                <a:solidFill>
                  <a:srgbClr val="625B54"/>
                </a:solidFill>
              </a:rPr>
              <a:t>собственные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измерения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операционного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счётчика</a:t>
            </a:r>
            <a:r>
              <a:rPr sz="900" dirty="0">
                <a:solidFill>
                  <a:srgbClr val="625B5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8789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">
            <a:extLst>
              <a:ext uri="{FF2B5EF4-FFF2-40B4-BE49-F238E27FC236}">
                <a16:creationId xmlns:a16="http://schemas.microsoft.com/office/drawing/2014/main" id="{384A5635-482D-4E46-B123-45230F0836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3AD6989-E4AE-4781-91F2-97B1450FF7EF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130492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>
                <a:solidFill>
                  <a:srgbClr val="1C1713"/>
                </a:solidFill>
              </a:rPr>
              <a:t>Теория против эксперимента: откуда берутся «ступеньки»</a:t>
            </a: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49D81CC7-9839-46F9-A93C-59E4EC7C344A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11982450" cy="5334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>
                <a:solidFill>
                  <a:srgbClr val="625B54"/>
                </a:solidFill>
              </a:rPr>
              <a:t>Stooge Sort </a:t>
            </a:r>
            <a:r>
              <a:rPr sz="1800" dirty="0" err="1">
                <a:solidFill>
                  <a:srgbClr val="625B54"/>
                </a:solidFill>
              </a:rPr>
              <a:t>детерминированный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но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его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точное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число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вызовов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меняется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не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плавно</a:t>
            </a:r>
            <a:r>
              <a:rPr sz="1800" dirty="0">
                <a:solidFill>
                  <a:srgbClr val="625B54"/>
                </a:solidFill>
              </a:rPr>
              <a:t>, а </a:t>
            </a:r>
            <a:r>
              <a:rPr sz="1800" dirty="0" err="1">
                <a:solidFill>
                  <a:srgbClr val="625B54"/>
                </a:solidFill>
              </a:rPr>
              <a:t>скачками</a:t>
            </a:r>
            <a:r>
              <a:rPr sz="1800" dirty="0">
                <a:solidFill>
                  <a:srgbClr val="625B54"/>
                </a:solidFill>
              </a:rPr>
              <a:t>: </a:t>
            </a:r>
            <a:r>
              <a:rPr sz="1800" dirty="0" err="1">
                <a:solidFill>
                  <a:srgbClr val="625B54"/>
                </a:solidFill>
              </a:rPr>
              <a:t>это</a:t>
            </a:r>
            <a:r>
              <a:rPr sz="1800" dirty="0">
                <a:solidFill>
                  <a:srgbClr val="625B54"/>
                </a:solidFill>
              </a:rPr>
              <a:t> и </a:t>
            </a:r>
            <a:r>
              <a:rPr sz="1800" dirty="0" err="1">
                <a:solidFill>
                  <a:srgbClr val="625B54"/>
                </a:solidFill>
              </a:rPr>
              <a:t>создаёт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характерную</a:t>
            </a:r>
            <a:r>
              <a:rPr sz="1800" dirty="0">
                <a:solidFill>
                  <a:srgbClr val="625B54"/>
                </a:solidFill>
              </a:rPr>
              <a:t> «</a:t>
            </a:r>
            <a:r>
              <a:rPr sz="1800" dirty="0" err="1">
                <a:solidFill>
                  <a:srgbClr val="625B54"/>
                </a:solidFill>
              </a:rPr>
              <a:t>лестницу</a:t>
            </a:r>
            <a:r>
              <a:rPr sz="1800" dirty="0">
                <a:solidFill>
                  <a:srgbClr val="625B54"/>
                </a:solidFill>
              </a:rPr>
              <a:t>» </a:t>
            </a:r>
            <a:r>
              <a:rPr sz="1800" dirty="0" err="1">
                <a:solidFill>
                  <a:srgbClr val="625B54"/>
                </a:solidFill>
              </a:rPr>
              <a:t>на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графике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5EB7709C-11D1-4ADC-908B-902E8DC2F8E2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2095500" cy="38100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graphicFrame>
        <p:nvGraphicFramePr>
          <p:cNvPr id="5" name="theory-chart"/>
          <p:cNvGraphicFramePr/>
          <p:nvPr/>
        </p:nvGraphicFramePr>
        <p:xfrm>
          <a:off x="838200" y="3009900"/>
          <a:ext cx="9144000" cy="5810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51AEA17-66C2-4426-8D95-191CD9939446}"/>
              </a:ext>
            </a:extLst>
          </p:cNvPr>
          <p:cNvSpPr>
            <a:spLocks noGrp="1"/>
          </p:cNvSpPr>
          <p:nvPr/>
        </p:nvSpPr>
        <p:spPr>
          <a:xfrm>
            <a:off x="838200" y="8991600"/>
            <a:ext cx="8001000" cy="495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500">
                <a:solidFill>
                  <a:srgbClr val="625B54"/>
                </a:solidFill>
              </a:defRPr>
            </a:pPr>
            <a:r>
              <a:rPr sz="1500" dirty="0" err="1">
                <a:solidFill>
                  <a:srgbClr val="625B54"/>
                </a:solidFill>
              </a:rPr>
              <a:t>Гладкая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кривая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показывает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только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асимптотическую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форму</a:t>
            </a:r>
            <a:r>
              <a:rPr sz="1500" dirty="0">
                <a:solidFill>
                  <a:srgbClr val="625B54"/>
                </a:solidFill>
              </a:rPr>
              <a:t> k·n^2.7095. </a:t>
            </a:r>
            <a:r>
              <a:rPr sz="1500" dirty="0" err="1">
                <a:solidFill>
                  <a:srgbClr val="625B54"/>
                </a:solidFill>
              </a:rPr>
              <a:t>Точная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дискретная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модель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считает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реальные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рекурсивные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вызовы</a:t>
            </a:r>
            <a:r>
              <a:rPr sz="1500" dirty="0">
                <a:solidFill>
                  <a:srgbClr val="625B54"/>
                </a:solidFill>
              </a:rPr>
              <a:t> и </a:t>
            </a:r>
            <a:r>
              <a:rPr sz="1500" dirty="0" err="1">
                <a:solidFill>
                  <a:srgbClr val="625B54"/>
                </a:solidFill>
              </a:rPr>
              <a:t>поэтому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образует</a:t>
            </a:r>
            <a:r>
              <a:rPr sz="1500" dirty="0">
                <a:solidFill>
                  <a:srgbClr val="625B54"/>
                </a:solidFill>
              </a:rPr>
              <a:t> </a:t>
            </a:r>
            <a:r>
              <a:rPr sz="1500" dirty="0" err="1">
                <a:solidFill>
                  <a:srgbClr val="625B54"/>
                </a:solidFill>
              </a:rPr>
              <a:t>плато</a:t>
            </a:r>
            <a:r>
              <a:rPr sz="15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32AD5B-B610-4DAE-B181-03933F92B9B2}"/>
              </a:ext>
            </a:extLst>
          </p:cNvPr>
          <p:cNvSpPr>
            <a:spLocks noGrp="1"/>
          </p:cNvSpPr>
          <p:nvPr/>
        </p:nvSpPr>
        <p:spPr>
          <a:xfrm>
            <a:off x="10172700" y="3009900"/>
            <a:ext cx="7277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65B40"/>
                </a:solidFill>
              </a:defRPr>
            </a:pPr>
            <a:r>
              <a:rPr sz="1800" b="1" dirty="0" err="1">
                <a:solidFill>
                  <a:srgbClr val="C65B40"/>
                </a:solidFill>
              </a:rPr>
              <a:t>Почему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возникают</a:t>
            </a:r>
            <a:r>
              <a:rPr sz="1800" b="1" dirty="0">
                <a:solidFill>
                  <a:srgbClr val="C65B40"/>
                </a:solidFill>
              </a:rPr>
              <a:t> </a:t>
            </a:r>
            <a:r>
              <a:rPr sz="1800" b="1" dirty="0" err="1">
                <a:solidFill>
                  <a:srgbClr val="C65B40"/>
                </a:solidFill>
              </a:rPr>
              <a:t>скачки</a:t>
            </a:r>
            <a:endParaRPr sz="1800" b="1" dirty="0">
              <a:solidFill>
                <a:srgbClr val="C65B4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883B83-88E9-488A-85C9-68C8A20AC745}"/>
              </a:ext>
            </a:extLst>
          </p:cNvPr>
          <p:cNvSpPr>
            <a:spLocks noGrp="1"/>
          </p:cNvSpPr>
          <p:nvPr/>
        </p:nvSpPr>
        <p:spPr>
          <a:xfrm>
            <a:off x="10172700" y="34099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AD7283-1264-462D-8167-70F3C20FB127}"/>
              </a:ext>
            </a:extLst>
          </p:cNvPr>
          <p:cNvSpPr>
            <a:spLocks noGrp="1"/>
          </p:cNvSpPr>
          <p:nvPr/>
        </p:nvSpPr>
        <p:spPr>
          <a:xfrm>
            <a:off x="10725150" y="3409950"/>
            <a:ext cx="521970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>
                <a:solidFill>
                  <a:srgbClr val="1C1713"/>
                </a:solidFill>
              </a:rPr>
              <a:t>в </a:t>
            </a:r>
            <a:r>
              <a:rPr sz="1800" dirty="0" err="1">
                <a:solidFill>
                  <a:srgbClr val="1C1713"/>
                </a:solidFill>
              </a:rPr>
              <a:t>коде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используется</a:t>
            </a:r>
            <a:r>
              <a:rPr sz="1800" dirty="0">
                <a:solidFill>
                  <a:srgbClr val="1C1713"/>
                </a:solidFill>
              </a:rPr>
              <a:t> t = floor(n / 3), </a:t>
            </a:r>
            <a:r>
              <a:rPr sz="1800" dirty="0" err="1">
                <a:solidFill>
                  <a:srgbClr val="1C1713"/>
                </a:solidFill>
              </a:rPr>
              <a:t>поэтому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соседние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размеры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часто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переходят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один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тот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же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следующий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подразмер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5E294D-EBC5-4293-A9FA-D66CC411D0E9}"/>
              </a:ext>
            </a:extLst>
          </p:cNvPr>
          <p:cNvSpPr>
            <a:spLocks noGrp="1"/>
          </p:cNvSpPr>
          <p:nvPr/>
        </p:nvSpPr>
        <p:spPr>
          <a:xfrm>
            <a:off x="10172700" y="42672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 dirty="0">
                <a:solidFill>
                  <a:srgbClr val="C65B40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511056-5A2A-486E-B0B3-D7584C1D546F}"/>
              </a:ext>
            </a:extLst>
          </p:cNvPr>
          <p:cNvSpPr>
            <a:spLocks noGrp="1"/>
          </p:cNvSpPr>
          <p:nvPr/>
        </p:nvSpPr>
        <p:spPr>
          <a:xfrm>
            <a:off x="10725150" y="4267200"/>
            <a:ext cx="58293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из-за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этого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для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целых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интервалов</a:t>
            </a:r>
            <a:r>
              <a:rPr sz="1800" dirty="0">
                <a:solidFill>
                  <a:srgbClr val="1C1713"/>
                </a:solidFill>
              </a:rPr>
              <a:t> n </a:t>
            </a:r>
            <a:r>
              <a:rPr sz="1800" dirty="0" err="1">
                <a:solidFill>
                  <a:srgbClr val="1C1713"/>
                </a:solidFill>
              </a:rPr>
              <a:t>структура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рекурсивного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дерева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меняется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AFF222-3A76-4B34-87D7-DA1CD96C52B2}"/>
              </a:ext>
            </a:extLst>
          </p:cNvPr>
          <p:cNvSpPr>
            <a:spLocks noGrp="1"/>
          </p:cNvSpPr>
          <p:nvPr/>
        </p:nvSpPr>
        <p:spPr>
          <a:xfrm>
            <a:off x="10172700" y="48958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E7DC0B-8BF4-43EA-BF11-FE902DBF8A02}"/>
              </a:ext>
            </a:extLst>
          </p:cNvPr>
          <p:cNvSpPr>
            <a:spLocks noGrp="1"/>
          </p:cNvSpPr>
          <p:nvPr/>
        </p:nvSpPr>
        <p:spPr>
          <a:xfrm>
            <a:off x="10725149" y="4895849"/>
            <a:ext cx="5219699" cy="60007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время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повторяет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же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форму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поверх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ступеней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накладываются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шумы</a:t>
            </a:r>
            <a:r>
              <a:rPr sz="1800" dirty="0">
                <a:solidFill>
                  <a:srgbClr val="1C1713"/>
                </a:solidFill>
              </a:rPr>
              <a:t> JVM и </a:t>
            </a:r>
            <a:r>
              <a:rPr sz="1800" dirty="0" err="1">
                <a:solidFill>
                  <a:srgbClr val="1C1713"/>
                </a:solidFill>
              </a:rPr>
              <a:t>подсистемы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памяти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6685C5-DEE8-4D1E-A4D5-264370B35BE0}"/>
              </a:ext>
            </a:extLst>
          </p:cNvPr>
          <p:cNvSpPr>
            <a:spLocks noGrp="1"/>
          </p:cNvSpPr>
          <p:nvPr/>
        </p:nvSpPr>
        <p:spPr>
          <a:xfrm>
            <a:off x="10172700" y="5524500"/>
            <a:ext cx="1619250" cy="28575"/>
          </a:xfrm>
          <a:prstGeom prst="rect">
            <a:avLst/>
          </a:prstGeom>
          <a:solidFill>
            <a:srgbClr val="C65B40"/>
          </a:solidFill>
          <a:ln w="0">
            <a:solidFill>
              <a:srgbClr val="C65B4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3F98A8-296C-4420-9FE1-3C887DD37BAE}"/>
              </a:ext>
            </a:extLst>
          </p:cNvPr>
          <p:cNvSpPr>
            <a:spLocks noGrp="1"/>
          </p:cNvSpPr>
          <p:nvPr/>
        </p:nvSpPr>
        <p:spPr>
          <a:xfrm>
            <a:off x="10172700" y="5734050"/>
            <a:ext cx="7277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sz="1800" b="1" dirty="0" err="1">
                <a:solidFill>
                  <a:srgbClr val="3E6588"/>
                </a:solidFill>
              </a:rPr>
              <a:t>Плато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точного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числа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вызовов</a:t>
            </a:r>
            <a:endParaRPr sz="1800" b="1" dirty="0">
              <a:solidFill>
                <a:srgbClr val="3E6588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5B9994-610A-49FD-8CF5-DE03C5F4F671}"/>
              </a:ext>
            </a:extLst>
          </p:cNvPr>
          <p:cNvSpPr>
            <a:spLocks noGrp="1"/>
          </p:cNvSpPr>
          <p:nvPr/>
        </p:nvSpPr>
        <p:spPr>
          <a:xfrm>
            <a:off x="10172699" y="6134100"/>
            <a:ext cx="1619249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C1713"/>
                </a:solidFill>
              </a:defRPr>
            </a:pPr>
            <a:r>
              <a:rPr sz="1425" dirty="0">
                <a:solidFill>
                  <a:srgbClr val="1C1713"/>
                </a:solidFill>
              </a:rPr>
              <a:t>500-700 -&gt; 21.523M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005FB8-B9E7-4696-A0AA-7CEFF596B6D6}"/>
              </a:ext>
            </a:extLst>
          </p:cNvPr>
          <p:cNvSpPr>
            <a:spLocks noGrp="1"/>
          </p:cNvSpPr>
          <p:nvPr/>
        </p:nvSpPr>
        <p:spPr>
          <a:xfrm>
            <a:off x="10172700" y="6512718"/>
            <a:ext cx="1687606" cy="190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C1713"/>
                </a:solidFill>
              </a:defRPr>
            </a:pPr>
            <a:r>
              <a:rPr sz="1425" dirty="0">
                <a:solidFill>
                  <a:srgbClr val="1C1713"/>
                </a:solidFill>
              </a:rPr>
              <a:t>800-1000 -&gt; 64.570M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2838DD-0C62-4003-BDA3-D1EB5447B527}"/>
              </a:ext>
            </a:extLst>
          </p:cNvPr>
          <p:cNvSpPr>
            <a:spLocks noGrp="1"/>
          </p:cNvSpPr>
          <p:nvPr/>
        </p:nvSpPr>
        <p:spPr>
          <a:xfrm>
            <a:off x="10172700" y="6877050"/>
            <a:ext cx="1893794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C1713"/>
                </a:solidFill>
              </a:defRPr>
            </a:pPr>
            <a:r>
              <a:rPr sz="1425" dirty="0">
                <a:solidFill>
                  <a:srgbClr val="1C1713"/>
                </a:solidFill>
              </a:rPr>
              <a:t>1100-1500 -&gt; 193.710M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75CA33-4F52-48AD-99EA-61CF12E54DF0}"/>
              </a:ext>
            </a:extLst>
          </p:cNvPr>
          <p:cNvSpPr>
            <a:spLocks noGrp="1"/>
          </p:cNvSpPr>
          <p:nvPr/>
        </p:nvSpPr>
        <p:spPr>
          <a:xfrm>
            <a:off x="10172699" y="7277100"/>
            <a:ext cx="1893793" cy="2857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C1713"/>
                </a:solidFill>
              </a:defRPr>
            </a:pPr>
            <a:r>
              <a:rPr sz="1425" dirty="0">
                <a:solidFill>
                  <a:srgbClr val="1C1713"/>
                </a:solidFill>
              </a:rPr>
              <a:t>1600-2300 -&gt; 581.131M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CB5FB3-0263-4FDC-AFC3-E068579D333D}"/>
              </a:ext>
            </a:extLst>
          </p:cNvPr>
          <p:cNvSpPr>
            <a:spLocks noGrp="1"/>
          </p:cNvSpPr>
          <p:nvPr/>
        </p:nvSpPr>
        <p:spPr>
          <a:xfrm>
            <a:off x="10172700" y="7658100"/>
            <a:ext cx="1619248" cy="20002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425">
                <a:solidFill>
                  <a:srgbClr val="1C1713"/>
                </a:solidFill>
              </a:defRPr>
            </a:pPr>
            <a:r>
              <a:rPr sz="1425" dirty="0">
                <a:solidFill>
                  <a:srgbClr val="1C1713"/>
                </a:solidFill>
              </a:rPr>
              <a:t>2400-2500 -&gt; 1.743B</a:t>
            </a:r>
          </a:p>
        </p:txBody>
      </p:sp>
      <p:sp>
        <p:nvSpPr>
          <p:cNvPr id="21" name="source">
            <a:extLst>
              <a:ext uri="{FF2B5EF4-FFF2-40B4-BE49-F238E27FC236}">
                <a16:creationId xmlns:a16="http://schemas.microsoft.com/office/drawing/2014/main" id="{3563D536-5992-4693-A684-726DFEB8709A}"/>
              </a:ext>
            </a:extLst>
          </p:cNvPr>
          <p:cNvSpPr>
            <a:spLocks noGrp="1"/>
          </p:cNvSpPr>
          <p:nvPr/>
        </p:nvSpPr>
        <p:spPr>
          <a:xfrm>
            <a:off x="838199" y="9486900"/>
            <a:ext cx="5221941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sz="900" dirty="0" err="1">
                <a:solidFill>
                  <a:srgbClr val="625B54"/>
                </a:solidFill>
              </a:rPr>
              <a:t>Источник</a:t>
            </a:r>
            <a:r>
              <a:rPr sz="900" dirty="0">
                <a:solidFill>
                  <a:srgbClr val="625B54"/>
                </a:solidFill>
              </a:rPr>
              <a:t>: </a:t>
            </a:r>
            <a:r>
              <a:rPr sz="900" dirty="0" err="1">
                <a:solidFill>
                  <a:srgbClr val="625B54"/>
                </a:solidFill>
              </a:rPr>
              <a:t>лист</a:t>
            </a:r>
            <a:r>
              <a:rPr sz="900" dirty="0">
                <a:solidFill>
                  <a:srgbClr val="625B54"/>
                </a:solidFill>
              </a:rPr>
              <a:t> Theory в results</a:t>
            </a:r>
            <a:r>
              <a:rPr lang="en-US" sz="900" dirty="0">
                <a:solidFill>
                  <a:srgbClr val="625B54"/>
                </a:solidFill>
              </a:rPr>
              <a:t>_getted</a:t>
            </a:r>
            <a:r>
              <a:rPr sz="900" dirty="0">
                <a:solidFill>
                  <a:srgbClr val="625B54"/>
                </a:solidFill>
              </a:rPr>
              <a:t>.xlsx; </a:t>
            </a:r>
            <a:r>
              <a:rPr sz="900" dirty="0" err="1">
                <a:solidFill>
                  <a:srgbClr val="625B54"/>
                </a:solidFill>
              </a:rPr>
              <a:t>точная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дискретная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модель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вызовов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для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реализованного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кода</a:t>
            </a:r>
            <a:r>
              <a:rPr sz="900" dirty="0">
                <a:solidFill>
                  <a:srgbClr val="625B5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2121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g">
            <a:extLst>
              <a:ext uri="{FF2B5EF4-FFF2-40B4-BE49-F238E27FC236}">
                <a16:creationId xmlns:a16="http://schemas.microsoft.com/office/drawing/2014/main" id="{384A5635-482D-4E46-B123-45230F0836F5}"/>
              </a:ext>
            </a:extLst>
          </p:cNvPr>
          <p:cNvSpPr>
            <a:spLocks noGrp="1"/>
          </p:cNvSpPr>
          <p:nvPr/>
        </p:nvSpPr>
        <p:spPr>
          <a:xfrm>
            <a:off x="0" y="8604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E3AD6989-E4AE-4781-91F2-97B1450FF7EF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130492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lang="ru-RU" sz="4050" b="1" dirty="0">
                <a:solidFill>
                  <a:srgbClr val="1C1713"/>
                </a:solidFill>
              </a:rPr>
              <a:t>Кстати</a:t>
            </a:r>
            <a:r>
              <a:rPr lang="en-US" sz="4050" b="1" dirty="0">
                <a:solidFill>
                  <a:srgbClr val="1C1713"/>
                </a:solidFill>
              </a:rPr>
              <a:t>,</a:t>
            </a:r>
            <a:r>
              <a:rPr lang="ru-RU" sz="4050" b="1" dirty="0">
                <a:solidFill>
                  <a:srgbClr val="1C1713"/>
                </a:solidFill>
              </a:rPr>
              <a:t> теория</a:t>
            </a:r>
            <a:r>
              <a:rPr lang="en-US" sz="4050" b="1" dirty="0">
                <a:solidFill>
                  <a:srgbClr val="1C1713"/>
                </a:solidFill>
              </a:rPr>
              <a:t>, </a:t>
            </a:r>
            <a:r>
              <a:rPr lang="ru-RU" sz="4050" b="1" dirty="0">
                <a:solidFill>
                  <a:srgbClr val="1C1713"/>
                </a:solidFill>
              </a:rPr>
              <a:t>если делать </a:t>
            </a:r>
            <a:r>
              <a:rPr lang="en-US" sz="4050" b="1" dirty="0">
                <a:solidFill>
                  <a:srgbClr val="1C1713"/>
                </a:solidFill>
              </a:rPr>
              <a:t>floor, </a:t>
            </a:r>
            <a:r>
              <a:rPr lang="ru-RU" sz="4050" b="1" dirty="0">
                <a:solidFill>
                  <a:srgbClr val="1C1713"/>
                </a:solidFill>
              </a:rPr>
              <a:t>совпадает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21" name="source">
            <a:extLst>
              <a:ext uri="{FF2B5EF4-FFF2-40B4-BE49-F238E27FC236}">
                <a16:creationId xmlns:a16="http://schemas.microsoft.com/office/drawing/2014/main" id="{3563D536-5992-4693-A684-726DFEB8709A}"/>
              </a:ext>
            </a:extLst>
          </p:cNvPr>
          <p:cNvSpPr>
            <a:spLocks noGrp="1"/>
          </p:cNvSpPr>
          <p:nvPr/>
        </p:nvSpPr>
        <p:spPr>
          <a:xfrm>
            <a:off x="838200" y="9486900"/>
            <a:ext cx="4781550" cy="1143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900">
                <a:solidFill>
                  <a:srgbClr val="625B54"/>
                </a:solidFill>
              </a:defRPr>
            </a:pPr>
            <a:r>
              <a:rPr sz="900" dirty="0" err="1">
                <a:solidFill>
                  <a:srgbClr val="625B54"/>
                </a:solidFill>
              </a:rPr>
              <a:t>Источник</a:t>
            </a:r>
            <a:r>
              <a:rPr sz="900" dirty="0">
                <a:solidFill>
                  <a:srgbClr val="625B54"/>
                </a:solidFill>
              </a:rPr>
              <a:t>: </a:t>
            </a:r>
            <a:r>
              <a:rPr sz="900" dirty="0" err="1">
                <a:solidFill>
                  <a:srgbClr val="625B54"/>
                </a:solidFill>
              </a:rPr>
              <a:t>лист</a:t>
            </a:r>
            <a:r>
              <a:rPr sz="900" dirty="0">
                <a:solidFill>
                  <a:srgbClr val="625B54"/>
                </a:solidFill>
              </a:rPr>
              <a:t> Theory в results.xlsx; </a:t>
            </a:r>
            <a:r>
              <a:rPr sz="900" dirty="0" err="1">
                <a:solidFill>
                  <a:srgbClr val="625B54"/>
                </a:solidFill>
              </a:rPr>
              <a:t>точная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дискретная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модель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вызовов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для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реализованного</a:t>
            </a:r>
            <a:r>
              <a:rPr sz="900" dirty="0">
                <a:solidFill>
                  <a:srgbClr val="625B54"/>
                </a:solidFill>
              </a:rPr>
              <a:t> </a:t>
            </a:r>
            <a:r>
              <a:rPr sz="900" dirty="0" err="1">
                <a:solidFill>
                  <a:srgbClr val="625B54"/>
                </a:solidFill>
              </a:rPr>
              <a:t>кода</a:t>
            </a:r>
            <a:r>
              <a:rPr sz="9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C2E39-BDAB-4D24-BAF4-0561D0BFF3F6}"/>
              </a:ext>
            </a:extLst>
          </p:cNvPr>
          <p:cNvSpPr txBox="1"/>
          <p:nvPr/>
        </p:nvSpPr>
        <p:spPr>
          <a:xfrm>
            <a:off x="838200" y="2088089"/>
            <a:ext cx="197383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en-US" sz="2550" b="1" dirty="0">
                <a:solidFill>
                  <a:srgbClr val="1C1713"/>
                </a:solidFill>
              </a:rPr>
              <a:t>k = log</a:t>
            </a:r>
            <a:r>
              <a:rPr lang="ru-RU" sz="2550" b="1" dirty="0">
                <a:solidFill>
                  <a:srgbClr val="1C1713"/>
                </a:solidFill>
              </a:rPr>
              <a:t>3</a:t>
            </a:r>
            <a:r>
              <a:rPr lang="en-US" sz="2550" b="1" dirty="0">
                <a:solidFill>
                  <a:srgbClr val="1C1713"/>
                </a:solidFill>
              </a:rPr>
              <a:t>/2(n)</a:t>
            </a:r>
            <a:endParaRPr lang="pt-BR" sz="2550" b="1" dirty="0">
              <a:solidFill>
                <a:srgbClr val="1C1713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FB40D5-FD68-45BE-9C3B-21767DE7CC10}"/>
              </a:ext>
            </a:extLst>
          </p:cNvPr>
          <p:cNvSpPr txBox="1"/>
          <p:nvPr/>
        </p:nvSpPr>
        <p:spPr>
          <a:xfrm>
            <a:off x="838200" y="1544137"/>
            <a:ext cx="9148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Как мы уже поняли</a:t>
            </a:r>
            <a:r>
              <a:rPr lang="en-US" dirty="0">
                <a:solidFill>
                  <a:srgbClr val="625B54"/>
                </a:solidFill>
              </a:rPr>
              <a:t>:</a:t>
            </a:r>
            <a:endParaRPr lang="ru-RU" sz="1800" dirty="0">
              <a:solidFill>
                <a:srgbClr val="625B54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0ADD63-034A-4F83-9B0F-76B4C8A777ED}"/>
              </a:ext>
            </a:extLst>
          </p:cNvPr>
          <p:cNvSpPr txBox="1"/>
          <p:nvPr/>
        </p:nvSpPr>
        <p:spPr>
          <a:xfrm>
            <a:off x="838200" y="2644850"/>
            <a:ext cx="7468402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50" b="1" dirty="0">
                <a:solidFill>
                  <a:srgbClr val="1C1713"/>
                </a:solidFill>
              </a:rPr>
              <a:t>3^k</a:t>
            </a:r>
            <a:r>
              <a:rPr lang="ru-RU" sz="2550" b="1" dirty="0">
                <a:solidFill>
                  <a:srgbClr val="1C1713"/>
                </a:solidFill>
              </a:rPr>
              <a:t> (рекурсивных вызовов</a:t>
            </a:r>
            <a:r>
              <a:rPr lang="en-US" sz="2550" b="1" dirty="0">
                <a:solidFill>
                  <a:srgbClr val="1C1713"/>
                </a:solidFill>
              </a:rPr>
              <a:t> </a:t>
            </a:r>
            <a:r>
              <a:rPr lang="ru-RU" sz="2550" b="1" dirty="0">
                <a:solidFill>
                  <a:srgbClr val="1C1713"/>
                </a:solidFill>
              </a:rPr>
              <a:t>на конкретном уровне)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2F1674-E26E-4D60-BC40-1F931357A712}"/>
              </a:ext>
            </a:extLst>
          </p:cNvPr>
          <p:cNvSpPr txBox="1"/>
          <p:nvPr/>
        </p:nvSpPr>
        <p:spPr>
          <a:xfrm>
            <a:off x="838199" y="3234175"/>
            <a:ext cx="562997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Поймём скачок между 2300 и 2400</a:t>
            </a:r>
            <a:r>
              <a:rPr lang="en-US" dirty="0">
                <a:solidFill>
                  <a:srgbClr val="625B54"/>
                </a:solidFill>
              </a:rPr>
              <a:t>. </a:t>
            </a:r>
            <a:r>
              <a:rPr lang="ru-RU" dirty="0">
                <a:solidFill>
                  <a:srgbClr val="625B54"/>
                </a:solidFill>
              </a:rPr>
              <a:t>Возьмём их кол-во рекурсивных вызовов  581130733 и 174339220</a:t>
            </a:r>
            <a:r>
              <a:rPr lang="en-US" dirty="0">
                <a:solidFill>
                  <a:srgbClr val="625B54"/>
                </a:solidFill>
              </a:rPr>
              <a:t>0.</a:t>
            </a:r>
          </a:p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Так как у нас дерево рекурсии</a:t>
            </a:r>
            <a:r>
              <a:rPr lang="en-US" dirty="0">
                <a:solidFill>
                  <a:srgbClr val="625B54"/>
                </a:solidFill>
              </a:rPr>
              <a:t>, </a:t>
            </a:r>
            <a:r>
              <a:rPr lang="ru-RU" dirty="0">
                <a:solidFill>
                  <a:srgbClr val="625B54"/>
                </a:solidFill>
              </a:rPr>
              <a:t>мы берём сумму</a:t>
            </a:r>
            <a:r>
              <a:rPr lang="en-US" dirty="0">
                <a:solidFill>
                  <a:srgbClr val="625B54"/>
                </a:solidFill>
              </a:rPr>
              <a:t>:</a:t>
            </a:r>
            <a:endParaRPr lang="ru-RU" dirty="0">
              <a:solidFill>
                <a:srgbClr val="625B54"/>
              </a:solidFill>
            </a:endParaRPr>
          </a:p>
        </p:txBody>
      </p:sp>
      <p:sp>
        <p:nvSpPr>
          <p:cNvPr id="32" name="Rectangle 3">
            <a:extLst>
              <a:ext uri="{FF2B5EF4-FFF2-40B4-BE49-F238E27FC236}">
                <a16:creationId xmlns:a16="http://schemas.microsoft.com/office/drawing/2014/main" id="{C139DA05-B2C5-4842-93D2-4459CAC11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197" y="4416835"/>
            <a:ext cx="8921819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2550" b="1" dirty="0">
                <a:solidFill>
                  <a:srgbClr val="1C1713"/>
                </a:solidFill>
              </a:rPr>
              <a:t>1 + 3 + 9 + 27 + ... + 3^k</a:t>
            </a:r>
            <a:r>
              <a:rPr lang="en-US" altLang="ru-RU" sz="2550" b="1" dirty="0">
                <a:solidFill>
                  <a:srgbClr val="1C1713"/>
                </a:solidFill>
              </a:rPr>
              <a:t> = </a:t>
            </a:r>
            <a:r>
              <a:rPr lang="nn-NO" sz="2550" b="1" dirty="0">
                <a:solidFill>
                  <a:srgbClr val="1C1713"/>
                </a:solidFill>
              </a:rPr>
              <a:t>(3^</a:t>
            </a:r>
            <a:r>
              <a:rPr lang="en-US" sz="2550" b="1" dirty="0">
                <a:solidFill>
                  <a:srgbClr val="1C1713"/>
                </a:solidFill>
              </a:rPr>
              <a:t>{</a:t>
            </a:r>
            <a:r>
              <a:rPr lang="nn-NO" sz="2550" b="1" dirty="0">
                <a:solidFill>
                  <a:srgbClr val="1C1713"/>
                </a:solidFill>
              </a:rPr>
              <a:t>k+1} - 1) / (3 - 1) = (3^</a:t>
            </a:r>
            <a:r>
              <a:rPr lang="en-US" sz="2550" b="1" dirty="0">
                <a:solidFill>
                  <a:srgbClr val="1C1713"/>
                </a:solidFill>
              </a:rPr>
              <a:t>{</a:t>
            </a:r>
            <a:r>
              <a:rPr lang="nn-NO" sz="2550" b="1" dirty="0">
                <a:solidFill>
                  <a:srgbClr val="1C1713"/>
                </a:solidFill>
              </a:rPr>
              <a:t>k+1}-1)/2</a:t>
            </a:r>
            <a:endParaRPr lang="ru-RU" altLang="ru-RU" sz="2550" b="1" dirty="0">
              <a:solidFill>
                <a:srgbClr val="1C1713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B332D4-E86C-41D3-92B5-B372303EBDA2}"/>
              </a:ext>
            </a:extLst>
          </p:cNvPr>
          <p:cNvSpPr txBox="1"/>
          <p:nvPr/>
        </p:nvSpPr>
        <p:spPr>
          <a:xfrm>
            <a:off x="838196" y="5857860"/>
            <a:ext cx="4781551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en-US" sz="2550" b="1" dirty="0">
                <a:solidFill>
                  <a:srgbClr val="1C1713"/>
                </a:solidFill>
              </a:rPr>
              <a:t>k = log</a:t>
            </a:r>
            <a:r>
              <a:rPr lang="ru-RU" sz="2550" b="1" dirty="0">
                <a:solidFill>
                  <a:srgbClr val="1C1713"/>
                </a:solidFill>
              </a:rPr>
              <a:t>3</a:t>
            </a:r>
            <a:r>
              <a:rPr lang="en-US" sz="2550" b="1" dirty="0">
                <a:solidFill>
                  <a:srgbClr val="1C1713"/>
                </a:solidFill>
              </a:rPr>
              <a:t>/2(2300) = 19.09082...</a:t>
            </a:r>
            <a:r>
              <a:rPr lang="ru-RU" dirty="0"/>
              <a:t>≈18</a:t>
            </a:r>
            <a:r>
              <a:rPr lang="en-US" sz="2550" b="1" dirty="0">
                <a:solidFill>
                  <a:srgbClr val="1C1713"/>
                </a:solidFill>
              </a:rPr>
              <a:t> </a:t>
            </a:r>
            <a:endParaRPr lang="pt-BR" sz="2550" b="1" dirty="0">
              <a:solidFill>
                <a:srgbClr val="1C1713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0723A4-81B7-4054-8AFC-5073C016532B}"/>
              </a:ext>
            </a:extLst>
          </p:cNvPr>
          <p:cNvSpPr txBox="1"/>
          <p:nvPr/>
        </p:nvSpPr>
        <p:spPr>
          <a:xfrm>
            <a:off x="9351745" y="4239778"/>
            <a:ext cx="42295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lang="ru-RU" b="1" dirty="0">
                <a:solidFill>
                  <a:srgbClr val="3E6588"/>
                </a:solidFill>
              </a:rPr>
              <a:t>Степень </a:t>
            </a:r>
            <a:r>
              <a:rPr lang="en-US" b="1" dirty="0">
                <a:solidFill>
                  <a:srgbClr val="3E6588"/>
                </a:solidFill>
              </a:rPr>
              <a:t>k + 1, </a:t>
            </a:r>
            <a:r>
              <a:rPr lang="ru-RU" b="1" dirty="0">
                <a:solidFill>
                  <a:srgbClr val="3E6588"/>
                </a:solidFill>
              </a:rPr>
              <a:t>так как мы берем ещё самый первый вызов и получаем</a:t>
            </a:r>
            <a:r>
              <a:rPr lang="en-US" b="1" dirty="0">
                <a:solidFill>
                  <a:srgbClr val="3E6588"/>
                </a:solidFill>
              </a:rPr>
              <a:t>:</a:t>
            </a:r>
          </a:p>
          <a:p>
            <a:pPr>
              <a:defRPr sz="1800" b="1">
                <a:solidFill>
                  <a:srgbClr val="3E6588"/>
                </a:solidFill>
              </a:defRPr>
            </a:pPr>
            <a:r>
              <a:rPr lang="ru-RU" b="1" dirty="0">
                <a:solidFill>
                  <a:srgbClr val="3E6588"/>
                </a:solidFill>
              </a:rPr>
              <a:t>от 0 до </a:t>
            </a:r>
            <a:r>
              <a:rPr lang="en-US" b="1" dirty="0">
                <a:solidFill>
                  <a:srgbClr val="3E6588"/>
                </a:solidFill>
              </a:rPr>
              <a:t>k (</a:t>
            </a:r>
            <a:r>
              <a:rPr lang="ru-RU" b="1" dirty="0">
                <a:solidFill>
                  <a:srgbClr val="3E6588"/>
                </a:solidFill>
              </a:rPr>
              <a:t>т</a:t>
            </a:r>
            <a:r>
              <a:rPr lang="en-US" b="1" dirty="0">
                <a:solidFill>
                  <a:srgbClr val="3E6588"/>
                </a:solidFill>
              </a:rPr>
              <a:t>.</a:t>
            </a:r>
            <a:r>
              <a:rPr lang="ru-RU" b="1" dirty="0">
                <a:solidFill>
                  <a:srgbClr val="3E6588"/>
                </a:solidFill>
              </a:rPr>
              <a:t>е </a:t>
            </a:r>
            <a:r>
              <a:rPr lang="en-US" b="1" dirty="0">
                <a:solidFill>
                  <a:srgbClr val="3E6588"/>
                </a:solidFill>
              </a:rPr>
              <a:t>k+1 </a:t>
            </a:r>
            <a:r>
              <a:rPr lang="ru-RU" b="1" dirty="0">
                <a:solidFill>
                  <a:srgbClr val="3E6588"/>
                </a:solidFill>
              </a:rPr>
              <a:t>уровней)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480E2A5-129B-48F2-8522-D352DEB56D66}"/>
              </a:ext>
            </a:extLst>
          </p:cNvPr>
          <p:cNvSpPr txBox="1"/>
          <p:nvPr/>
        </p:nvSpPr>
        <p:spPr>
          <a:xfrm>
            <a:off x="814532" y="4918056"/>
            <a:ext cx="74684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Тут ещё одна интересная деталь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так как мы берём не </a:t>
            </a:r>
            <a:r>
              <a:rPr lang="en-US" dirty="0">
                <a:solidFill>
                  <a:srgbClr val="625B54"/>
                </a:solidFill>
              </a:rPr>
              <a:t>2*n/3 </a:t>
            </a:r>
            <a:r>
              <a:rPr lang="ru-RU" dirty="0">
                <a:solidFill>
                  <a:srgbClr val="625B54"/>
                </a:solidFill>
              </a:rPr>
              <a:t>элементов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а </a:t>
            </a:r>
            <a:r>
              <a:rPr lang="en-US" dirty="0">
                <a:solidFill>
                  <a:srgbClr val="625B54"/>
                </a:solidFill>
              </a:rPr>
              <a:t>n – n/3, </a:t>
            </a:r>
            <a:r>
              <a:rPr lang="ru-RU" dirty="0">
                <a:solidFill>
                  <a:srgbClr val="625B54"/>
                </a:solidFill>
              </a:rPr>
              <a:t>то некоторые элементы теряются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поэтому в теории </a:t>
            </a:r>
            <a:r>
              <a:rPr lang="en-US" dirty="0">
                <a:solidFill>
                  <a:srgbClr val="625B54"/>
                </a:solidFill>
              </a:rPr>
              <a:t>k </a:t>
            </a:r>
            <a:r>
              <a:rPr lang="ru-RU" dirty="0">
                <a:solidFill>
                  <a:srgbClr val="625B54"/>
                </a:solidFill>
              </a:rPr>
              <a:t>растёт быстрее</a:t>
            </a:r>
            <a:r>
              <a:rPr lang="en-US" dirty="0">
                <a:solidFill>
                  <a:srgbClr val="625B54"/>
                </a:solidFill>
              </a:rPr>
              <a:t>,</a:t>
            </a:r>
            <a:r>
              <a:rPr lang="ru-RU" dirty="0">
                <a:solidFill>
                  <a:srgbClr val="625B54"/>
                </a:solidFill>
              </a:rPr>
              <a:t> а нам придётся немного схитрить</a:t>
            </a:r>
            <a:r>
              <a:rPr lang="en-US" dirty="0">
                <a:solidFill>
                  <a:srgbClr val="625B54"/>
                </a:solidFill>
              </a:rPr>
              <a:t> </a:t>
            </a:r>
            <a:r>
              <a:rPr lang="ru-RU" dirty="0">
                <a:solidFill>
                  <a:srgbClr val="625B54"/>
                </a:solidFill>
              </a:rPr>
              <a:t> 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780BA86-2947-4EA8-B091-049D244B6123}"/>
              </a:ext>
            </a:extLst>
          </p:cNvPr>
          <p:cNvSpPr txBox="1"/>
          <p:nvPr/>
        </p:nvSpPr>
        <p:spPr>
          <a:xfrm>
            <a:off x="814532" y="6389031"/>
            <a:ext cx="4781551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lang="en-US" sz="2550" b="1" dirty="0">
                <a:solidFill>
                  <a:srgbClr val="1C1713"/>
                </a:solidFill>
              </a:rPr>
              <a:t>k = log</a:t>
            </a:r>
            <a:r>
              <a:rPr lang="ru-RU" sz="2550" b="1" dirty="0">
                <a:solidFill>
                  <a:srgbClr val="1C1713"/>
                </a:solidFill>
              </a:rPr>
              <a:t>3</a:t>
            </a:r>
            <a:r>
              <a:rPr lang="en-US" sz="2550" b="1" dirty="0">
                <a:solidFill>
                  <a:srgbClr val="1C1713"/>
                </a:solidFill>
              </a:rPr>
              <a:t>/2(2</a:t>
            </a:r>
            <a:r>
              <a:rPr lang="ru-RU" sz="2550" b="1" dirty="0">
                <a:solidFill>
                  <a:srgbClr val="1C1713"/>
                </a:solidFill>
              </a:rPr>
              <a:t>4</a:t>
            </a:r>
            <a:r>
              <a:rPr lang="en-US" sz="2550" b="1" dirty="0">
                <a:solidFill>
                  <a:srgbClr val="1C1713"/>
                </a:solidFill>
              </a:rPr>
              <a:t>00) = 19.</a:t>
            </a:r>
            <a:r>
              <a:rPr lang="ru-RU" sz="2550" b="1" dirty="0">
                <a:solidFill>
                  <a:srgbClr val="1C1713"/>
                </a:solidFill>
              </a:rPr>
              <a:t>19579</a:t>
            </a:r>
            <a:r>
              <a:rPr lang="en-US" sz="2550" b="1" dirty="0">
                <a:solidFill>
                  <a:srgbClr val="1C1713"/>
                </a:solidFill>
              </a:rPr>
              <a:t>...</a:t>
            </a:r>
            <a:r>
              <a:rPr lang="ru-RU" dirty="0"/>
              <a:t>≈19</a:t>
            </a:r>
            <a:r>
              <a:rPr lang="en-US" sz="2550" b="1" dirty="0">
                <a:solidFill>
                  <a:srgbClr val="1C1713"/>
                </a:solidFill>
              </a:rPr>
              <a:t> </a:t>
            </a:r>
            <a:endParaRPr lang="pt-BR" sz="2550" b="1" dirty="0">
              <a:solidFill>
                <a:srgbClr val="1C1713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31BC717-6A58-4365-BF3D-C24C4089FF76}"/>
              </a:ext>
            </a:extLst>
          </p:cNvPr>
          <p:cNvSpPr>
            <a:spLocks noGrp="1"/>
          </p:cNvSpPr>
          <p:nvPr/>
        </p:nvSpPr>
        <p:spPr>
          <a:xfrm>
            <a:off x="5596083" y="5936026"/>
            <a:ext cx="3374662" cy="328141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lang="ru-RU" sz="1800" b="1" dirty="0">
                <a:solidFill>
                  <a:srgbClr val="3E6588"/>
                </a:solidFill>
              </a:rPr>
              <a:t>(т</a:t>
            </a:r>
            <a:r>
              <a:rPr lang="en-US" sz="1800" b="1" dirty="0">
                <a:solidFill>
                  <a:srgbClr val="3E6588"/>
                </a:solidFill>
              </a:rPr>
              <a:t>.</a:t>
            </a:r>
            <a:r>
              <a:rPr lang="ru-RU" sz="1800" b="1" dirty="0">
                <a:solidFill>
                  <a:srgbClr val="3E6588"/>
                </a:solidFill>
              </a:rPr>
              <a:t>к теряем некоторые элементы)</a:t>
            </a:r>
            <a:endParaRPr sz="1800" b="1" dirty="0">
              <a:solidFill>
                <a:srgbClr val="3E6588"/>
              </a:solidFill>
            </a:endParaRPr>
          </a:p>
        </p:txBody>
      </p:sp>
      <p:sp>
        <p:nvSpPr>
          <p:cNvPr id="41" name="Rectangle 3">
            <a:extLst>
              <a:ext uri="{FF2B5EF4-FFF2-40B4-BE49-F238E27FC236}">
                <a16:creationId xmlns:a16="http://schemas.microsoft.com/office/drawing/2014/main" id="{792B8818-8E00-4C3F-81DC-39B215CC4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32" y="7208756"/>
            <a:ext cx="8921819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n-NO" sz="2550" b="1" dirty="0">
                <a:solidFill>
                  <a:srgbClr val="1C1713"/>
                </a:solidFill>
              </a:rPr>
              <a:t>(3^</a:t>
            </a:r>
            <a:r>
              <a:rPr lang="en-US" sz="2550" b="1" dirty="0">
                <a:solidFill>
                  <a:srgbClr val="1C1713"/>
                </a:solidFill>
              </a:rPr>
              <a:t>{</a:t>
            </a:r>
            <a:r>
              <a:rPr lang="ru-RU" sz="2550" b="1" dirty="0">
                <a:solidFill>
                  <a:srgbClr val="1C1713"/>
                </a:solidFill>
              </a:rPr>
              <a:t>18</a:t>
            </a:r>
            <a:r>
              <a:rPr lang="nn-NO" sz="2550" b="1" dirty="0">
                <a:solidFill>
                  <a:srgbClr val="1C1713"/>
                </a:solidFill>
              </a:rPr>
              <a:t>+1}-1)/2</a:t>
            </a:r>
            <a:r>
              <a:rPr lang="ru-RU" sz="2550" b="1" dirty="0">
                <a:solidFill>
                  <a:srgbClr val="1C1713"/>
                </a:solidFill>
              </a:rPr>
              <a:t> = 581130733 </a:t>
            </a:r>
            <a:endParaRPr lang="ru-RU" altLang="ru-RU" sz="2550" b="1" dirty="0">
              <a:solidFill>
                <a:srgbClr val="1C1713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9D50F12-D0FF-437E-A280-3E794E312404}"/>
              </a:ext>
            </a:extLst>
          </p:cNvPr>
          <p:cNvSpPr txBox="1"/>
          <p:nvPr/>
        </p:nvSpPr>
        <p:spPr>
          <a:xfrm>
            <a:off x="814532" y="6877470"/>
            <a:ext cx="104951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lang="ru-RU" dirty="0">
                <a:solidFill>
                  <a:srgbClr val="625B54"/>
                </a:solidFill>
              </a:rPr>
              <a:t>Получаем полное совпадение теории и практики и объяснение скачков (из-за целочисленного деления)</a:t>
            </a: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AC6B1B88-161D-42CD-95A1-762953778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531" y="7765208"/>
            <a:ext cx="8921819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n-NO" sz="2550" b="1" dirty="0">
                <a:solidFill>
                  <a:srgbClr val="1C1713"/>
                </a:solidFill>
              </a:rPr>
              <a:t>(3^</a:t>
            </a:r>
            <a:r>
              <a:rPr lang="en-US" sz="2550" b="1" dirty="0">
                <a:solidFill>
                  <a:srgbClr val="1C1713"/>
                </a:solidFill>
              </a:rPr>
              <a:t>{</a:t>
            </a:r>
            <a:r>
              <a:rPr lang="ru-RU" sz="2550" b="1" dirty="0">
                <a:solidFill>
                  <a:srgbClr val="1C1713"/>
                </a:solidFill>
              </a:rPr>
              <a:t>19</a:t>
            </a:r>
            <a:r>
              <a:rPr lang="nn-NO" sz="2550" b="1" dirty="0">
                <a:solidFill>
                  <a:srgbClr val="1C1713"/>
                </a:solidFill>
              </a:rPr>
              <a:t>+1}-1)/2</a:t>
            </a:r>
            <a:r>
              <a:rPr lang="ru-RU" sz="2550" b="1" dirty="0">
                <a:solidFill>
                  <a:srgbClr val="1C1713"/>
                </a:solidFill>
              </a:rPr>
              <a:t> = 174339220</a:t>
            </a:r>
            <a:r>
              <a:rPr lang="en-US" sz="2550" b="1" dirty="0">
                <a:solidFill>
                  <a:srgbClr val="1C1713"/>
                </a:solidFill>
              </a:rPr>
              <a:t>0</a:t>
            </a:r>
            <a:r>
              <a:rPr lang="ru-RU" sz="2550" b="1" dirty="0">
                <a:solidFill>
                  <a:srgbClr val="1C1713"/>
                </a:solidFill>
              </a:rPr>
              <a:t> </a:t>
            </a:r>
            <a:endParaRPr lang="ru-RU" altLang="ru-RU" sz="2550" b="1" dirty="0">
              <a:solidFill>
                <a:srgbClr val="1C1713"/>
              </a:solidFill>
            </a:endParaRPr>
          </a:p>
        </p:txBody>
      </p:sp>
      <p:sp>
        <p:nvSpPr>
          <p:cNvPr id="44" name="accent-rule">
            <a:extLst>
              <a:ext uri="{FF2B5EF4-FFF2-40B4-BE49-F238E27FC236}">
                <a16:creationId xmlns:a16="http://schemas.microsoft.com/office/drawing/2014/main" id="{B59D169A-0944-4288-A44E-48BB73A87DE1}"/>
              </a:ext>
            </a:extLst>
          </p:cNvPr>
          <p:cNvSpPr>
            <a:spLocks noGrp="1"/>
          </p:cNvSpPr>
          <p:nvPr/>
        </p:nvSpPr>
        <p:spPr>
          <a:xfrm>
            <a:off x="838200" y="1475503"/>
            <a:ext cx="2095500" cy="38100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704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g">
            <a:extLst>
              <a:ext uri="{FF2B5EF4-FFF2-40B4-BE49-F238E27FC236}">
                <a16:creationId xmlns:a16="http://schemas.microsoft.com/office/drawing/2014/main" id="{2A23F217-E3CE-4AF3-8E5A-5BEB10232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</p:sp>
      <p:sp>
        <p:nvSpPr>
          <p:cNvPr id="2" name="slide-title">
            <a:extLst>
              <a:ext uri="{FF2B5EF4-FFF2-40B4-BE49-F238E27FC236}">
                <a16:creationId xmlns:a16="http://schemas.microsoft.com/office/drawing/2014/main" id="{A3CFBD83-8504-4B40-BF03-254E298AE361}"/>
              </a:ext>
            </a:extLst>
          </p:cNvPr>
          <p:cNvSpPr>
            <a:spLocks noGrp="1"/>
          </p:cNvSpPr>
          <p:nvPr/>
        </p:nvSpPr>
        <p:spPr>
          <a:xfrm>
            <a:off x="838200" y="685800"/>
            <a:ext cx="6762750" cy="10287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4050" b="1">
                <a:solidFill>
                  <a:srgbClr val="1C1713"/>
                </a:solidFill>
              </a:defRPr>
            </a:pPr>
            <a:r>
              <a:rPr sz="4050" b="1" dirty="0" err="1">
                <a:solidFill>
                  <a:srgbClr val="1C1713"/>
                </a:solidFill>
              </a:rPr>
              <a:t>Выводы</a:t>
            </a:r>
            <a:r>
              <a:rPr sz="4050" b="1" dirty="0">
                <a:solidFill>
                  <a:srgbClr val="1C1713"/>
                </a:solidFill>
              </a:rPr>
              <a:t>, </a:t>
            </a:r>
            <a:r>
              <a:rPr sz="4050" b="1" dirty="0" err="1">
                <a:solidFill>
                  <a:srgbClr val="1C1713"/>
                </a:solidFill>
              </a:rPr>
              <a:t>применимость</a:t>
            </a:r>
            <a:r>
              <a:rPr sz="4050" b="1" dirty="0">
                <a:solidFill>
                  <a:srgbClr val="1C1713"/>
                </a:solidFill>
              </a:rPr>
              <a:t> и </a:t>
            </a:r>
            <a:r>
              <a:rPr sz="4050" b="1" dirty="0" err="1">
                <a:solidFill>
                  <a:srgbClr val="1C1713"/>
                </a:solidFill>
              </a:rPr>
              <a:t>код</a:t>
            </a:r>
            <a:endParaRPr sz="4050" b="1" dirty="0">
              <a:solidFill>
                <a:srgbClr val="1C1713"/>
              </a:solidFill>
            </a:endParaRPr>
          </a:p>
        </p:txBody>
      </p:sp>
      <p:sp>
        <p:nvSpPr>
          <p:cNvPr id="3" name="slide-subtitle">
            <a:extLst>
              <a:ext uri="{FF2B5EF4-FFF2-40B4-BE49-F238E27FC236}">
                <a16:creationId xmlns:a16="http://schemas.microsoft.com/office/drawing/2014/main" id="{796DF739-759A-45EC-85CA-E40A779D0E54}"/>
              </a:ext>
            </a:extLst>
          </p:cNvPr>
          <p:cNvSpPr>
            <a:spLocks noGrp="1"/>
          </p:cNvSpPr>
          <p:nvPr/>
        </p:nvSpPr>
        <p:spPr>
          <a:xfrm>
            <a:off x="838200" y="1981200"/>
            <a:ext cx="1099185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625B54"/>
                </a:solidFill>
              </a:defRPr>
            </a:pPr>
            <a:r>
              <a:rPr sz="1800" dirty="0">
                <a:solidFill>
                  <a:srgbClr val="625B54"/>
                </a:solidFill>
              </a:rPr>
              <a:t>Stooge Sort </a:t>
            </a:r>
            <a:r>
              <a:rPr sz="1800" dirty="0" err="1">
                <a:solidFill>
                  <a:srgbClr val="625B54"/>
                </a:solidFill>
              </a:rPr>
              <a:t>отлично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подходит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для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демонстрации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рекурсии</a:t>
            </a:r>
            <a:r>
              <a:rPr sz="1800" dirty="0">
                <a:solidFill>
                  <a:srgbClr val="625B54"/>
                </a:solidFill>
              </a:rPr>
              <a:t> и </a:t>
            </a:r>
            <a:r>
              <a:rPr sz="1800" dirty="0" err="1">
                <a:solidFill>
                  <a:srgbClr val="625B54"/>
                </a:solidFill>
              </a:rPr>
              <a:t>сравнения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теории</a:t>
            </a:r>
            <a:r>
              <a:rPr sz="1800" dirty="0">
                <a:solidFill>
                  <a:srgbClr val="625B54"/>
                </a:solidFill>
              </a:rPr>
              <a:t> с </a:t>
            </a:r>
            <a:r>
              <a:rPr sz="1800" dirty="0" err="1">
                <a:solidFill>
                  <a:srgbClr val="625B54"/>
                </a:solidFill>
              </a:rPr>
              <a:t>практикой</a:t>
            </a:r>
            <a:r>
              <a:rPr sz="1800" dirty="0">
                <a:solidFill>
                  <a:srgbClr val="625B54"/>
                </a:solidFill>
              </a:rPr>
              <a:t>, </a:t>
            </a:r>
            <a:r>
              <a:rPr sz="1800" dirty="0" err="1">
                <a:solidFill>
                  <a:srgbClr val="625B54"/>
                </a:solidFill>
              </a:rPr>
              <a:t>но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почти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никогда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не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выигрывает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как</a:t>
            </a:r>
            <a:r>
              <a:rPr sz="1800" dirty="0">
                <a:solidFill>
                  <a:srgbClr val="625B54"/>
                </a:solidFill>
              </a:rPr>
              <a:t> </a:t>
            </a:r>
            <a:r>
              <a:rPr sz="1800" dirty="0" err="1">
                <a:solidFill>
                  <a:srgbClr val="625B54"/>
                </a:solidFill>
              </a:rPr>
              <a:t>инструмент</a:t>
            </a:r>
            <a:r>
              <a:rPr lang="ru-RU" sz="1800" dirty="0">
                <a:solidFill>
                  <a:srgbClr val="625B54"/>
                </a:solidFill>
              </a:rPr>
              <a:t> для сортировки</a:t>
            </a:r>
            <a:r>
              <a:rPr sz="1800" dirty="0">
                <a:solidFill>
                  <a:srgbClr val="625B54"/>
                </a:solidFill>
              </a:rPr>
              <a:t>.</a:t>
            </a:r>
          </a:p>
        </p:txBody>
      </p:sp>
      <p:sp>
        <p:nvSpPr>
          <p:cNvPr id="4" name="accent-rule">
            <a:extLst>
              <a:ext uri="{FF2B5EF4-FFF2-40B4-BE49-F238E27FC236}">
                <a16:creationId xmlns:a16="http://schemas.microsoft.com/office/drawing/2014/main" id="{33A7BC0E-B3C6-4492-9BFB-62C13DF2BB0B}"/>
              </a:ext>
            </a:extLst>
          </p:cNvPr>
          <p:cNvSpPr>
            <a:spLocks noGrp="1"/>
          </p:cNvSpPr>
          <p:nvPr/>
        </p:nvSpPr>
        <p:spPr>
          <a:xfrm>
            <a:off x="838200" y="2705100"/>
            <a:ext cx="2095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861A6-5E02-4EAA-A777-1C30C65E6617}"/>
              </a:ext>
            </a:extLst>
          </p:cNvPr>
          <p:cNvSpPr>
            <a:spLocks noGrp="1"/>
          </p:cNvSpPr>
          <p:nvPr/>
        </p:nvSpPr>
        <p:spPr>
          <a:xfrm>
            <a:off x="838200" y="300990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0F766E"/>
                </a:solidFill>
              </a:defRPr>
            </a:pPr>
            <a:r>
              <a:rPr sz="1800" b="1" dirty="0" err="1">
                <a:solidFill>
                  <a:srgbClr val="0F766E"/>
                </a:solidFill>
              </a:rPr>
              <a:t>Плюсы</a:t>
            </a:r>
            <a:endParaRPr sz="1800" b="1" dirty="0">
              <a:solidFill>
                <a:srgbClr val="0F766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24AE76-D6C7-48AB-9CFF-65AE48E0E4DD}"/>
              </a:ext>
            </a:extLst>
          </p:cNvPr>
          <p:cNvSpPr>
            <a:spLocks noGrp="1"/>
          </p:cNvSpPr>
          <p:nvPr/>
        </p:nvSpPr>
        <p:spPr>
          <a:xfrm>
            <a:off x="838200" y="34480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2A55CE-BA84-49D8-92D0-BA9073C1D51B}"/>
              </a:ext>
            </a:extLst>
          </p:cNvPr>
          <p:cNvSpPr>
            <a:spLocks noGrp="1"/>
          </p:cNvSpPr>
          <p:nvPr/>
        </p:nvSpPr>
        <p:spPr>
          <a:xfrm>
            <a:off x="1390650" y="3448050"/>
            <a:ext cx="4267200" cy="552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наглядно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показывает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силу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цену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рекурсии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A88623-256B-4B69-AA60-6E4813EDCEDF}"/>
              </a:ext>
            </a:extLst>
          </p:cNvPr>
          <p:cNvSpPr>
            <a:spLocks noGrp="1"/>
          </p:cNvSpPr>
          <p:nvPr/>
        </p:nvSpPr>
        <p:spPr>
          <a:xfrm>
            <a:off x="838200" y="40767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2ECEF5-A651-405F-95FB-6A018847EA96}"/>
              </a:ext>
            </a:extLst>
          </p:cNvPr>
          <p:cNvSpPr>
            <a:spLocks noGrp="1"/>
          </p:cNvSpPr>
          <p:nvPr/>
        </p:nvSpPr>
        <p:spPr>
          <a:xfrm>
            <a:off x="1390650" y="4076700"/>
            <a:ext cx="64579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удобен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для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обсуждения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асимптотики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дискретных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рекуррентных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моделей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99E99A-1634-43A9-AEAC-C870F9F84E69}"/>
              </a:ext>
            </a:extLst>
          </p:cNvPr>
          <p:cNvSpPr>
            <a:spLocks noGrp="1"/>
          </p:cNvSpPr>
          <p:nvPr/>
        </p:nvSpPr>
        <p:spPr>
          <a:xfrm>
            <a:off x="838200" y="47053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0F766E"/>
                </a:solidFill>
              </a:defRPr>
            </a:pPr>
            <a:r>
              <a:rPr sz="1350" b="1">
                <a:solidFill>
                  <a:srgbClr val="0F766E"/>
                </a:solidFill>
              </a:rPr>
              <a:t>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2B943F-F5CE-4865-A111-81B89D7362BB}"/>
              </a:ext>
            </a:extLst>
          </p:cNvPr>
          <p:cNvSpPr>
            <a:spLocks noGrp="1"/>
          </p:cNvSpPr>
          <p:nvPr/>
        </p:nvSpPr>
        <p:spPr>
          <a:xfrm>
            <a:off x="1390650" y="4705350"/>
            <a:ext cx="6534150" cy="609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хорошо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иллюстрирует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почему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гладкая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теория</a:t>
            </a:r>
            <a:r>
              <a:rPr sz="1800" dirty="0">
                <a:solidFill>
                  <a:srgbClr val="1C1713"/>
                </a:solidFill>
              </a:rPr>
              <a:t> и </a:t>
            </a:r>
            <a:r>
              <a:rPr sz="1800" dirty="0" err="1">
                <a:solidFill>
                  <a:srgbClr val="1C1713"/>
                </a:solidFill>
              </a:rPr>
              <a:t>реальные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графики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обязаны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совпадать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точка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точку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8F3036-223F-4935-B25F-D0B0E00B682D}"/>
              </a:ext>
            </a:extLst>
          </p:cNvPr>
          <p:cNvSpPr>
            <a:spLocks noGrp="1"/>
          </p:cNvSpPr>
          <p:nvPr/>
        </p:nvSpPr>
        <p:spPr>
          <a:xfrm>
            <a:off x="838200" y="537210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C65B40"/>
                </a:solidFill>
              </a:defRPr>
            </a:pPr>
            <a:r>
              <a:rPr sz="1800" b="1" dirty="0" err="1">
                <a:solidFill>
                  <a:srgbClr val="C65B40"/>
                </a:solidFill>
              </a:rPr>
              <a:t>Минусы</a:t>
            </a:r>
            <a:r>
              <a:rPr sz="1800" b="1" dirty="0">
                <a:solidFill>
                  <a:srgbClr val="C65B40"/>
                </a:solidFill>
              </a:rPr>
              <a:t> и </a:t>
            </a:r>
            <a:r>
              <a:rPr sz="1800" b="1" dirty="0" err="1">
                <a:solidFill>
                  <a:srgbClr val="C65B40"/>
                </a:solidFill>
              </a:rPr>
              <a:t>ограничения</a:t>
            </a:r>
            <a:endParaRPr sz="1800" b="1" dirty="0">
              <a:solidFill>
                <a:srgbClr val="C65B4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DB5667-5C3C-4290-AB38-F69E11A6B97C}"/>
              </a:ext>
            </a:extLst>
          </p:cNvPr>
          <p:cNvSpPr>
            <a:spLocks noGrp="1"/>
          </p:cNvSpPr>
          <p:nvPr/>
        </p:nvSpPr>
        <p:spPr>
          <a:xfrm>
            <a:off x="838200" y="58102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126147F-D3E9-4114-997C-87BA3DDD72D7}"/>
              </a:ext>
            </a:extLst>
          </p:cNvPr>
          <p:cNvSpPr>
            <a:spLocks noGrp="1"/>
          </p:cNvSpPr>
          <p:nvPr/>
        </p:nvSpPr>
        <p:spPr>
          <a:xfrm>
            <a:off x="1390650" y="5810250"/>
            <a:ext cx="4956362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очень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высокая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временная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сложность</a:t>
            </a:r>
            <a:r>
              <a:rPr sz="1800" dirty="0">
                <a:solidFill>
                  <a:srgbClr val="1C1713"/>
                </a:solidFill>
              </a:rPr>
              <a:t> O(n^2.7095);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1A344F-6EB2-4917-ADD3-79761CFB7C03}"/>
              </a:ext>
            </a:extLst>
          </p:cNvPr>
          <p:cNvSpPr>
            <a:spLocks noGrp="1"/>
          </p:cNvSpPr>
          <p:nvPr/>
        </p:nvSpPr>
        <p:spPr>
          <a:xfrm>
            <a:off x="838200" y="621030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2E5207D-5696-4FE2-8609-940A2C8B2C1A}"/>
              </a:ext>
            </a:extLst>
          </p:cNvPr>
          <p:cNvSpPr>
            <a:spLocks noGrp="1"/>
          </p:cNvSpPr>
          <p:nvPr/>
        </p:nvSpPr>
        <p:spPr>
          <a:xfrm>
            <a:off x="1390650" y="6210300"/>
            <a:ext cx="4705350" cy="3048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практически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бесполезен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больших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массивах</a:t>
            </a:r>
            <a:r>
              <a:rPr sz="1800" dirty="0">
                <a:solidFill>
                  <a:srgbClr val="1C1713"/>
                </a:solidFill>
              </a:rPr>
              <a:t>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42E99F-808E-4930-A3C1-CDF03BC2FF3F}"/>
              </a:ext>
            </a:extLst>
          </p:cNvPr>
          <p:cNvSpPr>
            <a:spLocks noGrp="1"/>
          </p:cNvSpPr>
          <p:nvPr/>
        </p:nvSpPr>
        <p:spPr>
          <a:xfrm>
            <a:off x="838200" y="6610350"/>
            <a:ext cx="400050" cy="17145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350" b="1">
                <a:solidFill>
                  <a:srgbClr val="C65B40"/>
                </a:solidFill>
              </a:defRPr>
            </a:pPr>
            <a:r>
              <a:rPr sz="1350" b="1">
                <a:solidFill>
                  <a:srgbClr val="C65B40"/>
                </a:solidFill>
              </a:rPr>
              <a:t>03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5B5316-60F3-4DC5-A683-1D5BD54161A8}"/>
              </a:ext>
            </a:extLst>
          </p:cNvPr>
          <p:cNvSpPr>
            <a:spLocks noGrp="1"/>
          </p:cNvSpPr>
          <p:nvPr/>
        </p:nvSpPr>
        <p:spPr>
          <a:xfrm>
            <a:off x="1390650" y="6610349"/>
            <a:ext cx="4956362" cy="561415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даже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на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отсортированных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данных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число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вызовов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остаётся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колоссальным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50AF5E-AF6B-47F0-BF5B-2FEE56B3BD73}"/>
              </a:ext>
            </a:extLst>
          </p:cNvPr>
          <p:cNvSpPr>
            <a:spLocks noGrp="1"/>
          </p:cNvSpPr>
          <p:nvPr/>
        </p:nvSpPr>
        <p:spPr>
          <a:xfrm>
            <a:off x="9410700" y="300990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sz="1800" b="1" dirty="0" err="1">
                <a:solidFill>
                  <a:srgbClr val="3E6588"/>
                </a:solidFill>
              </a:rPr>
              <a:t>Когда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применять</a:t>
            </a:r>
            <a:endParaRPr sz="1800" b="1" dirty="0">
              <a:solidFill>
                <a:srgbClr val="3E6588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C3B4BB-2DF5-40DC-9688-34C25DBBD9A1}"/>
              </a:ext>
            </a:extLst>
          </p:cNvPr>
          <p:cNvSpPr>
            <a:spLocks noGrp="1"/>
          </p:cNvSpPr>
          <p:nvPr/>
        </p:nvSpPr>
        <p:spPr>
          <a:xfrm>
            <a:off x="9410700" y="3448050"/>
            <a:ext cx="6000750" cy="800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>
                <a:solidFill>
                  <a:srgbClr val="1C1713"/>
                </a:solidFill>
              </a:defRPr>
            </a:pPr>
            <a:r>
              <a:rPr sz="1800" dirty="0" err="1">
                <a:solidFill>
                  <a:srgbClr val="1C1713"/>
                </a:solidFill>
              </a:rPr>
              <a:t>Только</a:t>
            </a:r>
            <a:r>
              <a:rPr sz="1800" dirty="0">
                <a:solidFill>
                  <a:srgbClr val="1C1713"/>
                </a:solidFill>
              </a:rPr>
              <a:t> в </a:t>
            </a:r>
            <a:r>
              <a:rPr sz="1800" dirty="0" err="1">
                <a:solidFill>
                  <a:srgbClr val="1C1713"/>
                </a:solidFill>
              </a:rPr>
              <a:t>учебных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целях</a:t>
            </a:r>
            <a:r>
              <a:rPr sz="1800" dirty="0">
                <a:solidFill>
                  <a:srgbClr val="1C1713"/>
                </a:solidFill>
              </a:rPr>
              <a:t>: </a:t>
            </a:r>
            <a:r>
              <a:rPr sz="1800" dirty="0" err="1">
                <a:solidFill>
                  <a:srgbClr val="1C1713"/>
                </a:solidFill>
              </a:rPr>
              <a:t>для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семинара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разбора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рекурсии</a:t>
            </a:r>
            <a:r>
              <a:rPr sz="1800" dirty="0">
                <a:solidFill>
                  <a:srgbClr val="1C1713"/>
                </a:solidFill>
              </a:rPr>
              <a:t>, </a:t>
            </a:r>
            <a:r>
              <a:rPr sz="1800" dirty="0" err="1">
                <a:solidFill>
                  <a:srgbClr val="1C1713"/>
                </a:solidFill>
              </a:rPr>
              <a:t>демонстрации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антипримеров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или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сравнения</a:t>
            </a:r>
            <a:r>
              <a:rPr sz="1800" dirty="0">
                <a:solidFill>
                  <a:srgbClr val="1C1713"/>
                </a:solidFill>
              </a:rPr>
              <a:t> с </a:t>
            </a:r>
            <a:r>
              <a:rPr sz="1800" dirty="0" err="1">
                <a:solidFill>
                  <a:srgbClr val="1C1713"/>
                </a:solidFill>
              </a:rPr>
              <a:t>нормальными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алгоритмами</a:t>
            </a:r>
            <a:r>
              <a:rPr sz="1800" dirty="0">
                <a:solidFill>
                  <a:srgbClr val="1C1713"/>
                </a:solidFill>
              </a:rPr>
              <a:t> </a:t>
            </a:r>
            <a:r>
              <a:rPr sz="1800" dirty="0" err="1">
                <a:solidFill>
                  <a:srgbClr val="1C1713"/>
                </a:solidFill>
              </a:rPr>
              <a:t>сортировки</a:t>
            </a:r>
            <a:r>
              <a:rPr sz="1800" dirty="0">
                <a:solidFill>
                  <a:srgbClr val="1C1713"/>
                </a:solidFill>
              </a:rPr>
              <a:t>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27608D1-4E26-43A6-8059-0B7B248DEE7D}"/>
              </a:ext>
            </a:extLst>
          </p:cNvPr>
          <p:cNvSpPr>
            <a:spLocks noGrp="1"/>
          </p:cNvSpPr>
          <p:nvPr/>
        </p:nvSpPr>
        <p:spPr>
          <a:xfrm>
            <a:off x="9410700" y="4343400"/>
            <a:ext cx="1714500" cy="28575"/>
          </a:xfrm>
          <a:prstGeom prst="rect">
            <a:avLst/>
          </a:prstGeom>
          <a:solidFill>
            <a:srgbClr val="3E6588"/>
          </a:solidFill>
          <a:ln w="0">
            <a:solidFill>
              <a:srgbClr val="3E658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FD512CD-27AD-44AE-9888-DD270E11F9E6}"/>
              </a:ext>
            </a:extLst>
          </p:cNvPr>
          <p:cNvSpPr>
            <a:spLocks noGrp="1"/>
          </p:cNvSpPr>
          <p:nvPr/>
        </p:nvSpPr>
        <p:spPr>
          <a:xfrm>
            <a:off x="9410700" y="459105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3E6588"/>
                </a:solidFill>
              </a:defRPr>
            </a:pPr>
            <a:r>
              <a:rPr sz="1800" b="1" dirty="0" err="1">
                <a:solidFill>
                  <a:srgbClr val="3E6588"/>
                </a:solidFill>
              </a:rPr>
              <a:t>Код</a:t>
            </a:r>
            <a:r>
              <a:rPr sz="1800" b="1" dirty="0">
                <a:solidFill>
                  <a:srgbClr val="3E6588"/>
                </a:solidFill>
              </a:rPr>
              <a:t> </a:t>
            </a:r>
            <a:r>
              <a:rPr sz="1800" b="1" dirty="0" err="1">
                <a:solidFill>
                  <a:srgbClr val="3E6588"/>
                </a:solidFill>
              </a:rPr>
              <a:t>проекта</a:t>
            </a:r>
            <a:endParaRPr sz="1800" b="1" dirty="0">
              <a:solidFill>
                <a:srgbClr val="3E6588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10342C-BB16-47AD-8E04-997794685573}"/>
              </a:ext>
            </a:extLst>
          </p:cNvPr>
          <p:cNvSpPr>
            <a:spLocks noGrp="1"/>
          </p:cNvSpPr>
          <p:nvPr/>
        </p:nvSpPr>
        <p:spPr>
          <a:xfrm>
            <a:off x="9410700" y="5029200"/>
            <a:ext cx="3924300" cy="4191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650">
                <a:solidFill>
                  <a:srgbClr val="1C1713"/>
                </a:solidFill>
              </a:defRPr>
            </a:pPr>
            <a:r>
              <a:rPr sz="1650" dirty="0" err="1">
                <a:solidFill>
                  <a:srgbClr val="1C1713"/>
                </a:solidFill>
              </a:rPr>
              <a:t>Локальная</a:t>
            </a:r>
            <a:r>
              <a:rPr sz="1650" dirty="0">
                <a:solidFill>
                  <a:srgbClr val="1C1713"/>
                </a:solidFill>
              </a:rPr>
              <a:t> </a:t>
            </a:r>
            <a:r>
              <a:rPr sz="1650" dirty="0" err="1">
                <a:solidFill>
                  <a:srgbClr val="1C1713"/>
                </a:solidFill>
              </a:rPr>
              <a:t>копия</a:t>
            </a:r>
            <a:r>
              <a:rPr sz="1650" dirty="0">
                <a:solidFill>
                  <a:srgbClr val="1C1713"/>
                </a:solidFill>
              </a:rPr>
              <a:t>: C:\ITIS_AISD\semestrovaya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8F06172-E776-4F00-BFC1-30C3AB44B8BE}"/>
              </a:ext>
            </a:extLst>
          </p:cNvPr>
          <p:cNvSpPr>
            <a:spLocks noGrp="1"/>
          </p:cNvSpPr>
          <p:nvPr/>
        </p:nvSpPr>
        <p:spPr>
          <a:xfrm>
            <a:off x="9410700" y="5810250"/>
            <a:ext cx="8039100" cy="2286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1800" b="1">
                <a:solidFill>
                  <a:srgbClr val="B9893C"/>
                </a:solidFill>
              </a:defRPr>
            </a:pPr>
            <a:r>
              <a:rPr sz="1800" b="1" dirty="0" err="1">
                <a:solidFill>
                  <a:srgbClr val="B9893C"/>
                </a:solidFill>
              </a:rPr>
              <a:t>Главный</a:t>
            </a:r>
            <a:r>
              <a:rPr sz="1800" b="1" dirty="0">
                <a:solidFill>
                  <a:srgbClr val="B9893C"/>
                </a:solidFill>
              </a:rPr>
              <a:t> </a:t>
            </a:r>
            <a:r>
              <a:rPr sz="1800" b="1" dirty="0" err="1">
                <a:solidFill>
                  <a:srgbClr val="B9893C"/>
                </a:solidFill>
              </a:rPr>
              <a:t>итог</a:t>
            </a:r>
            <a:endParaRPr sz="1800" b="1" dirty="0">
              <a:solidFill>
                <a:srgbClr val="B9893C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0B7F9D-BDEC-4429-8C36-F462F43B1A3B}"/>
              </a:ext>
            </a:extLst>
          </p:cNvPr>
          <p:cNvSpPr>
            <a:spLocks noGrp="1"/>
          </p:cNvSpPr>
          <p:nvPr/>
        </p:nvSpPr>
        <p:spPr>
          <a:xfrm>
            <a:off x="9410700" y="6248400"/>
            <a:ext cx="6457950" cy="1714500"/>
          </a:xfrm>
          <a:prstGeom prst="rect">
            <a:avLst/>
          </a:prstGeom>
        </p:spPr>
        <p:txBody>
          <a:bodyPr lIns="0" tIns="0" rIns="0" bIns="0"/>
          <a:lstStyle/>
          <a:p>
            <a:pPr>
              <a:defRPr sz="2550" b="1">
                <a:solidFill>
                  <a:srgbClr val="1C1713"/>
                </a:solidFill>
              </a:defRPr>
            </a:pPr>
            <a:r>
              <a:rPr sz="2550" b="1" dirty="0">
                <a:solidFill>
                  <a:srgbClr val="1C1713"/>
                </a:solidFill>
              </a:rPr>
              <a:t>Stooge Sort — </a:t>
            </a:r>
            <a:r>
              <a:rPr sz="2550" b="1" dirty="0" err="1">
                <a:solidFill>
                  <a:srgbClr val="1C1713"/>
                </a:solidFill>
              </a:rPr>
              <a:t>плохой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алгоритм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для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практики</a:t>
            </a:r>
            <a:r>
              <a:rPr sz="2550" b="1" dirty="0">
                <a:solidFill>
                  <a:srgbClr val="1C1713"/>
                </a:solidFill>
              </a:rPr>
              <a:t>, </a:t>
            </a:r>
            <a:r>
              <a:rPr sz="2550" b="1" dirty="0" err="1">
                <a:solidFill>
                  <a:srgbClr val="1C1713"/>
                </a:solidFill>
              </a:rPr>
              <a:t>но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очень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хороший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алгоритм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для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объяснения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того</a:t>
            </a:r>
            <a:r>
              <a:rPr sz="2550" b="1" dirty="0">
                <a:solidFill>
                  <a:srgbClr val="1C1713"/>
                </a:solidFill>
              </a:rPr>
              <a:t>, </a:t>
            </a:r>
            <a:r>
              <a:rPr sz="2550" b="1" dirty="0" err="1">
                <a:solidFill>
                  <a:srgbClr val="1C1713"/>
                </a:solidFill>
              </a:rPr>
              <a:t>как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теория</a:t>
            </a:r>
            <a:r>
              <a:rPr sz="2550" b="1" dirty="0">
                <a:solidFill>
                  <a:srgbClr val="1C1713"/>
                </a:solidFill>
              </a:rPr>
              <a:t> </a:t>
            </a:r>
            <a:r>
              <a:rPr sz="2550" b="1" dirty="0" err="1">
                <a:solidFill>
                  <a:srgbClr val="1C1713"/>
                </a:solidFill>
              </a:rPr>
              <a:t>встречается</a:t>
            </a:r>
            <a:r>
              <a:rPr sz="2550" b="1" dirty="0">
                <a:solidFill>
                  <a:srgbClr val="1C1713"/>
                </a:solidFill>
              </a:rPr>
              <a:t> с </a:t>
            </a:r>
            <a:r>
              <a:rPr sz="2550" b="1" dirty="0" err="1">
                <a:solidFill>
                  <a:srgbClr val="1C1713"/>
                </a:solidFill>
              </a:rPr>
              <a:t>экспериментом</a:t>
            </a:r>
            <a:r>
              <a:rPr sz="2550" b="1" dirty="0">
                <a:solidFill>
                  <a:srgbClr val="1C1713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533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2505</Words>
  <Application>Microsoft Office PowerPoint</Application>
  <DocSecurity>0</DocSecurity>
  <PresentationFormat>Custom</PresentationFormat>
  <Paragraphs>378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1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Инсаф Гарифуллин</cp:lastModifiedBy>
  <cp:revision>41</cp:revision>
  <dcterms:created xsi:type="dcterms:W3CDTF">2026-04-25T22:17:48Z</dcterms:created>
  <dcterms:modified xsi:type="dcterms:W3CDTF">2026-04-26T19:31:50Z</dcterms:modified>
</cp:coreProperties>
</file>